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1E8A4C"/>
              </a:solidFill>
              <a:ln w="25400" cap="flat">
                <a:solidFill>
                  <a:srgbClr val="F5F6F2"/>
                </a:solidFill>
                <a:prstDash val="solid"/>
                <a:round/>
              </a:ln>
              <a:effectLst/>
            </c:spPr>
          </c:dPt>
          <c:dPt>
            <c:idx val="1"/>
            <c:bubble3D val="0"/>
            <c:spPr>
              <a:solidFill>
                <a:srgbClr val="14201B"/>
              </a:solidFill>
              <a:ln w="25400" cap="flat">
                <a:solidFill>
                  <a:srgbClr val="F5F6F2"/>
                </a:solidFill>
                <a:prstDash val="solid"/>
                <a:round/>
              </a:ln>
              <a:effectLst/>
            </c:spPr>
          </c:dPt>
          <c:dPt>
            <c:idx val="2"/>
            <c:bubble3D val="0"/>
            <c:spPr>
              <a:solidFill>
                <a:srgbClr val="146238"/>
              </a:solidFill>
              <a:ln w="25400" cap="flat">
                <a:solidFill>
                  <a:srgbClr val="F5F6F2"/>
                </a:solidFill>
                <a:prstDash val="solid"/>
                <a:round/>
              </a:ln>
              <a:effectLst/>
            </c:spPr>
          </c:dPt>
          <c:dPt>
            <c:idx val="3"/>
            <c:bubble3D val="0"/>
            <c:spPr>
              <a:solidFill>
                <a:srgbClr val="E5A800"/>
              </a:solidFill>
              <a:ln w="25400" cap="flat">
                <a:solidFill>
                  <a:srgbClr val="F5F6F2"/>
                </a:solidFill>
                <a:prstDash val="solid"/>
                <a:round/>
              </a:ln>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Marketing and growth</c:v>
                </c:pt>
                <c:pt idx="1">
                  <c:v>Product and engineering</c:v>
                </c:pt>
                <c:pt idx="2">
                  <c:v>Team</c:v>
                </c:pt>
                <c:pt idx="3">
                  <c:v>Legal, compliance, ops</c:v>
                </c:pt>
              </c:strCache>
            </c:strRef>
          </c:cat>
          <c:val>
            <c:numRef>
              <c:f>Sheet1!$B$2:$B$5</c:f>
              <c:numCache>
                <c:ptCount val="4"/>
                <c:pt idx="0">
                  <c:v>40</c:v>
                </c:pt>
                <c:pt idx="1">
                  <c:v>30</c:v>
                </c:pt>
                <c:pt idx="2">
                  <c:v>20</c:v>
                </c:pt>
                <c:pt idx="3">
                  <c:v>10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 Call is the app for your crew, not your sport. It is built for the weekly group of four to twenty mates who already play together and today organise everything in WhatsApp with bank transfers on the side. We are raising a pre-seed round in London in September 2026 to take a working product into a 15-crew pilot and then across the city. The card on the right is a real share card generated by the live code, which matters because the card is how the product spreads.
Source: README.md, business-plan.md.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regular crew has one organiser who books, chases the numbers, fronts the money and spends Sunday evening asking who still owes £7.50. The three failure modes are dropouts, chasing money and no-shows, and WhatsApp plus bank transfer handles none of them. Capo, a UK organiser app launched in 2025, calls dropouts the single biggest headache. Playtomic, which owns padel booking, sits at 1.3 stars on Trustpilot, mostly over refunds and no-shows, which tells you the venue-first tools have not solved the crew's problem either.
Sources: business-plan.md (Problem section; Capo quote; Playtomic Trustpilot rating from our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verified signals say the timing is right. Padel went from about 400k to 860k UK players in a single year according to the LTA, with peak courts at 85 per cent occupancy. Bloomberg reported in May 2026 that 53 per cent of UK 18 to 34s pick fitness over nightlife. Strava clubs reached one million in 2025, about four times growth, and the F1 2025 fan survey found Gen Z is 27 per cent of fans with half of them women. Underneath it, Sport England shows adult football up 561k year on year while 16 to 34 activity has fallen since 2015/16: the people who still play are in fixed groups.
Sources: business-plan.md 'Why now' (LTA, Bloomberg May 2026, Strava, F1 2025 survey, Sport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insight the company is built on. Every well-funded product models either the individual, which is loggers, GPS and fantasy, or the institution, which is clubs, venues and booking. Nobody models the group of four to twenty mates who actually decide whether Tuesday happens. Read the table by row: regular group organising is open in all five sports, portable identity is open in padel and motorsport and only partly served elsewhere, and money is painful wherever a venue has to be paid. We do not compete in scores, fantasy or booking; those are saturated or venue-owned.
Source: business-plan.md competitive landscape and our own competitor review. The cell ratings are our assessment, not third-party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one loop and it maps exactly onto what the organiser already does in WhatsApp, minus the chasing. Pin the session, everyone taps in from the link with nothing to install, the organiser ticks who played, and everyone rates in three taps. Two rules do the heavy lifting: the reserve list auto-promotes when someone drops, and a late drop inside the crew's window, default 24 hours, still owes its share. The screenshots are from the live build: the crew home with the next session and the table, and a played session with attendance confirmed.
Sources: README.md, product-spec.md.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comes from the fun layer. The season table scores turning up and peer votes, and penalises late drops and no-shows, so the Sick Notes leaderboard is something people actually care about. Peer-rated player cards give every member a FIFA-style identity that nobody else can produce because nobody else has the crew's votes. Every session and every player page renders as an image preview in WhatsApp, so the product markets itself in the place the crew already lives. The card is the ad.
Sources: product-spec.md (table, player card, share cards), go-to-market-london.md (referral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where trust is won or lost, so the rules are exact and boring. Shares are split in pence with the remainder going to the first payers, so the total always reconciles. Everyone who played, every no-show and every late drop owes a share, and the ledger shows who owes what to the whole crew. In v1 the organiser marks people as paid and Roll Call touches no funds, which keeps us outside the Payment Services Regulations. Stripe Connect pass-through comes in v1.1 with the fee disclosed on the pin, the card and at checkout; we never hold anyone's money.
Sources: product-spec.md (Money rules), legal-and-compliance.md (PSRs 2017 section), roadmap.md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slideware round. Version one exists as live code with 18 screens and two share-card image routes, 40 unit tests covering the domain rules, and a Playwright end-to-end test that runs the whole loop as an organiser and two mates in separate browsers through to the table, the ledger and the share-card images. Five sports and four side games are in, and the repo carries the product, architecture, legal, GTM and metrics docs behind this deck. To be clear: we are pre-revenue and pre-users, and the pilot starts now.
Sources: README.md, repo inspection (src/app routes, src/domain tests, e2e/core-loop.spec.ts), package.json.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size bottom-up from participation data rather than top-down from the sports market, and we label every step as an assumption because it is. Football gives 60 to 120 thousand regular adult crews, padel 40 to 65 thousand and golf 25 to 50 thousand, which lands around 180,000 crews at the midpoints. At £6 to £12 a head and 8 to 12 people, a football crew moves £60 to £140 per session, so the session money across those crews is in the order of a billion pounds a year, order of magnitude only. Spond moving about €270 million a year in payments supports the shape. Our first serviceable target is 300 active London crews by month 12 and 500 across three cities by month 18.
Sources: business-plan.md market sizing table and assumptions; targets from business-plan.md milestones and this deck's 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one axis is who the product models, the individual or the crew; on the other, who it is built for, the institution and venue or the adult casual player. Hevy and Strava log the individual. FPL and Sofascore serve the fan. Footy Addicts fills games with strangers and is hammered on per-head fees. Playtomic has raised 65 million euros for padel booking and sits at 1.3 stars. Spond has four million monthly users but is a youth-and-parents product. Capo, Quick9 and ParUp are small single-sport organiser tools. Roll Call is alone in crew plus adult casual, and it holds because a crew brings its own liquidity, the cross-sport identity compounds, Spond's brand cannot stretch to adults and Playtomic is padel-only.
Sources: business-plan.md competitive landscape and moat (Spond 4M MAU, Playtomic €65M Feb 2025 and 1.3 stars, Footy Addicts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not charge a subscription. The review pages of every incumbent, from Playtomic to Footy Addicts to the golf apps, are full of resentment about subscriptions and hidden fees, and a paywall on the organiser removes the only person who brings a crew. Revenue comes from money that already moves: a transparent per-session fee once Stripe Connect is live, which we model at about 2.5 per cent plus 20p per payer as an assumption; venue partnerships that pay for reliable crews; and later one-off premium crew features. The unit economics are honest: about £5 net per football crew per month on payments, so venue revenue is what makes the margin real.
Sources: business-plan.md business model and unit economics table (all figures assumptions); metrics.md fee take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win London one organiser at a time. The pilot is 15 existing crews, spread across sports, whose organisers we find in person at Powerleague, Goals and the padel venues and set up on the spot. From there the share card is the growth mechanic: every action produces an image that goes back into the group chat, and each member is in other crews. Venues come next, and the named venues are targets, not partners yet. The marketing spend is staged and gated. Stage one is zero paid spend and passes only if 11 of 15 crews are still pinning at week 12. Stage two is £150k of paid across TikTok, Instagram and Meta aimed at London 18 to 34 organisers, gated on CAC payback under 12 months. Stage three is £200k to take the playbook to Manchester, Birmingham, Bristol and Leeds, and only after 300 active London crews. All three budgets are the founder's proposals and are assumptions.
Sources: go-to-market-london.md (pilot mix, venues, referral loop, content plan, no paid ads before retention, 300-crew rule); stage budgets and gates are founder assumptions not in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runs the company: sessions played per crew per month, targeted at 3.0 for football and padel and 1.5 for golf. Everything else is a leading indicator or a guardrail. Activation is time to first pin under 60 seconds and 60 per cent of members responding within 48 hours. Retention is 11 of 15 pilot crews still pinning at week 12 without a prompt from us. Reliability is a turn-up rate of 85 per cent or more, which is the number we take to venues. Money is 80 per cent of sessions settled within seven days, fun is 50 per cent rating completion, and growth is at least five crews born from share cards. If fewer than eight crews are active at week 12 we stop and rework the loop.
Sources: metrics.md (definitions and targets; those marked assumption are pilot targets), go-to-market-london.md pilot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one is what the pilot runs on and it is built. Version 1.1, months four to six, is about reducing organiser effort and making money move cleanly: Stripe Connect with the fee disclosed, reminders, calendar export, a venue directory and an accessibility audit. Version two, months seven to twelve, turns reliable crews into a venue proposition with reliability scores, standing bookings, crew-versus-crew fixtures, awards nights and a single player identity across crews. Beyond that, and only after 300 active London crews, come booking deep links, Strava and Hevy import, karting and sim racing, and a second city. The non-goals are deliberate: no chat, no player-finder, no gambling, no subscriptions, no wallet, no booking engine.
Source: 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£500k, inside the £400k to £600k range in the business plan, for 18 months of runway. Forty per cent goes to marketing and growth, staged and gated exactly as on the go-to-market slide so nothing is spent on paid acquisition before retention is proven. Thirty per cent goes to product and engineering for v1.1 and v2, twenty per cent to two hires, a growth lead and a community and venues lead, and ten per cent to legal, compliance and operations including the solicitor review, ICO registration, Stripe onboarding and the accessibility audit. At month 18 we want 500 active crews across three cities, payments live with the fee disclosed, and venue deals signed. Those are targets. The allocation is the founder's proposal and differs from the salary-based draft split in the business plan.
Sources: business-plan.md funding ask (range and milestones); use-of-funds percentages and month-18 targets are founder assumptions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stays small on purpose. The founder placeholder is to be filled in before this deck is sent; nothing here is invented. The round funds a growth lead who finds organisers at venues and personally runs the first hundred crews, a community and venues lead who runs seasons, awards nights and the venue pipeline, and a contract designer for the cards. Advisors are to be confirmed. We close where the product starts: the only question a crew ever asks is who is actually turning up, and Roll Call is the first product built to answer it.
Sources: business-plan.md team and hiring; hire titles per the founder's brief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1B"/>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PRE-SEED · LONDON · SEPTEMBER 2026</a:t>
            </a:r>
            <a:endParaRPr lang="en-US" sz="1000" dirty="0"/>
          </a:p>
        </p:txBody>
      </p:sp>
      <p:sp>
        <p:nvSpPr>
          <p:cNvPr id="3" name="Text 1"/>
          <p:cNvSpPr txBox="1"/>
          <p:nvPr/>
        </p:nvSpPr>
        <p:spPr>
          <a:xfrm>
            <a:off x="548640" y="1463040"/>
            <a:ext cx="7772400" cy="1828800"/>
          </a:xfrm>
          <a:prstGeom prst="rect">
            <a:avLst/>
          </a:prstGeom>
          <a:noFill/>
          <a:ln/>
        </p:spPr>
        <p:txBody>
          <a:bodyPr wrap="square" lIns="0" tIns="0" rIns="0" bIns="0" rtlCol="0" anchor="ctr"/>
          <a:lstStyle/>
          <a:p>
            <a:pPr algn="l" indent="0" marL="0">
              <a:buNone/>
            </a:pPr>
            <a:r>
              <a:rPr lang="en-US" sz="12000" b="1" dirty="0">
                <a:solidFill>
                  <a:srgbClr val="F5F6F2"/>
                </a:solidFill>
                <a:latin typeface="Barlow Condensed" pitchFamily="34" charset="0"/>
                <a:ea typeface="Barlow Condensed" pitchFamily="34" charset="-122"/>
                <a:cs typeface="Barlow Condensed" pitchFamily="34" charset="-120"/>
              </a:rPr>
              <a:t>ROLL CALL</a:t>
            </a:r>
            <a:endParaRPr lang="en-US" sz="12000" dirty="0"/>
          </a:p>
        </p:txBody>
      </p:sp>
      <p:sp>
        <p:nvSpPr>
          <p:cNvPr id="4" name="Text 2"/>
          <p:cNvSpPr txBox="1"/>
          <p:nvPr/>
        </p:nvSpPr>
        <p:spPr>
          <a:xfrm>
            <a:off x="594360" y="3383280"/>
            <a:ext cx="6858000" cy="640080"/>
          </a:xfrm>
          <a:prstGeom prst="rect">
            <a:avLst/>
          </a:prstGeom>
          <a:noFill/>
          <a:ln/>
        </p:spPr>
        <p:txBody>
          <a:bodyPr wrap="square" lIns="0" tIns="0" rIns="0" bIns="0" rtlCol="0" anchor="ctr"/>
          <a:lstStyle/>
          <a:p>
            <a:pPr algn="l" indent="0" marL="0">
              <a:buNone/>
            </a:pPr>
            <a:r>
              <a:rPr lang="en-US" sz="2600" dirty="0">
                <a:solidFill>
                  <a:srgbClr val="F5F6F2"/>
                </a:solidFill>
                <a:latin typeface="Arial" pitchFamily="34" charset="0"/>
                <a:ea typeface="Arial" pitchFamily="34" charset="-122"/>
                <a:cs typeface="Arial" pitchFamily="34" charset="-120"/>
              </a:rPr>
              <a:t>The app for your crew, not your sport.</a:t>
            </a:r>
            <a:endParaRPr lang="en-US" sz="2600" dirty="0"/>
          </a:p>
        </p:txBody>
      </p:sp>
      <p:sp>
        <p:nvSpPr>
          <p:cNvPr id="5" name="Text 3"/>
          <p:cNvSpPr txBox="1"/>
          <p:nvPr/>
        </p:nvSpPr>
        <p:spPr>
          <a:xfrm>
            <a:off x="594360" y="4160520"/>
            <a:ext cx="6035040" cy="1097280"/>
          </a:xfrm>
          <a:prstGeom prst="rect">
            <a:avLst/>
          </a:prstGeom>
          <a:noFill/>
          <a:ln/>
        </p:spPr>
        <p:txBody>
          <a:bodyPr wrap="square" lIns="0" tIns="0" rIns="0" bIns="0" rtlCol="0" anchor="t"/>
          <a:lstStyle/>
          <a:p>
            <a:pPr algn="l" indent="0" marL="0">
              <a:lnSpc>
                <a:spcPct val="125000"/>
              </a:lnSpc>
              <a:buNone/>
            </a:pPr>
            <a:r>
              <a:rPr lang="en-US" sz="1300" dirty="0">
                <a:solidFill>
                  <a:srgbClr val="BAC5BD"/>
                </a:solidFill>
                <a:latin typeface="Arial" pitchFamily="34" charset="0"/>
                <a:ea typeface="Arial" pitchFamily="34" charset="-122"/>
                <a:cs typeface="Arial" pitchFamily="34" charset="-120"/>
              </a:rPr>
              <a:t>For the weekly group of 4 to 20 mates who play 5-a-side, book a padel court, play a fourball, train together or watch the race. One place instead of a WhatsApp thread and a pile of bank transfers.</a:t>
            </a:r>
            <a:endParaRPr lang="en-US" sz="1300" dirty="0"/>
          </a:p>
        </p:txBody>
      </p:sp>
      <p:sp>
        <p:nvSpPr>
          <p:cNvPr id="6" name="Shape 4"/>
          <p:cNvSpPr/>
          <p:nvPr/>
        </p:nvSpPr>
        <p:spPr>
          <a:xfrm>
            <a:off x="7955280" y="1874520"/>
            <a:ext cx="3840480" cy="2016252"/>
          </a:xfrm>
          <a:prstGeom prst="roundRect">
            <a:avLst>
              <a:gd name="adj" fmla="val 3628"/>
            </a:avLst>
          </a:prstGeom>
          <a:solidFill>
            <a:srgbClr val="F5F6F2"/>
          </a:solidFill>
          <a:ln w="9525">
            <a:solidFill>
              <a:srgbClr val="2A352E"/>
            </a:solidFill>
            <a:prstDash val="solid"/>
          </a:ln>
        </p:spPr>
      </p:sp>
      <p:pic>
        <p:nvPicPr>
          <p:cNvPr id="7" name="Image 0" descr="/tmp/claude-0/-home-user-Remoovals/9aaf5bb5-a8d7-505a-9eb5-464ae059be3c/scratchpad/build/img/og-player.png">    </p:cNvPr>
          <p:cNvPicPr>
            <a:picLocks noChangeAspect="1"/>
          </p:cNvPicPr>
          <p:nvPr/>
        </p:nvPicPr>
        <p:blipFill>
          <a:blip r:embed="rId1"/>
          <a:stretch>
            <a:fillRect/>
          </a:stretch>
        </p:blipFill>
        <p:spPr>
          <a:xfrm>
            <a:off x="8001000" y="1920240"/>
            <a:ext cx="3749040" cy="1968246"/>
          </a:xfrm>
          <a:prstGeom prst="rect">
            <a:avLst/>
          </a:prstGeom>
        </p:spPr>
      </p:pic>
      <p:sp>
        <p:nvSpPr>
          <p:cNvPr id="8" name="Text 5"/>
          <p:cNvSpPr txBox="1"/>
          <p:nvPr/>
        </p:nvSpPr>
        <p:spPr>
          <a:xfrm>
            <a:off x="8001000" y="3977640"/>
            <a:ext cx="3749040" cy="256032"/>
          </a:xfrm>
          <a:prstGeom prst="rect">
            <a:avLst/>
          </a:prstGeom>
          <a:noFill/>
          <a:ln/>
        </p:spPr>
        <p:txBody>
          <a:bodyPr wrap="square" lIns="0" tIns="0" rIns="0" bIns="0" rtlCol="0" anchor="ctr"/>
          <a:lstStyle/>
          <a:p>
            <a:pPr algn="l" indent="0" marL="0">
              <a:buNone/>
            </a:pPr>
            <a:r>
              <a:rPr lang="en-US" sz="1000" b="1" spc="300" kern="0" dirty="0">
                <a:solidFill>
                  <a:srgbClr val="8A968E"/>
                </a:solidFill>
                <a:latin typeface="Courier New" pitchFamily="34" charset="0"/>
                <a:ea typeface="Courier New" pitchFamily="34" charset="-122"/>
                <a:cs typeface="Courier New" pitchFamily="34" charset="-120"/>
              </a:rPr>
              <a:t>A REAL SHARE CARD FROM THE LIVE PRODUCT</a:t>
            </a:r>
            <a:endParaRPr lang="en-US" sz="1000" dirty="0"/>
          </a:p>
        </p:txBody>
      </p:sp>
      <p:sp>
        <p:nvSpPr>
          <p:cNvPr id="9" name="Text 6"/>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8A968E"/>
                </a:solidFill>
                <a:latin typeface="Courier New" pitchFamily="34" charset="0"/>
                <a:ea typeface="Courier New" pitchFamily="34" charset="-122"/>
                <a:cs typeface="Courier New" pitchFamily="34" charset="-120"/>
              </a:rPr>
              <a:t>ROLL CALL · PRE-SEED · CONFIDENTIAL</a:t>
            </a:r>
            <a:endParaRPr lang="en-US" sz="800" dirty="0"/>
          </a:p>
        </p:txBody>
      </p:sp>
      <p:sp>
        <p:nvSpPr>
          <p:cNvPr id="10" name="Text 7"/>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8A968E"/>
                </a:solidFill>
                <a:latin typeface="Courier New" pitchFamily="34" charset="0"/>
                <a:ea typeface="Courier New" pitchFamily="34" charset="-122"/>
                <a:cs typeface="Courier New" pitchFamily="34" charset="-120"/>
              </a:rPr>
              <a:t>01 / 16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THE PROBLEM</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EVERY WEEKLY SPORTS CREW IN THE UK RUNS ON WHATSAPP AND BANK TRANSFERS.</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02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48840"/>
            <a:ext cx="3566160" cy="1417320"/>
          </a:xfrm>
          <a:prstGeom prst="roundRect">
            <a:avLst>
              <a:gd name="adj" fmla="val 5161"/>
            </a:avLst>
          </a:prstGeom>
          <a:solidFill>
            <a:srgbClr val="FFFFFF"/>
          </a:solidFill>
          <a:ln w="9525">
            <a:solidFill>
              <a:srgbClr val="D5DAD2"/>
            </a:solidFill>
            <a:prstDash val="solid"/>
          </a:ln>
        </p:spPr>
      </p:sp>
      <p:sp>
        <p:nvSpPr>
          <p:cNvPr id="7" name="Text 5"/>
          <p:cNvSpPr txBox="1"/>
          <p:nvPr/>
        </p:nvSpPr>
        <p:spPr>
          <a:xfrm>
            <a:off x="777240" y="2331720"/>
            <a:ext cx="3108960" cy="365760"/>
          </a:xfrm>
          <a:prstGeom prst="rect">
            <a:avLst/>
          </a:prstGeom>
          <a:noFill/>
          <a:ln/>
        </p:spPr>
        <p:txBody>
          <a:bodyPr wrap="square" lIns="0" tIns="0" rIns="0" bIns="0" rtlCol="0" anchor="ctr"/>
          <a:lstStyle/>
          <a:p>
            <a:pPr algn="l" indent="0" marL="0">
              <a:buNone/>
            </a:pPr>
            <a:r>
              <a:rPr lang="en-US" sz="2200" b="1" dirty="0">
                <a:solidFill>
                  <a:srgbClr val="14201B"/>
                </a:solidFill>
                <a:latin typeface="Barlow Condensed" pitchFamily="34" charset="0"/>
                <a:ea typeface="Barlow Condensed" pitchFamily="34" charset="-122"/>
                <a:cs typeface="Barlow Condensed" pitchFamily="34" charset="-120"/>
              </a:rPr>
              <a:t>DROPOUTS</a:t>
            </a:r>
            <a:endParaRPr lang="en-US" sz="2200" dirty="0"/>
          </a:p>
        </p:txBody>
      </p:sp>
      <p:sp>
        <p:nvSpPr>
          <p:cNvPr id="8" name="Text 6"/>
          <p:cNvSpPr txBox="1"/>
          <p:nvPr/>
        </p:nvSpPr>
        <p:spPr>
          <a:xfrm>
            <a:off x="777240" y="2743200"/>
            <a:ext cx="3108960" cy="731520"/>
          </a:xfrm>
          <a:prstGeom prst="rect">
            <a:avLst/>
          </a:prstGeom>
          <a:noFill/>
          <a:ln/>
        </p:spPr>
        <p:txBody>
          <a:bodyPr wrap="square" lIns="0" tIns="0" rIns="0" bIns="0" rtlCol="0" anchor="t"/>
          <a:lstStyle/>
          <a:p>
            <a:pPr algn="l" indent="0" marL="0">
              <a:lnSpc>
                <a:spcPct val="115000"/>
              </a:lnSpc>
              <a:buNone/>
            </a:pPr>
            <a:r>
              <a:rPr lang="en-US" sz="1200" dirty="0">
                <a:solidFill>
                  <a:srgbClr val="3E4A44"/>
                </a:solidFill>
                <a:latin typeface="Arial" pitchFamily="34" charset="0"/>
                <a:ea typeface="Arial" pitchFamily="34" charset="-122"/>
                <a:cs typeface="Arial" pitchFamily="34" charset="-120"/>
              </a:rPr>
              <a:t>Someone bails at 8pm the night before. The game goes short and the organiser eats the cost.</a:t>
            </a:r>
            <a:endParaRPr lang="en-US" sz="1200" dirty="0"/>
          </a:p>
        </p:txBody>
      </p:sp>
      <p:sp>
        <p:nvSpPr>
          <p:cNvPr id="9" name="Shape 7"/>
          <p:cNvSpPr/>
          <p:nvPr/>
        </p:nvSpPr>
        <p:spPr>
          <a:xfrm>
            <a:off x="4297680" y="2148840"/>
            <a:ext cx="3566160" cy="1417320"/>
          </a:xfrm>
          <a:prstGeom prst="roundRect">
            <a:avLst>
              <a:gd name="adj" fmla="val 5161"/>
            </a:avLst>
          </a:prstGeom>
          <a:solidFill>
            <a:srgbClr val="FFFFFF"/>
          </a:solidFill>
          <a:ln w="9525">
            <a:solidFill>
              <a:srgbClr val="D5DAD2"/>
            </a:solidFill>
            <a:prstDash val="solid"/>
          </a:ln>
        </p:spPr>
      </p:sp>
      <p:sp>
        <p:nvSpPr>
          <p:cNvPr id="10" name="Text 8"/>
          <p:cNvSpPr txBox="1"/>
          <p:nvPr/>
        </p:nvSpPr>
        <p:spPr>
          <a:xfrm>
            <a:off x="4526280" y="2331720"/>
            <a:ext cx="3108960" cy="365760"/>
          </a:xfrm>
          <a:prstGeom prst="rect">
            <a:avLst/>
          </a:prstGeom>
          <a:noFill/>
          <a:ln/>
        </p:spPr>
        <p:txBody>
          <a:bodyPr wrap="square" lIns="0" tIns="0" rIns="0" bIns="0" rtlCol="0" anchor="ctr"/>
          <a:lstStyle/>
          <a:p>
            <a:pPr algn="l" indent="0" marL="0">
              <a:buNone/>
            </a:pPr>
            <a:r>
              <a:rPr lang="en-US" sz="2200" b="1" dirty="0">
                <a:solidFill>
                  <a:srgbClr val="14201B"/>
                </a:solidFill>
                <a:latin typeface="Barlow Condensed" pitchFamily="34" charset="0"/>
                <a:ea typeface="Barlow Condensed" pitchFamily="34" charset="-122"/>
                <a:cs typeface="Barlow Condensed" pitchFamily="34" charset="-120"/>
              </a:rPr>
              <a:t>CHASING MONEY</a:t>
            </a:r>
            <a:endParaRPr lang="en-US" sz="2200" dirty="0"/>
          </a:p>
        </p:txBody>
      </p:sp>
      <p:sp>
        <p:nvSpPr>
          <p:cNvPr id="11" name="Text 9"/>
          <p:cNvSpPr txBox="1"/>
          <p:nvPr/>
        </p:nvSpPr>
        <p:spPr>
          <a:xfrm>
            <a:off x="4526280" y="2743200"/>
            <a:ext cx="3108960" cy="731520"/>
          </a:xfrm>
          <a:prstGeom prst="rect">
            <a:avLst/>
          </a:prstGeom>
          <a:noFill/>
          <a:ln/>
        </p:spPr>
        <p:txBody>
          <a:bodyPr wrap="square" lIns="0" tIns="0" rIns="0" bIns="0" rtlCol="0" anchor="t"/>
          <a:lstStyle/>
          <a:p>
            <a:pPr algn="l" indent="0" marL="0">
              <a:lnSpc>
                <a:spcPct val="115000"/>
              </a:lnSpc>
              <a:buNone/>
            </a:pPr>
            <a:r>
              <a:rPr lang="en-US" sz="1200" dirty="0">
                <a:solidFill>
                  <a:srgbClr val="3E4A44"/>
                </a:solidFill>
                <a:latin typeface="Arial" pitchFamily="34" charset="0"/>
                <a:ea typeface="Arial" pitchFamily="34" charset="-122"/>
                <a:cs typeface="Arial" pitchFamily="34" charset="-120"/>
              </a:rPr>
              <a:t>The organiser fronts £70 to £120 a week and is owed by at least two people at any moment.</a:t>
            </a:r>
            <a:endParaRPr lang="en-US" sz="1200" dirty="0"/>
          </a:p>
        </p:txBody>
      </p:sp>
      <p:sp>
        <p:nvSpPr>
          <p:cNvPr id="12" name="Shape 10"/>
          <p:cNvSpPr/>
          <p:nvPr/>
        </p:nvSpPr>
        <p:spPr>
          <a:xfrm>
            <a:off x="8046720" y="2148840"/>
            <a:ext cx="3566160" cy="1417320"/>
          </a:xfrm>
          <a:prstGeom prst="roundRect">
            <a:avLst>
              <a:gd name="adj" fmla="val 5161"/>
            </a:avLst>
          </a:prstGeom>
          <a:solidFill>
            <a:srgbClr val="FFFFFF"/>
          </a:solidFill>
          <a:ln w="9525">
            <a:solidFill>
              <a:srgbClr val="D5DAD2"/>
            </a:solidFill>
            <a:prstDash val="solid"/>
          </a:ln>
        </p:spPr>
      </p:sp>
      <p:sp>
        <p:nvSpPr>
          <p:cNvPr id="13" name="Text 11"/>
          <p:cNvSpPr txBox="1"/>
          <p:nvPr/>
        </p:nvSpPr>
        <p:spPr>
          <a:xfrm>
            <a:off x="8275320" y="2331720"/>
            <a:ext cx="3108960" cy="365760"/>
          </a:xfrm>
          <a:prstGeom prst="rect">
            <a:avLst/>
          </a:prstGeom>
          <a:noFill/>
          <a:ln/>
        </p:spPr>
        <p:txBody>
          <a:bodyPr wrap="square" lIns="0" tIns="0" rIns="0" bIns="0" rtlCol="0" anchor="ctr"/>
          <a:lstStyle/>
          <a:p>
            <a:pPr algn="l" indent="0" marL="0">
              <a:buNone/>
            </a:pPr>
            <a:r>
              <a:rPr lang="en-US" sz="2200" b="1" dirty="0">
                <a:solidFill>
                  <a:srgbClr val="14201B"/>
                </a:solidFill>
                <a:latin typeface="Barlow Condensed" pitchFamily="34" charset="0"/>
                <a:ea typeface="Barlow Condensed" pitchFamily="34" charset="-122"/>
                <a:cs typeface="Barlow Condensed" pitchFamily="34" charset="-120"/>
              </a:rPr>
              <a:t>NO-SHOWS</a:t>
            </a:r>
            <a:endParaRPr lang="en-US" sz="2200" dirty="0"/>
          </a:p>
        </p:txBody>
      </p:sp>
      <p:sp>
        <p:nvSpPr>
          <p:cNvPr id="14" name="Text 12"/>
          <p:cNvSpPr txBox="1"/>
          <p:nvPr/>
        </p:nvSpPr>
        <p:spPr>
          <a:xfrm>
            <a:off x="8275320" y="2743200"/>
            <a:ext cx="3108960" cy="731520"/>
          </a:xfrm>
          <a:prstGeom prst="rect">
            <a:avLst/>
          </a:prstGeom>
          <a:noFill/>
          <a:ln/>
        </p:spPr>
        <p:txBody>
          <a:bodyPr wrap="square" lIns="0" tIns="0" rIns="0" bIns="0" rtlCol="0" anchor="t"/>
          <a:lstStyle/>
          <a:p>
            <a:pPr algn="l" indent="0" marL="0">
              <a:lnSpc>
                <a:spcPct val="115000"/>
              </a:lnSpc>
              <a:buNone/>
            </a:pPr>
            <a:r>
              <a:rPr lang="en-US" sz="1200" dirty="0">
                <a:solidFill>
                  <a:srgbClr val="3E4A44"/>
                </a:solidFill>
                <a:latin typeface="Arial" pitchFamily="34" charset="0"/>
                <a:ea typeface="Arial" pitchFamily="34" charset="-122"/>
                <a:cs typeface="Arial" pitchFamily="34" charset="-120"/>
              </a:rPr>
              <a:t>Tapped in, never turned up, nobody paid. There is no record and no consequence.</a:t>
            </a:r>
            <a:endParaRPr lang="en-US" sz="1200" dirty="0"/>
          </a:p>
        </p:txBody>
      </p:sp>
      <p:sp>
        <p:nvSpPr>
          <p:cNvPr id="15" name="Shape 13"/>
          <p:cNvSpPr/>
          <p:nvPr/>
        </p:nvSpPr>
        <p:spPr>
          <a:xfrm>
            <a:off x="548640" y="3886200"/>
            <a:ext cx="5486400" cy="2103120"/>
          </a:xfrm>
          <a:prstGeom prst="roundRect">
            <a:avLst>
              <a:gd name="adj" fmla="val 3478"/>
            </a:avLst>
          </a:prstGeom>
          <a:solidFill>
            <a:srgbClr val="DDEFE3"/>
          </a:solidFill>
          <a:ln w="9525">
            <a:solidFill>
              <a:srgbClr val="DDEFE3"/>
            </a:solidFill>
            <a:prstDash val="solid"/>
          </a:ln>
        </p:spPr>
      </p:sp>
      <p:sp>
        <p:nvSpPr>
          <p:cNvPr id="16" name="Text 14"/>
          <p:cNvSpPr txBox="1"/>
          <p:nvPr/>
        </p:nvSpPr>
        <p:spPr>
          <a:xfrm>
            <a:off x="822960" y="4114800"/>
            <a:ext cx="4937760" cy="1005840"/>
          </a:xfrm>
          <a:prstGeom prst="rect">
            <a:avLst/>
          </a:prstGeom>
          <a:noFill/>
          <a:ln/>
        </p:spPr>
        <p:txBody>
          <a:bodyPr wrap="square" lIns="0" tIns="0" rIns="0" bIns="0" rtlCol="0" anchor="ctr"/>
          <a:lstStyle/>
          <a:p>
            <a:pPr algn="l" indent="0" marL="0">
              <a:lnSpc>
                <a:spcPct val="95000"/>
              </a:lnSpc>
              <a:buNone/>
            </a:pPr>
            <a:r>
              <a:rPr lang="en-US" sz="3000" b="1" dirty="0">
                <a:solidFill>
                  <a:srgbClr val="146238"/>
                </a:solidFill>
                <a:latin typeface="Barlow Condensed" pitchFamily="34" charset="0"/>
                <a:ea typeface="Barlow Condensed" pitchFamily="34" charset="-122"/>
                <a:cs typeface="Barlow Condensed" pitchFamily="34" charset="-120"/>
              </a:rPr>
              <a:t>“Dropouts are the single biggest headache.”</a:t>
            </a:r>
            <a:endParaRPr lang="en-US" sz="3000" dirty="0"/>
          </a:p>
        </p:txBody>
      </p:sp>
      <p:sp>
        <p:nvSpPr>
          <p:cNvPr id="17" name="Text 15"/>
          <p:cNvSpPr txBox="1"/>
          <p:nvPr/>
        </p:nvSpPr>
        <p:spPr>
          <a:xfrm>
            <a:off x="822960" y="5303520"/>
            <a:ext cx="493776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CAPO, UK FOOTBALL ORGANISER APP, 2025</a:t>
            </a:r>
            <a:endParaRPr lang="en-US" sz="1000" dirty="0"/>
          </a:p>
        </p:txBody>
      </p:sp>
      <p:sp>
        <p:nvSpPr>
          <p:cNvPr id="18" name="Text 16"/>
          <p:cNvSpPr txBox="1"/>
          <p:nvPr/>
        </p:nvSpPr>
        <p:spPr>
          <a:xfrm>
            <a:off x="822960" y="5577840"/>
            <a:ext cx="4937760" cy="320040"/>
          </a:xfrm>
          <a:prstGeom prst="rect">
            <a:avLst/>
          </a:prstGeom>
          <a:noFill/>
          <a:ln/>
        </p:spPr>
        <p:txBody>
          <a:bodyPr wrap="square" lIns="0" tIns="0" rIns="0" bIns="0" rtlCol="0" anchor="t"/>
          <a:lstStyle/>
          <a:p>
            <a:pPr algn="l" indent="0" marL="0">
              <a:buNone/>
            </a:pPr>
            <a:r>
              <a:rPr lang="en-US" sz="1100" dirty="0">
                <a:solidFill>
                  <a:srgbClr val="3E4A44"/>
                </a:solidFill>
                <a:latin typeface="Arial" pitchFamily="34" charset="0"/>
                <a:ea typeface="Arial" pitchFamily="34" charset="-122"/>
                <a:cs typeface="Arial" pitchFamily="34" charset="-120"/>
              </a:rPr>
              <a:t>We agree. It is the organiser's biggest financial risk and nobody has fixed it.</a:t>
            </a:r>
            <a:endParaRPr lang="en-US" sz="1100" dirty="0"/>
          </a:p>
        </p:txBody>
      </p:sp>
      <p:sp>
        <p:nvSpPr>
          <p:cNvPr id="19" name="Shape 17"/>
          <p:cNvSpPr/>
          <p:nvPr/>
        </p:nvSpPr>
        <p:spPr>
          <a:xfrm>
            <a:off x="6263640" y="3886200"/>
            <a:ext cx="5394960" cy="2103120"/>
          </a:xfrm>
          <a:prstGeom prst="roundRect">
            <a:avLst>
              <a:gd name="adj" fmla="val 3478"/>
            </a:avLst>
          </a:prstGeom>
          <a:solidFill>
            <a:srgbClr val="F8DDD6"/>
          </a:solidFill>
          <a:ln w="9525">
            <a:solidFill>
              <a:srgbClr val="F8DDD6"/>
            </a:solidFill>
            <a:prstDash val="solid"/>
          </a:ln>
        </p:spPr>
      </p:sp>
      <p:sp>
        <p:nvSpPr>
          <p:cNvPr id="20" name="Text 18"/>
          <p:cNvSpPr txBox="1"/>
          <p:nvPr/>
        </p:nvSpPr>
        <p:spPr>
          <a:xfrm>
            <a:off x="6537960" y="4069080"/>
            <a:ext cx="2103120" cy="1097280"/>
          </a:xfrm>
          <a:prstGeom prst="rect">
            <a:avLst/>
          </a:prstGeom>
          <a:noFill/>
          <a:ln/>
        </p:spPr>
        <p:txBody>
          <a:bodyPr wrap="square" lIns="0" tIns="0" rIns="0" bIns="0" rtlCol="0" anchor="ctr"/>
          <a:lstStyle/>
          <a:p>
            <a:pPr algn="l" indent="0" marL="0">
              <a:buNone/>
            </a:pPr>
            <a:r>
              <a:rPr lang="en-US" sz="6400" b="1" dirty="0">
                <a:solidFill>
                  <a:srgbClr val="C8412B"/>
                </a:solidFill>
                <a:latin typeface="Barlow Condensed" pitchFamily="34" charset="0"/>
                <a:ea typeface="Barlow Condensed" pitchFamily="34" charset="-122"/>
                <a:cs typeface="Barlow Condensed" pitchFamily="34" charset="-120"/>
              </a:rPr>
              <a:t>1.3★</a:t>
            </a:r>
            <a:endParaRPr lang="en-US" sz="6400" dirty="0"/>
          </a:p>
        </p:txBody>
      </p:sp>
      <p:sp>
        <p:nvSpPr>
          <p:cNvPr id="21" name="Text 19"/>
          <p:cNvSpPr txBox="1"/>
          <p:nvPr/>
        </p:nvSpPr>
        <p:spPr>
          <a:xfrm>
            <a:off x="8641080" y="4206240"/>
            <a:ext cx="2834640" cy="365760"/>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Playtomic on Trustpilot</a:t>
            </a:r>
            <a:endParaRPr lang="en-US" sz="2000" dirty="0"/>
          </a:p>
        </p:txBody>
      </p:sp>
      <p:sp>
        <p:nvSpPr>
          <p:cNvPr id="22" name="Text 20"/>
          <p:cNvSpPr txBox="1"/>
          <p:nvPr/>
        </p:nvSpPr>
        <p:spPr>
          <a:xfrm>
            <a:off x="8641080" y="4617720"/>
            <a:ext cx="2834640" cy="914400"/>
          </a:xfrm>
          <a:prstGeom prst="rect">
            <a:avLst/>
          </a:prstGeom>
          <a:noFill/>
          <a:ln/>
        </p:spPr>
        <p:txBody>
          <a:bodyPr wrap="square" lIns="0" tIns="0" rIns="0" bIns="0" rtlCol="0" anchor="t"/>
          <a:lstStyle/>
          <a:p>
            <a:pPr algn="l" indent="0" marL="0">
              <a:lnSpc>
                <a:spcPct val="115000"/>
              </a:lnSpc>
              <a:buNone/>
            </a:pPr>
            <a:r>
              <a:rPr lang="en-US" sz="1100" dirty="0">
                <a:solidFill>
                  <a:srgbClr val="3E4A44"/>
                </a:solidFill>
                <a:latin typeface="Arial" pitchFamily="34" charset="0"/>
                <a:ea typeface="Arial" pitchFamily="34" charset="-122"/>
                <a:cs typeface="Arial" pitchFamily="34" charset="-120"/>
              </a:rPr>
              <a:t>Dominated by refund and no-show disputes. The incumbent that owns padel booking is disliked by the people who use it.</a:t>
            </a:r>
            <a:endParaRPr lang="en-US" sz="1100" dirty="0"/>
          </a:p>
        </p:txBody>
      </p:sp>
      <p:sp>
        <p:nvSpPr>
          <p:cNvPr id="23" name="Text 21"/>
          <p:cNvSpPr txBox="1"/>
          <p:nvPr/>
        </p:nvSpPr>
        <p:spPr>
          <a:xfrm>
            <a:off x="6537960" y="5577840"/>
            <a:ext cx="493776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TRUSTPILOT RATING, SEPTEMBER 2026 RESEARCH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WHY NOW</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SPORT FOR 18 TO 35S IS BEING REBUILT AROUND GROUPS, AND IT IS HAPPENING NOW.</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03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48840"/>
            <a:ext cx="2624328" cy="2514600"/>
          </a:xfrm>
          <a:prstGeom prst="roundRect">
            <a:avLst>
              <a:gd name="adj" fmla="val 2909"/>
            </a:avLst>
          </a:prstGeom>
          <a:solidFill>
            <a:srgbClr val="FFFFFF"/>
          </a:solidFill>
          <a:ln w="9525">
            <a:solidFill>
              <a:srgbClr val="D5DAD2"/>
            </a:solidFill>
            <a:prstDash val="solid"/>
          </a:ln>
        </p:spPr>
      </p:sp>
      <p:sp>
        <p:nvSpPr>
          <p:cNvPr id="7" name="Text 5"/>
          <p:cNvSpPr txBox="1"/>
          <p:nvPr/>
        </p:nvSpPr>
        <p:spPr>
          <a:xfrm>
            <a:off x="731520" y="2286000"/>
            <a:ext cx="2258568" cy="1257300"/>
          </a:xfrm>
          <a:prstGeom prst="rect">
            <a:avLst/>
          </a:prstGeom>
          <a:noFill/>
          <a:ln/>
        </p:spPr>
        <p:txBody>
          <a:bodyPr wrap="square" lIns="0" tIns="0" rIns="0" bIns="0" rtlCol="0" anchor="ctr"/>
          <a:lstStyle/>
          <a:p>
            <a:pPr algn="l" indent="0" marL="0">
              <a:buNone/>
            </a:pPr>
            <a:r>
              <a:rPr lang="en-US" sz="3400" b="1" dirty="0">
                <a:solidFill>
                  <a:srgbClr val="14201B"/>
                </a:solidFill>
                <a:latin typeface="Barlow Condensed" pitchFamily="34" charset="0"/>
                <a:ea typeface="Barlow Condensed" pitchFamily="34" charset="-122"/>
                <a:cs typeface="Barlow Condensed" pitchFamily="34" charset="-120"/>
              </a:rPr>
              <a:t>400k → 860k</a:t>
            </a:r>
            <a:endParaRPr lang="en-US" sz="3400" dirty="0"/>
          </a:p>
        </p:txBody>
      </p:sp>
      <p:sp>
        <p:nvSpPr>
          <p:cNvPr id="8" name="Text 6"/>
          <p:cNvSpPr txBox="1"/>
          <p:nvPr/>
        </p:nvSpPr>
        <p:spPr>
          <a:xfrm>
            <a:off x="731520" y="3497580"/>
            <a:ext cx="2258568" cy="8001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UK padel players, end of 2024 to 2025. More than doubled in one year.</a:t>
            </a:r>
            <a:endParaRPr lang="en-US" sz="1200" dirty="0"/>
          </a:p>
        </p:txBody>
      </p:sp>
      <p:sp>
        <p:nvSpPr>
          <p:cNvPr id="9" name="Text 7"/>
          <p:cNvSpPr txBox="1"/>
          <p:nvPr/>
        </p:nvSpPr>
        <p:spPr>
          <a:xfrm>
            <a:off x="731520" y="4297680"/>
            <a:ext cx="2258568" cy="228600"/>
          </a:xfrm>
          <a:prstGeom prst="rect">
            <a:avLst/>
          </a:prstGeom>
          <a:noFill/>
          <a:ln/>
        </p:spPr>
        <p:txBody>
          <a:bodyPr wrap="square" lIns="0" tIns="0" rIns="0" bIns="0" rtlCol="0" anchor="ctr"/>
          <a:lstStyle/>
          <a:p>
            <a:pPr algn="l" indent="0" marL="0">
              <a:buNone/>
            </a:pPr>
            <a:r>
              <a:rPr lang="en-US" sz="800" spc="150" kern="0" dirty="0">
                <a:solidFill>
                  <a:srgbClr val="6E7A73"/>
                </a:solidFill>
                <a:latin typeface="Courier New" pitchFamily="34" charset="0"/>
                <a:ea typeface="Courier New" pitchFamily="34" charset="-122"/>
                <a:cs typeface="Courier New" pitchFamily="34" charset="-120"/>
              </a:rPr>
              <a:t>LTA, 2025</a:t>
            </a:r>
            <a:endParaRPr lang="en-US" sz="800" dirty="0"/>
          </a:p>
        </p:txBody>
      </p:sp>
      <p:sp>
        <p:nvSpPr>
          <p:cNvPr id="10" name="Shape 8"/>
          <p:cNvSpPr/>
          <p:nvPr/>
        </p:nvSpPr>
        <p:spPr>
          <a:xfrm>
            <a:off x="3355848" y="2148840"/>
            <a:ext cx="2624328" cy="2514600"/>
          </a:xfrm>
          <a:prstGeom prst="roundRect">
            <a:avLst>
              <a:gd name="adj" fmla="val 2909"/>
            </a:avLst>
          </a:prstGeom>
          <a:solidFill>
            <a:srgbClr val="FFFFFF"/>
          </a:solidFill>
          <a:ln w="9525">
            <a:solidFill>
              <a:srgbClr val="D5DAD2"/>
            </a:solidFill>
            <a:prstDash val="solid"/>
          </a:ln>
        </p:spPr>
      </p:sp>
      <p:sp>
        <p:nvSpPr>
          <p:cNvPr id="11" name="Text 9"/>
          <p:cNvSpPr txBox="1"/>
          <p:nvPr/>
        </p:nvSpPr>
        <p:spPr>
          <a:xfrm>
            <a:off x="3538728" y="2286000"/>
            <a:ext cx="2258568" cy="1257300"/>
          </a:xfrm>
          <a:prstGeom prst="rect">
            <a:avLst/>
          </a:prstGeom>
          <a:noFill/>
          <a:ln/>
        </p:spPr>
        <p:txBody>
          <a:bodyPr wrap="square" lIns="0" tIns="0" rIns="0" bIns="0" rtlCol="0" anchor="ctr"/>
          <a:lstStyle/>
          <a:p>
            <a:pPr algn="l" indent="0" marL="0">
              <a:buNone/>
            </a:pPr>
            <a:r>
              <a:rPr lang="en-US" sz="4800" b="1" dirty="0">
                <a:solidFill>
                  <a:srgbClr val="14201B"/>
                </a:solidFill>
                <a:latin typeface="Barlow Condensed" pitchFamily="34" charset="0"/>
                <a:ea typeface="Barlow Condensed" pitchFamily="34" charset="-122"/>
                <a:cs typeface="Barlow Condensed" pitchFamily="34" charset="-120"/>
              </a:rPr>
              <a:t>53%</a:t>
            </a:r>
            <a:endParaRPr lang="en-US" sz="4800" dirty="0"/>
          </a:p>
        </p:txBody>
      </p:sp>
      <p:sp>
        <p:nvSpPr>
          <p:cNvPr id="12" name="Text 10"/>
          <p:cNvSpPr txBox="1"/>
          <p:nvPr/>
        </p:nvSpPr>
        <p:spPr>
          <a:xfrm>
            <a:off x="3538728" y="3497580"/>
            <a:ext cx="2258568" cy="8001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of UK 18 to 34s now choose fitness over nightlife.</a:t>
            </a:r>
            <a:endParaRPr lang="en-US" sz="1200" dirty="0"/>
          </a:p>
        </p:txBody>
      </p:sp>
      <p:sp>
        <p:nvSpPr>
          <p:cNvPr id="13" name="Text 11"/>
          <p:cNvSpPr txBox="1"/>
          <p:nvPr/>
        </p:nvSpPr>
        <p:spPr>
          <a:xfrm>
            <a:off x="3538728" y="4297680"/>
            <a:ext cx="2258568" cy="228600"/>
          </a:xfrm>
          <a:prstGeom prst="rect">
            <a:avLst/>
          </a:prstGeom>
          <a:noFill/>
          <a:ln/>
        </p:spPr>
        <p:txBody>
          <a:bodyPr wrap="square" lIns="0" tIns="0" rIns="0" bIns="0" rtlCol="0" anchor="ctr"/>
          <a:lstStyle/>
          <a:p>
            <a:pPr algn="l" indent="0" marL="0">
              <a:buNone/>
            </a:pPr>
            <a:r>
              <a:rPr lang="en-US" sz="800" spc="150" kern="0" dirty="0">
                <a:solidFill>
                  <a:srgbClr val="6E7A73"/>
                </a:solidFill>
                <a:latin typeface="Courier New" pitchFamily="34" charset="0"/>
                <a:ea typeface="Courier New" pitchFamily="34" charset="-122"/>
                <a:cs typeface="Courier New" pitchFamily="34" charset="-120"/>
              </a:rPr>
              <a:t>BLOOMBERG, MAY 2026</a:t>
            </a:r>
            <a:endParaRPr lang="en-US" sz="800" dirty="0"/>
          </a:p>
        </p:txBody>
      </p:sp>
      <p:sp>
        <p:nvSpPr>
          <p:cNvPr id="14" name="Shape 12"/>
          <p:cNvSpPr/>
          <p:nvPr/>
        </p:nvSpPr>
        <p:spPr>
          <a:xfrm>
            <a:off x="6163056" y="2148840"/>
            <a:ext cx="2624328" cy="2514600"/>
          </a:xfrm>
          <a:prstGeom prst="roundRect">
            <a:avLst>
              <a:gd name="adj" fmla="val 2909"/>
            </a:avLst>
          </a:prstGeom>
          <a:solidFill>
            <a:srgbClr val="FFFFFF"/>
          </a:solidFill>
          <a:ln w="9525">
            <a:solidFill>
              <a:srgbClr val="D5DAD2"/>
            </a:solidFill>
            <a:prstDash val="solid"/>
          </a:ln>
        </p:spPr>
      </p:sp>
      <p:sp>
        <p:nvSpPr>
          <p:cNvPr id="15" name="Text 13"/>
          <p:cNvSpPr txBox="1"/>
          <p:nvPr/>
        </p:nvSpPr>
        <p:spPr>
          <a:xfrm>
            <a:off x="6345936" y="2286000"/>
            <a:ext cx="2258568" cy="1257300"/>
          </a:xfrm>
          <a:prstGeom prst="rect">
            <a:avLst/>
          </a:prstGeom>
          <a:noFill/>
          <a:ln/>
        </p:spPr>
        <p:txBody>
          <a:bodyPr wrap="square" lIns="0" tIns="0" rIns="0" bIns="0" rtlCol="0" anchor="ctr"/>
          <a:lstStyle/>
          <a:p>
            <a:pPr algn="l" indent="0" marL="0">
              <a:buNone/>
            </a:pPr>
            <a:r>
              <a:rPr lang="en-US" sz="4800" b="1" dirty="0">
                <a:solidFill>
                  <a:srgbClr val="14201B"/>
                </a:solidFill>
                <a:latin typeface="Barlow Condensed" pitchFamily="34" charset="0"/>
                <a:ea typeface="Barlow Condensed" pitchFamily="34" charset="-122"/>
                <a:cs typeface="Barlow Condensed" pitchFamily="34" charset="-120"/>
              </a:rPr>
              <a:t>1M</a:t>
            </a:r>
            <a:endParaRPr lang="en-US" sz="4800" dirty="0"/>
          </a:p>
        </p:txBody>
      </p:sp>
      <p:sp>
        <p:nvSpPr>
          <p:cNvPr id="16" name="Text 14"/>
          <p:cNvSpPr txBox="1"/>
          <p:nvPr/>
        </p:nvSpPr>
        <p:spPr>
          <a:xfrm>
            <a:off x="6345936" y="3497580"/>
            <a:ext cx="2258568" cy="8001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Strava clubs in 2025, roughly four times the year before.</a:t>
            </a:r>
            <a:endParaRPr lang="en-US" sz="1200" dirty="0"/>
          </a:p>
        </p:txBody>
      </p:sp>
      <p:sp>
        <p:nvSpPr>
          <p:cNvPr id="17" name="Text 15"/>
          <p:cNvSpPr txBox="1"/>
          <p:nvPr/>
        </p:nvSpPr>
        <p:spPr>
          <a:xfrm>
            <a:off x="6345936" y="4297680"/>
            <a:ext cx="2258568" cy="228600"/>
          </a:xfrm>
          <a:prstGeom prst="rect">
            <a:avLst/>
          </a:prstGeom>
          <a:noFill/>
          <a:ln/>
        </p:spPr>
        <p:txBody>
          <a:bodyPr wrap="square" lIns="0" tIns="0" rIns="0" bIns="0" rtlCol="0" anchor="ctr"/>
          <a:lstStyle/>
          <a:p>
            <a:pPr algn="l" indent="0" marL="0">
              <a:buNone/>
            </a:pPr>
            <a:r>
              <a:rPr lang="en-US" sz="800" spc="150" kern="0" dirty="0">
                <a:solidFill>
                  <a:srgbClr val="6E7A73"/>
                </a:solidFill>
                <a:latin typeface="Courier New" pitchFamily="34" charset="0"/>
                <a:ea typeface="Courier New" pitchFamily="34" charset="-122"/>
                <a:cs typeface="Courier New" pitchFamily="34" charset="-120"/>
              </a:rPr>
              <a:t>STRAVA, 2025</a:t>
            </a:r>
            <a:endParaRPr lang="en-US" sz="800" dirty="0"/>
          </a:p>
        </p:txBody>
      </p:sp>
      <p:sp>
        <p:nvSpPr>
          <p:cNvPr id="18" name="Shape 16"/>
          <p:cNvSpPr/>
          <p:nvPr/>
        </p:nvSpPr>
        <p:spPr>
          <a:xfrm>
            <a:off x="8970264" y="2148840"/>
            <a:ext cx="2624328" cy="2514600"/>
          </a:xfrm>
          <a:prstGeom prst="roundRect">
            <a:avLst>
              <a:gd name="adj" fmla="val 2909"/>
            </a:avLst>
          </a:prstGeom>
          <a:solidFill>
            <a:srgbClr val="FFFFFF"/>
          </a:solidFill>
          <a:ln w="9525">
            <a:solidFill>
              <a:srgbClr val="D5DAD2"/>
            </a:solidFill>
            <a:prstDash val="solid"/>
          </a:ln>
        </p:spPr>
      </p:sp>
      <p:sp>
        <p:nvSpPr>
          <p:cNvPr id="19" name="Text 17"/>
          <p:cNvSpPr txBox="1"/>
          <p:nvPr/>
        </p:nvSpPr>
        <p:spPr>
          <a:xfrm>
            <a:off x="9153144" y="2286000"/>
            <a:ext cx="2258568" cy="1257300"/>
          </a:xfrm>
          <a:prstGeom prst="rect">
            <a:avLst/>
          </a:prstGeom>
          <a:noFill/>
          <a:ln/>
        </p:spPr>
        <p:txBody>
          <a:bodyPr wrap="square" lIns="0" tIns="0" rIns="0" bIns="0" rtlCol="0" anchor="ctr"/>
          <a:lstStyle/>
          <a:p>
            <a:pPr algn="l" indent="0" marL="0">
              <a:buNone/>
            </a:pPr>
            <a:r>
              <a:rPr lang="en-US" sz="4800" b="1" dirty="0">
                <a:solidFill>
                  <a:srgbClr val="14201B"/>
                </a:solidFill>
                <a:latin typeface="Barlow Condensed" pitchFamily="34" charset="0"/>
                <a:ea typeface="Barlow Condensed" pitchFamily="34" charset="-122"/>
                <a:cs typeface="Barlow Condensed" pitchFamily="34" charset="-120"/>
              </a:rPr>
              <a:t>27%</a:t>
            </a:r>
            <a:endParaRPr lang="en-US" sz="4800" dirty="0"/>
          </a:p>
        </p:txBody>
      </p:sp>
      <p:sp>
        <p:nvSpPr>
          <p:cNvPr id="20" name="Text 18"/>
          <p:cNvSpPr txBox="1"/>
          <p:nvPr/>
        </p:nvSpPr>
        <p:spPr>
          <a:xfrm>
            <a:off x="9153144" y="3497580"/>
            <a:ext cx="2258568" cy="8001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of F1 fans are Gen Z, and half of them are women. Watching together is a crew activity too.</a:t>
            </a:r>
            <a:endParaRPr lang="en-US" sz="1200" dirty="0"/>
          </a:p>
        </p:txBody>
      </p:sp>
      <p:sp>
        <p:nvSpPr>
          <p:cNvPr id="21" name="Text 19"/>
          <p:cNvSpPr txBox="1"/>
          <p:nvPr/>
        </p:nvSpPr>
        <p:spPr>
          <a:xfrm>
            <a:off x="9153144" y="4297680"/>
            <a:ext cx="2258568" cy="228600"/>
          </a:xfrm>
          <a:prstGeom prst="rect">
            <a:avLst/>
          </a:prstGeom>
          <a:noFill/>
          <a:ln/>
        </p:spPr>
        <p:txBody>
          <a:bodyPr wrap="square" lIns="0" tIns="0" rIns="0" bIns="0" rtlCol="0" anchor="ctr"/>
          <a:lstStyle/>
          <a:p>
            <a:pPr algn="l" indent="0" marL="0">
              <a:buNone/>
            </a:pPr>
            <a:r>
              <a:rPr lang="en-US" sz="800" spc="150" kern="0" dirty="0">
                <a:solidFill>
                  <a:srgbClr val="6E7A73"/>
                </a:solidFill>
                <a:latin typeface="Courier New" pitchFamily="34" charset="0"/>
                <a:ea typeface="Courier New" pitchFamily="34" charset="-122"/>
                <a:cs typeface="Courier New" pitchFamily="34" charset="-120"/>
              </a:rPr>
              <a:t>F1 GLOBAL FAN SURVEY, 2025</a:t>
            </a:r>
            <a:endParaRPr lang="en-US" sz="800" dirty="0"/>
          </a:p>
        </p:txBody>
      </p:sp>
      <p:sp>
        <p:nvSpPr>
          <p:cNvPr id="22" name="Shape 20"/>
          <p:cNvSpPr/>
          <p:nvPr/>
        </p:nvSpPr>
        <p:spPr>
          <a:xfrm>
            <a:off x="548640" y="4892040"/>
            <a:ext cx="11094415" cy="1234440"/>
          </a:xfrm>
          <a:prstGeom prst="roundRect">
            <a:avLst>
              <a:gd name="adj" fmla="val 5926"/>
            </a:avLst>
          </a:prstGeom>
          <a:solidFill>
            <a:srgbClr val="DDEFE3"/>
          </a:solidFill>
          <a:ln w="9525">
            <a:solidFill>
              <a:srgbClr val="DDEFE3"/>
            </a:solidFill>
            <a:prstDash val="solid"/>
          </a:ln>
        </p:spPr>
      </p:sp>
      <p:sp>
        <p:nvSpPr>
          <p:cNvPr id="23" name="Text 21"/>
          <p:cNvSpPr txBox="1"/>
          <p:nvPr/>
        </p:nvSpPr>
        <p:spPr>
          <a:xfrm>
            <a:off x="822960" y="5029200"/>
            <a:ext cx="2011680" cy="960120"/>
          </a:xfrm>
          <a:prstGeom prst="rect">
            <a:avLst/>
          </a:prstGeom>
          <a:noFill/>
          <a:ln/>
        </p:spPr>
        <p:txBody>
          <a:bodyPr wrap="square" lIns="0" tIns="0" rIns="0" bIns="0" rtlCol="0" anchor="ctr"/>
          <a:lstStyle/>
          <a:p>
            <a:pPr algn="l" indent="0" marL="0">
              <a:buNone/>
            </a:pPr>
            <a:r>
              <a:rPr lang="en-US" sz="4400" b="1" dirty="0">
                <a:solidFill>
                  <a:srgbClr val="146238"/>
                </a:solidFill>
                <a:latin typeface="Barlow Condensed" pitchFamily="34" charset="0"/>
                <a:ea typeface="Barlow Condensed" pitchFamily="34" charset="-122"/>
                <a:cs typeface="Barlow Condensed" pitchFamily="34" charset="-120"/>
              </a:rPr>
              <a:t>+561k</a:t>
            </a:r>
            <a:endParaRPr lang="en-US" sz="4400" dirty="0"/>
          </a:p>
        </p:txBody>
      </p:sp>
      <p:sp>
        <p:nvSpPr>
          <p:cNvPr id="24" name="Text 22"/>
          <p:cNvSpPr txBox="1"/>
          <p:nvPr/>
        </p:nvSpPr>
        <p:spPr>
          <a:xfrm>
            <a:off x="3017520" y="5029200"/>
            <a:ext cx="8229600" cy="731520"/>
          </a:xfrm>
          <a:prstGeom prst="rect">
            <a:avLst/>
          </a:prstGeom>
          <a:noFill/>
          <a:ln/>
        </p:spPr>
        <p:txBody>
          <a:bodyPr wrap="square" lIns="0" tIns="0" rIns="0" bIns="0" rtlCol="0" anchor="ctr"/>
          <a:lstStyle/>
          <a:p>
            <a:pPr algn="l" indent="0" marL="0">
              <a:lnSpc>
                <a:spcPct val="120000"/>
              </a:lnSpc>
              <a:buNone/>
            </a:pPr>
            <a:r>
              <a:rPr lang="en-US" sz="1250" b="1" dirty="0">
                <a:solidFill>
                  <a:srgbClr val="14201B"/>
                </a:solidFill>
                <a:latin typeface="Arial" pitchFamily="34" charset="0"/>
                <a:ea typeface="Arial" pitchFamily="34" charset="-122"/>
                <a:cs typeface="Arial" pitchFamily="34" charset="-120"/>
              </a:rPr>
              <a:t>Adult football participation in England rose 561k year on year, while 16 to 34 activity has fallen by roughly 0.5M since 2015/16. </a:t>
            </a:r>
            <a:pPr algn="l" indent="0" marL="0">
              <a:lnSpc>
                <a:spcPct val="120000"/>
              </a:lnSpc>
              <a:buNone/>
            </a:pPr>
            <a:r>
              <a:rPr lang="en-US" sz="1250" dirty="0">
                <a:solidFill>
                  <a:srgbClr val="3E4A44"/>
                </a:solidFill>
                <a:latin typeface="Arial" pitchFamily="34" charset="0"/>
                <a:ea typeface="Arial" pitchFamily="34" charset="-122"/>
                <a:cs typeface="Arial" pitchFamily="34" charset="-120"/>
              </a:rPr>
              <a:t>The people who still play are doing it in fixed groups. The social unit of exercise is the crew, not the club.</a:t>
            </a:r>
            <a:endParaRPr lang="en-US" sz="1250" dirty="0"/>
          </a:p>
        </p:txBody>
      </p:sp>
      <p:sp>
        <p:nvSpPr>
          <p:cNvPr id="25" name="Text 23"/>
          <p:cNvSpPr txBox="1"/>
          <p:nvPr/>
        </p:nvSpPr>
        <p:spPr>
          <a:xfrm>
            <a:off x="3017520" y="5760720"/>
            <a:ext cx="548640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SPORT ENGLAND ACTIVE LIVES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THE INSIGHT</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THE UNIT OF 18 TO 35 SPORT IS THE CREW, AND NOBODY MODELS IT.</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04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Text 4"/>
          <p:cNvSpPr txBox="1"/>
          <p:nvPr/>
        </p:nvSpPr>
        <p:spPr>
          <a:xfrm>
            <a:off x="548640" y="2148840"/>
            <a:ext cx="3291840" cy="3291840"/>
          </a:xfrm>
          <a:prstGeom prst="rect">
            <a:avLst/>
          </a:prstGeom>
          <a:noFill/>
          <a:ln/>
        </p:spPr>
        <p:txBody>
          <a:bodyPr wrap="square" lIns="0" tIns="0" rIns="0" bIns="0" rtlCol="0" anchor="t"/>
          <a:lstStyle/>
          <a:p>
            <a:pPr algn="l" indent="0" marL="0">
              <a:lnSpc>
                <a:spcPct val="120000"/>
              </a:lnSpc>
              <a:spcAft>
                <a:spcPts val="200"/>
              </a:spcAft>
              <a:buNone/>
            </a:pPr>
            <a:r>
              <a:rPr lang="en-US" sz="1200" b="1" dirty="0">
                <a:solidFill>
                  <a:srgbClr val="14201B"/>
                </a:solidFill>
                <a:latin typeface="Arial" pitchFamily="34" charset="0"/>
                <a:ea typeface="Arial" pitchFamily="34" charset="-122"/>
                <a:cs typeface="Arial" pitchFamily="34" charset="-120"/>
              </a:rPr>
              <a:t>Incumbents model the individual</a:t>
            </a:r>
            <a:endParaRPr lang="en-US" sz="1200" dirty="0"/>
          </a:p>
          <a:p>
            <a:pPr algn="l" indent="0" marL="0">
              <a:lnSpc>
                <a:spcPct val="120000"/>
              </a:lnSpc>
              <a:spcAft>
                <a:spcPts val="200"/>
              </a:spcAft>
              <a:buNone/>
            </a:pPr>
            <a:r>
              <a:rPr lang="en-US" sz="1200" dirty="0">
                <a:solidFill>
                  <a:srgbClr val="3E4A44"/>
                </a:solidFill>
                <a:latin typeface="Arial" pitchFamily="34" charset="0"/>
                <a:ea typeface="Arial" pitchFamily="34" charset="-122"/>
                <a:cs typeface="Arial" pitchFamily="34" charset="-120"/>
              </a:rPr>
              <a:t>Loggers, GPS, fantasy: Strava, Hevy, FPL, Sofascore.</a:t>
            </a:r>
            <a:endParaRPr lang="en-US" sz="1200" dirty="0"/>
          </a:p>
          <a:p>
            <a:pPr algn="l" indent="0" marL="0">
              <a:lnSpc>
                <a:spcPct val="120000"/>
              </a:lnSpc>
              <a:spcAft>
                <a:spcPts val="200"/>
              </a:spcAft>
              <a:buNone/>
            </a:pPr>
            <a:r>
              <a:rPr lang="en-US" sz="600" dirty="0">
                <a:solidFill>
                  <a:srgbClr val="14201B"/>
                </a:solidFill>
                <a:latin typeface="Arial" pitchFamily="34" charset="0"/>
                <a:ea typeface="Arial" pitchFamily="34" charset="-122"/>
                <a:cs typeface="Arial" pitchFamily="34" charset="-120"/>
              </a:rPr>
              <a:t> </a:t>
            </a:r>
            <a:endParaRPr lang="en-US" sz="1200" dirty="0"/>
          </a:p>
          <a:p>
            <a:pPr algn="l" indent="0" marL="0">
              <a:lnSpc>
                <a:spcPct val="120000"/>
              </a:lnSpc>
              <a:spcAft>
                <a:spcPts val="200"/>
              </a:spcAft>
              <a:buNone/>
            </a:pPr>
            <a:r>
              <a:rPr lang="en-US" sz="1200" b="1" dirty="0">
                <a:solidFill>
                  <a:srgbClr val="14201B"/>
                </a:solidFill>
                <a:latin typeface="Arial" pitchFamily="34" charset="0"/>
                <a:ea typeface="Arial" pitchFamily="34" charset="-122"/>
                <a:cs typeface="Arial" pitchFamily="34" charset="-120"/>
              </a:rPr>
              <a:t>Or the institution</a:t>
            </a:r>
            <a:endParaRPr lang="en-US" sz="1200" dirty="0"/>
          </a:p>
          <a:p>
            <a:pPr algn="l" indent="0" marL="0">
              <a:lnSpc>
                <a:spcPct val="120000"/>
              </a:lnSpc>
              <a:spcAft>
                <a:spcPts val="200"/>
              </a:spcAft>
              <a:buNone/>
            </a:pPr>
            <a:r>
              <a:rPr lang="en-US" sz="1200" dirty="0">
                <a:solidFill>
                  <a:srgbClr val="3E4A44"/>
                </a:solidFill>
                <a:latin typeface="Arial" pitchFamily="34" charset="0"/>
                <a:ea typeface="Arial" pitchFamily="34" charset="-122"/>
                <a:cs typeface="Arial" pitchFamily="34" charset="-120"/>
              </a:rPr>
              <a:t>Clubs, venues, bookings: Spond, Playtomic, GolfNow, Playfinder.</a:t>
            </a:r>
            <a:endParaRPr lang="en-US" sz="1200" dirty="0"/>
          </a:p>
          <a:p>
            <a:pPr algn="l" indent="0" marL="0">
              <a:lnSpc>
                <a:spcPct val="120000"/>
              </a:lnSpc>
              <a:spcAft>
                <a:spcPts val="200"/>
              </a:spcAft>
              <a:buNone/>
            </a:pPr>
            <a:r>
              <a:rPr lang="en-US" sz="600" dirty="0">
                <a:solidFill>
                  <a:srgbClr val="14201B"/>
                </a:solidFill>
                <a:latin typeface="Arial" pitchFamily="34" charset="0"/>
                <a:ea typeface="Arial" pitchFamily="34" charset="-122"/>
                <a:cs typeface="Arial" pitchFamily="34" charset="-120"/>
              </a:rPr>
              <a:t> </a:t>
            </a:r>
            <a:endParaRPr lang="en-US" sz="1200" dirty="0"/>
          </a:p>
          <a:p>
            <a:pPr algn="l" indent="0" marL="0">
              <a:lnSpc>
                <a:spcPct val="120000"/>
              </a:lnSpc>
              <a:spcAft>
                <a:spcPts val="200"/>
              </a:spcAft>
              <a:buNone/>
            </a:pPr>
            <a:r>
              <a:rPr lang="en-US" sz="1200" b="1" dirty="0">
                <a:solidFill>
                  <a:srgbClr val="146238"/>
                </a:solidFill>
                <a:latin typeface="Arial" pitchFamily="34" charset="0"/>
                <a:ea typeface="Arial" pitchFamily="34" charset="-122"/>
                <a:cs typeface="Arial" pitchFamily="34" charset="-120"/>
              </a:rPr>
              <a:t>Nobody models the group of 4 to 20 mates</a:t>
            </a:r>
            <a:endParaRPr lang="en-US" sz="1200" dirty="0"/>
          </a:p>
          <a:p>
            <a:pPr algn="l" indent="0" marL="0">
              <a:lnSpc>
                <a:spcPct val="120000"/>
              </a:lnSpc>
              <a:spcAft>
                <a:spcPts val="200"/>
              </a:spcAft>
              <a:buNone/>
            </a:pPr>
            <a:r>
              <a:rPr lang="en-US" sz="1200" dirty="0">
                <a:solidFill>
                  <a:srgbClr val="3E4A44"/>
                </a:solidFill>
                <a:latin typeface="Arial" pitchFamily="34" charset="0"/>
                <a:ea typeface="Arial" pitchFamily="34" charset="-122"/>
                <a:cs typeface="Arial" pitchFamily="34" charset="-120"/>
              </a:rPr>
              <a:t>Who is in, who dropped, who owes, who was player of the match. That layer is open in every sport we looked at.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60520" y="2148840"/>
          <a:ext cx="7479792" cy="914400"/>
        </p:xfrm>
        <a:graphic>
          <a:graphicData uri="http://schemas.openxmlformats.org/drawingml/2006/table">
            <a:tbl>
              <a:tblPr/>
              <a:tblGrid>
                <a:gridCol w="1737360"/>
                <a:gridCol w="1148486"/>
                <a:gridCol w="1148486"/>
                <a:gridCol w="1148486"/>
                <a:gridCol w="1148486"/>
                <a:gridCol w="1148486"/>
              </a:tblGrid>
              <a:tr h="347472">
                <a:tc>
                  <a:txBody>
                    <a:bodyPr/>
                    <a:lstStyle/>
                    <a:p>
                      <a:pPr indent="0" marL="0">
                        <a:buNone/>
                      </a:pP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800" b="1" dirty="0">
                          <a:solidFill>
                            <a:srgbClr val="14201B"/>
                          </a:solidFill>
                          <a:latin typeface="Courier New" pitchFamily="34" charset="0"/>
                          <a:ea typeface="Courier New" pitchFamily="34" charset="-122"/>
                          <a:cs typeface="Courier New" pitchFamily="34" charset="-120"/>
                        </a:rPr>
                        <a:t>FOOTBALL</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800" b="1" dirty="0">
                          <a:solidFill>
                            <a:srgbClr val="14201B"/>
                          </a:solidFill>
                          <a:latin typeface="Courier New" pitchFamily="34" charset="0"/>
                          <a:ea typeface="Courier New" pitchFamily="34" charset="-122"/>
                          <a:cs typeface="Courier New" pitchFamily="34" charset="-120"/>
                        </a:rPr>
                        <a:t>PADEL</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800" b="1" dirty="0">
                          <a:solidFill>
                            <a:srgbClr val="14201B"/>
                          </a:solidFill>
                          <a:latin typeface="Courier New" pitchFamily="34" charset="0"/>
                          <a:ea typeface="Courier New" pitchFamily="34" charset="-122"/>
                          <a:cs typeface="Courier New" pitchFamily="34" charset="-120"/>
                        </a:rPr>
                        <a:t>GOLF</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800" b="1" dirty="0">
                          <a:solidFill>
                            <a:srgbClr val="14201B"/>
                          </a:solidFill>
                          <a:latin typeface="Courier New" pitchFamily="34" charset="0"/>
                          <a:ea typeface="Courier New" pitchFamily="34" charset="-122"/>
                          <a:cs typeface="Courier New" pitchFamily="34" charset="-120"/>
                        </a:rPr>
                        <a:t>GYM</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800" b="1" dirty="0">
                          <a:solidFill>
                            <a:srgbClr val="14201B"/>
                          </a:solidFill>
                          <a:latin typeface="Courier New" pitchFamily="34" charset="0"/>
                          <a:ea typeface="Courier New" pitchFamily="34" charset="-122"/>
                          <a:cs typeface="Courier New" pitchFamily="34" charset="-120"/>
                        </a:rPr>
                        <a:t>MOTORSPORT</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r h="457200">
                <a:tc>
                  <a:txBody>
                    <a:bodyPr/>
                    <a:lstStyle/>
                    <a:p>
                      <a:pPr indent="0" marL="0">
                        <a:buNone/>
                      </a:pPr>
                      <a:r>
                        <a:rPr lang="en-US" sz="950" b="1" dirty="0">
                          <a:solidFill>
                            <a:srgbClr val="14201B"/>
                          </a:solidFill>
                          <a:latin typeface="Arial" pitchFamily="34" charset="0"/>
                          <a:ea typeface="Arial" pitchFamily="34" charset="-122"/>
                          <a:cs typeface="Arial" pitchFamily="34" charset="-120"/>
                        </a:rPr>
                        <a:t>Regular group organising</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r>
              <a:tr h="457200">
                <a:tc>
                  <a:txBody>
                    <a:bodyPr/>
                    <a:lstStyle/>
                    <a:p>
                      <a:pPr indent="0" marL="0">
                        <a:buNone/>
                      </a:pPr>
                      <a:r>
                        <a:rPr lang="en-US" sz="950" b="1" dirty="0">
                          <a:solidFill>
                            <a:srgbClr val="14201B"/>
                          </a:solidFill>
                          <a:latin typeface="Arial" pitchFamily="34" charset="0"/>
                          <a:ea typeface="Arial" pitchFamily="34" charset="-122"/>
                          <a:cs typeface="Arial" pitchFamily="34" charset="-120"/>
                        </a:rPr>
                        <a:t>Portable identity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7A5A00"/>
                          </a:solidFill>
                          <a:latin typeface="Arial" pitchFamily="34" charset="0"/>
                          <a:ea typeface="Arial" pitchFamily="34" charset="-122"/>
                          <a:cs typeface="Arial" pitchFamily="34" charset="-120"/>
                        </a:rPr>
                        <a:t>Partly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BF0C9"/>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dirty="0">
                          <a:solidFill>
                            <a:srgbClr val="7A5A00"/>
                          </a:solidFill>
                          <a:latin typeface="Arial" pitchFamily="34" charset="0"/>
                          <a:ea typeface="Arial" pitchFamily="34" charset="-122"/>
                          <a:cs typeface="Arial" pitchFamily="34" charset="-120"/>
                        </a:rPr>
                        <a:t>Partly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BF0C9"/>
                    </a:solidFill>
                  </a:tcPr>
                </a:tc>
                <a:tc>
                  <a:txBody>
                    <a:bodyPr/>
                    <a:lstStyle/>
                    <a:p>
                      <a:pPr algn="ctr" indent="0" marL="0">
                        <a:buNone/>
                      </a:pPr>
                      <a:r>
                        <a:rPr lang="en-US" sz="950" dirty="0">
                          <a:solidFill>
                            <a:srgbClr val="7A5A00"/>
                          </a:solidFill>
                          <a:latin typeface="Arial" pitchFamily="34" charset="0"/>
                          <a:ea typeface="Arial" pitchFamily="34" charset="-122"/>
                          <a:cs typeface="Arial" pitchFamily="34" charset="-120"/>
                        </a:rPr>
                        <a:t>Partly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BF0C9"/>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r>
              <a:tr h="457200">
                <a:tc>
                  <a:txBody>
                    <a:bodyPr/>
                    <a:lstStyle/>
                    <a:p>
                      <a:pPr indent="0" marL="0">
                        <a:buNone/>
                      </a:pPr>
                      <a:r>
                        <a:rPr lang="en-US" sz="950" b="1" dirty="0">
                          <a:solidFill>
                            <a:srgbClr val="14201B"/>
                          </a:solidFill>
                          <a:latin typeface="Arial" pitchFamily="34" charset="0"/>
                          <a:ea typeface="Arial" pitchFamily="34" charset="-122"/>
                          <a:cs typeface="Arial" pitchFamily="34" charset="-120"/>
                        </a:rPr>
                        <a:t>Trust and money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Painful</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Painful</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b="1" dirty="0">
                          <a:solidFill>
                            <a:srgbClr val="146238"/>
                          </a:solidFill>
                          <a:latin typeface="Arial" pitchFamily="34" charset="0"/>
                          <a:ea typeface="Arial" pitchFamily="34" charset="-122"/>
                          <a:cs typeface="Arial" pitchFamily="34" charset="-120"/>
                        </a:rPr>
                        <a:t>Painful</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Low stakes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Low stakes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r h="457200">
                <a:tc>
                  <a:txBody>
                    <a:bodyPr/>
                    <a:lstStyle/>
                    <a:p>
                      <a:pPr indent="0" marL="0">
                        <a:buNone/>
                      </a:pPr>
                      <a:r>
                        <a:rPr lang="en-US" sz="950" b="1" dirty="0">
                          <a:solidFill>
                            <a:srgbClr val="14201B"/>
                          </a:solidFill>
                          <a:latin typeface="Arial" pitchFamily="34" charset="0"/>
                          <a:ea typeface="Arial" pitchFamily="34" charset="-122"/>
                          <a:cs typeface="Arial" pitchFamily="34" charset="-120"/>
                        </a:rPr>
                        <a:t>Scores and fantasy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FPL, Sofascore</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Saturated</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18Birdies, Arccos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Hevy, Strava</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Saturated</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r h="457200">
                <a:tc>
                  <a:txBody>
                    <a:bodyPr/>
                    <a:lstStyle/>
                    <a:p>
                      <a:pPr indent="0" marL="0">
                        <a:buNone/>
                      </a:pPr>
                      <a:r>
                        <a:rPr lang="en-US" sz="950" b="1" dirty="0">
                          <a:solidFill>
                            <a:srgbClr val="14201B"/>
                          </a:solidFill>
                          <a:latin typeface="Arial" pitchFamily="34" charset="0"/>
                          <a:ea typeface="Arial" pitchFamily="34" charset="-122"/>
                          <a:cs typeface="Arial" pitchFamily="34" charset="-120"/>
                        </a:rPr>
                        <a:t>Booking</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Playfinder</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Playtomic</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GolfNow</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Not needed</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ctr" indent="0" marL="0">
                        <a:buNone/>
                      </a:pPr>
                      <a:r>
                        <a:rPr lang="en-US" sz="950" dirty="0">
                          <a:solidFill>
                            <a:srgbClr val="6E7A73"/>
                          </a:solidFill>
                          <a:latin typeface="Arial" pitchFamily="34" charset="0"/>
                          <a:ea typeface="Arial" pitchFamily="34" charset="-122"/>
                          <a:cs typeface="Arial" pitchFamily="34" charset="-120"/>
                        </a:rPr>
                        <a:t>Not needed</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bl>
          </a:graphicData>
        </a:graphic>
      </p:graphicFrame>
      <p:sp>
        <p:nvSpPr>
          <p:cNvPr id="8" name="Shape 5"/>
          <p:cNvSpPr/>
          <p:nvPr/>
        </p:nvSpPr>
        <p:spPr>
          <a:xfrm>
            <a:off x="4160520" y="5020056"/>
            <a:ext cx="201168" cy="201168"/>
          </a:xfrm>
          <a:prstGeom prst="roundRect">
            <a:avLst>
              <a:gd name="adj" fmla="val 13636"/>
            </a:avLst>
          </a:prstGeom>
          <a:solidFill>
            <a:srgbClr val="DDEFE3"/>
          </a:solidFill>
          <a:ln w="9525">
            <a:solidFill>
              <a:srgbClr val="D5DAD2"/>
            </a:solidFill>
            <a:prstDash val="solid"/>
          </a:ln>
        </p:spPr>
      </p:sp>
      <p:sp>
        <p:nvSpPr>
          <p:cNvPr id="9" name="Text 6"/>
          <p:cNvSpPr txBox="1"/>
          <p:nvPr/>
        </p:nvSpPr>
        <p:spPr>
          <a:xfrm>
            <a:off x="4434840" y="4983480"/>
            <a:ext cx="2286000" cy="274320"/>
          </a:xfrm>
          <a:prstGeom prst="rect">
            <a:avLst/>
          </a:prstGeom>
          <a:noFill/>
          <a:ln/>
        </p:spPr>
        <p:txBody>
          <a:bodyPr wrap="square" lIns="0" tIns="0" rIns="0" bIns="0" rtlCol="0" anchor="ctr"/>
          <a:lstStyle/>
          <a:p>
            <a:pPr algn="l" indent="0" marL="0">
              <a:buNone/>
            </a:pPr>
            <a:r>
              <a:rPr lang="en-US" sz="900" dirty="0">
                <a:solidFill>
                  <a:srgbClr val="3E4A44"/>
                </a:solidFill>
                <a:latin typeface="Arial" pitchFamily="34" charset="0"/>
                <a:ea typeface="Arial" pitchFamily="34" charset="-122"/>
                <a:cs typeface="Arial" pitchFamily="34" charset="-120"/>
              </a:rPr>
              <a:t>Open and painful: no crew-first product</a:t>
            </a:r>
            <a:endParaRPr lang="en-US" sz="900" dirty="0"/>
          </a:p>
        </p:txBody>
      </p:sp>
      <p:sp>
        <p:nvSpPr>
          <p:cNvPr id="10" name="Shape 7"/>
          <p:cNvSpPr/>
          <p:nvPr/>
        </p:nvSpPr>
        <p:spPr>
          <a:xfrm>
            <a:off x="6675120" y="5020056"/>
            <a:ext cx="201168" cy="201168"/>
          </a:xfrm>
          <a:prstGeom prst="roundRect">
            <a:avLst>
              <a:gd name="adj" fmla="val 13636"/>
            </a:avLst>
          </a:prstGeom>
          <a:solidFill>
            <a:srgbClr val="FBF0C9"/>
          </a:solidFill>
          <a:ln w="9525">
            <a:solidFill>
              <a:srgbClr val="D5DAD2"/>
            </a:solidFill>
            <a:prstDash val="solid"/>
          </a:ln>
        </p:spPr>
      </p:sp>
      <p:sp>
        <p:nvSpPr>
          <p:cNvPr id="11" name="Text 8"/>
          <p:cNvSpPr txBox="1"/>
          <p:nvPr/>
        </p:nvSpPr>
        <p:spPr>
          <a:xfrm>
            <a:off x="6949440" y="4983480"/>
            <a:ext cx="2286000" cy="274320"/>
          </a:xfrm>
          <a:prstGeom prst="rect">
            <a:avLst/>
          </a:prstGeom>
          <a:noFill/>
          <a:ln/>
        </p:spPr>
        <p:txBody>
          <a:bodyPr wrap="square" lIns="0" tIns="0" rIns="0" bIns="0" rtlCol="0" anchor="ctr"/>
          <a:lstStyle/>
          <a:p>
            <a:pPr algn="l" indent="0" marL="0">
              <a:buNone/>
            </a:pPr>
            <a:r>
              <a:rPr lang="en-US" sz="900" dirty="0">
                <a:solidFill>
                  <a:srgbClr val="3E4A44"/>
                </a:solidFill>
                <a:latin typeface="Arial" pitchFamily="34" charset="0"/>
                <a:ea typeface="Arial" pitchFamily="34" charset="-122"/>
                <a:cs typeface="Arial" pitchFamily="34" charset="-120"/>
              </a:rPr>
              <a:t>Partly open: single-sport or logger only</a:t>
            </a:r>
            <a:endParaRPr lang="en-US" sz="900" dirty="0"/>
          </a:p>
        </p:txBody>
      </p:sp>
      <p:sp>
        <p:nvSpPr>
          <p:cNvPr id="12" name="Shape 9"/>
          <p:cNvSpPr/>
          <p:nvPr/>
        </p:nvSpPr>
        <p:spPr>
          <a:xfrm>
            <a:off x="9189720" y="5020056"/>
            <a:ext cx="201168" cy="201168"/>
          </a:xfrm>
          <a:prstGeom prst="roundRect">
            <a:avLst>
              <a:gd name="adj" fmla="val 13636"/>
            </a:avLst>
          </a:prstGeom>
          <a:solidFill>
            <a:srgbClr val="EBEEE6"/>
          </a:solidFill>
          <a:ln w="9525">
            <a:solidFill>
              <a:srgbClr val="D5DAD2"/>
            </a:solidFill>
            <a:prstDash val="solid"/>
          </a:ln>
        </p:spPr>
      </p:sp>
      <p:sp>
        <p:nvSpPr>
          <p:cNvPr id="13" name="Text 10"/>
          <p:cNvSpPr txBox="1"/>
          <p:nvPr/>
        </p:nvSpPr>
        <p:spPr>
          <a:xfrm>
            <a:off x="9464040" y="4983480"/>
            <a:ext cx="2286000" cy="274320"/>
          </a:xfrm>
          <a:prstGeom prst="rect">
            <a:avLst/>
          </a:prstGeom>
          <a:noFill/>
          <a:ln/>
        </p:spPr>
        <p:txBody>
          <a:bodyPr wrap="square" lIns="0" tIns="0" rIns="0" bIns="0" rtlCol="0" anchor="ctr"/>
          <a:lstStyle/>
          <a:p>
            <a:pPr algn="l" indent="0" marL="0">
              <a:buNone/>
            </a:pPr>
            <a:r>
              <a:rPr lang="en-US" sz="900" dirty="0">
                <a:solidFill>
                  <a:srgbClr val="3E4A44"/>
                </a:solidFill>
                <a:latin typeface="Arial" pitchFamily="34" charset="0"/>
                <a:ea typeface="Arial" pitchFamily="34" charset="-122"/>
                <a:cs typeface="Arial" pitchFamily="34" charset="-120"/>
              </a:rPr>
              <a:t>Closed or saturated: we do not compete here</a:t>
            </a:r>
            <a:endParaRPr lang="en-US" sz="900" dirty="0"/>
          </a:p>
        </p:txBody>
      </p:sp>
      <p:sp>
        <p:nvSpPr>
          <p:cNvPr id="14" name="Text 11"/>
          <p:cNvSpPr txBox="1"/>
          <p:nvPr/>
        </p:nvSpPr>
        <p:spPr>
          <a:xfrm>
            <a:off x="4160520" y="5349240"/>
            <a:ext cx="7479792" cy="320040"/>
          </a:xfrm>
          <a:prstGeom prst="rect">
            <a:avLst/>
          </a:prstGeom>
          <a:noFill/>
          <a:ln/>
        </p:spPr>
        <p:txBody>
          <a:bodyPr wrap="square" lIns="0" tIns="0" rIns="0" bIns="0" rtlCol="0" anchor="t"/>
          <a:lstStyle/>
          <a:p>
            <a:pPr algn="l" indent="0" marL="0">
              <a:buNone/>
            </a:pPr>
            <a:r>
              <a:rPr lang="en-US" sz="900" i="1" dirty="0">
                <a:solidFill>
                  <a:srgbClr val="6E7A73"/>
                </a:solidFill>
                <a:latin typeface="Arial" pitchFamily="34" charset="0"/>
                <a:ea typeface="Arial" pitchFamily="34" charset="-122"/>
                <a:cs typeface="Arial" pitchFamily="34" charset="-120"/>
              </a:rPr>
              <a:t>Assessment is ours from competitor review, September 2026. Green cells are where the loop on the next slide lives.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PRODUCT · THE LOOP</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PIN IT, TAP IN, TURN UP, RATE IT: THE WHOLE PRODUCT IS ONE LOOP.</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05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Text 4"/>
          <p:cNvSpPr txBox="1"/>
          <p:nvPr/>
        </p:nvSpPr>
        <p:spPr>
          <a:xfrm>
            <a:off x="548640" y="2194560"/>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1</a:t>
            </a:r>
            <a:endParaRPr lang="en-US" sz="1600" dirty="0"/>
          </a:p>
        </p:txBody>
      </p:sp>
      <p:sp>
        <p:nvSpPr>
          <p:cNvPr id="7" name="Text 5"/>
          <p:cNvSpPr txBox="1"/>
          <p:nvPr/>
        </p:nvSpPr>
        <p:spPr>
          <a:xfrm>
            <a:off x="1097280" y="2194560"/>
            <a:ext cx="530352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Pin it</a:t>
            </a:r>
            <a:endParaRPr lang="en-US" sz="1800" dirty="0"/>
          </a:p>
        </p:txBody>
      </p:sp>
      <p:sp>
        <p:nvSpPr>
          <p:cNvPr id="8" name="Text 6"/>
          <p:cNvSpPr txBox="1"/>
          <p:nvPr/>
        </p:nvSpPr>
        <p:spPr>
          <a:xfrm>
            <a:off x="1097280" y="2487168"/>
            <a:ext cx="530352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Organiser pins venue, time, cost, spots and a commit-by deadline in under a minute.</a:t>
            </a:r>
            <a:endParaRPr lang="en-US" sz="1200" dirty="0"/>
          </a:p>
        </p:txBody>
      </p:sp>
      <p:sp>
        <p:nvSpPr>
          <p:cNvPr id="9" name="Text 7"/>
          <p:cNvSpPr txBox="1"/>
          <p:nvPr/>
        </p:nvSpPr>
        <p:spPr>
          <a:xfrm>
            <a:off x="548640" y="3127248"/>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2</a:t>
            </a:r>
            <a:endParaRPr lang="en-US" sz="1600" dirty="0"/>
          </a:p>
        </p:txBody>
      </p:sp>
      <p:sp>
        <p:nvSpPr>
          <p:cNvPr id="10" name="Text 8"/>
          <p:cNvSpPr txBox="1"/>
          <p:nvPr/>
        </p:nvSpPr>
        <p:spPr>
          <a:xfrm>
            <a:off x="1097280" y="3127248"/>
            <a:ext cx="530352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Tap in</a:t>
            </a:r>
            <a:endParaRPr lang="en-US" sz="1800" dirty="0"/>
          </a:p>
        </p:txBody>
      </p:sp>
      <p:sp>
        <p:nvSpPr>
          <p:cNvPr id="11" name="Text 9"/>
          <p:cNvSpPr txBox="1"/>
          <p:nvPr/>
        </p:nvSpPr>
        <p:spPr>
          <a:xfrm>
            <a:off x="1097280" y="3419856"/>
            <a:ext cx="530352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Mates tap in from a share link. No install, just a name. Full? The reserve list auto-promotes.</a:t>
            </a:r>
            <a:endParaRPr lang="en-US" sz="1200" dirty="0"/>
          </a:p>
        </p:txBody>
      </p:sp>
      <p:sp>
        <p:nvSpPr>
          <p:cNvPr id="12" name="Text 10"/>
          <p:cNvSpPr txBox="1"/>
          <p:nvPr/>
        </p:nvSpPr>
        <p:spPr>
          <a:xfrm>
            <a:off x="548640" y="4059936"/>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3</a:t>
            </a:r>
            <a:endParaRPr lang="en-US" sz="1600" dirty="0"/>
          </a:p>
        </p:txBody>
      </p:sp>
      <p:sp>
        <p:nvSpPr>
          <p:cNvPr id="13" name="Text 11"/>
          <p:cNvSpPr txBox="1"/>
          <p:nvPr/>
        </p:nvSpPr>
        <p:spPr>
          <a:xfrm>
            <a:off x="1097280" y="4059936"/>
            <a:ext cx="530352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Turn up</a:t>
            </a:r>
            <a:endParaRPr lang="en-US" sz="1800" dirty="0"/>
          </a:p>
        </p:txBody>
      </p:sp>
      <p:sp>
        <p:nvSpPr>
          <p:cNvPr id="14" name="Text 12"/>
          <p:cNvSpPr txBox="1"/>
          <p:nvPr/>
        </p:nvSpPr>
        <p:spPr>
          <a:xfrm>
            <a:off x="1097280" y="4352544"/>
            <a:ext cx="530352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Organiser confirms who played. Late drops inside the window and no-shows still owe.</a:t>
            </a:r>
            <a:endParaRPr lang="en-US" sz="1200" dirty="0"/>
          </a:p>
        </p:txBody>
      </p:sp>
      <p:sp>
        <p:nvSpPr>
          <p:cNvPr id="15" name="Text 13"/>
          <p:cNvSpPr txBox="1"/>
          <p:nvPr/>
        </p:nvSpPr>
        <p:spPr>
          <a:xfrm>
            <a:off x="548640" y="4992624"/>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4</a:t>
            </a:r>
            <a:endParaRPr lang="en-US" sz="1600" dirty="0"/>
          </a:p>
        </p:txBody>
      </p:sp>
      <p:sp>
        <p:nvSpPr>
          <p:cNvPr id="16" name="Text 14"/>
          <p:cNvSpPr txBox="1"/>
          <p:nvPr/>
        </p:nvSpPr>
        <p:spPr>
          <a:xfrm>
            <a:off x="1097280" y="4992624"/>
            <a:ext cx="530352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Rate it</a:t>
            </a:r>
            <a:endParaRPr lang="en-US" sz="1800" dirty="0"/>
          </a:p>
        </p:txBody>
      </p:sp>
      <p:sp>
        <p:nvSpPr>
          <p:cNvPr id="17" name="Text 15"/>
          <p:cNvSpPr txBox="1"/>
          <p:nvPr/>
        </p:nvSpPr>
        <p:spPr>
          <a:xfrm>
            <a:off x="1097280" y="5285232"/>
            <a:ext cx="530352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Three taps: player of the match, ran the hardest, worst miss. Wording changes per sport.</a:t>
            </a:r>
            <a:endParaRPr lang="en-US" sz="1200" dirty="0"/>
          </a:p>
        </p:txBody>
      </p:sp>
      <p:sp>
        <p:nvSpPr>
          <p:cNvPr id="18" name="Text 16"/>
          <p:cNvSpPr txBox="1"/>
          <p:nvPr/>
        </p:nvSpPr>
        <p:spPr>
          <a:xfrm>
            <a:off x="1097280" y="5943600"/>
            <a:ext cx="5486400" cy="274320"/>
          </a:xfrm>
          <a:prstGeom prst="rect">
            <a:avLst/>
          </a:prstGeom>
          <a:noFill/>
          <a:ln/>
        </p:spPr>
        <p:txBody>
          <a:bodyPr wrap="square" lIns="0" tIns="0" rIns="0" bIns="0" rtlCol="0" anchor="t"/>
          <a:lstStyle/>
          <a:p>
            <a:pPr algn="l" indent="0" marL="0">
              <a:buNone/>
            </a:pPr>
            <a:r>
              <a:rPr lang="en-US" sz="1000" i="1" dirty="0">
                <a:solidFill>
                  <a:srgbClr val="6E7A73"/>
                </a:solidFill>
                <a:latin typeface="Arial" pitchFamily="34" charset="0"/>
                <a:ea typeface="Arial" pitchFamily="34" charset="-122"/>
                <a:cs typeface="Arial" pitchFamily="34" charset="-120"/>
              </a:rPr>
              <a:t>Web-first PWA, zero install for members. The share link is the whole onboarding.</a:t>
            </a:r>
            <a:endParaRPr lang="en-US" sz="1000" dirty="0"/>
          </a:p>
        </p:txBody>
      </p:sp>
      <p:sp>
        <p:nvSpPr>
          <p:cNvPr id="19" name="Shape 17"/>
          <p:cNvSpPr/>
          <p:nvPr/>
        </p:nvSpPr>
        <p:spPr>
          <a:xfrm>
            <a:off x="6903720" y="2103120"/>
            <a:ext cx="2267712" cy="3977640"/>
          </a:xfrm>
          <a:prstGeom prst="roundRect">
            <a:avLst>
              <a:gd name="adj" fmla="val 6452"/>
            </a:avLst>
          </a:prstGeom>
          <a:solidFill>
            <a:srgbClr val="14201B"/>
          </a:solidFill>
          <a:ln/>
        </p:spPr>
      </p:sp>
      <p:pic>
        <p:nvPicPr>
          <p:cNvPr id="20" name="Image 0" descr="/tmp/claude-0/-home-user-Remoovals/9aaf5bb5-a8d7-505a-9eb5-464ae059be3c/scratchpad/build/img/crew-home-crop.png">    </p:cNvPr>
          <p:cNvPicPr>
            <a:picLocks noChangeAspect="1"/>
          </p:cNvPicPr>
          <p:nvPr/>
        </p:nvPicPr>
        <p:blipFill>
          <a:blip r:embed="rId1"/>
          <a:stretch>
            <a:fillRect/>
          </a:stretch>
        </p:blipFill>
        <p:spPr>
          <a:xfrm>
            <a:off x="6949440" y="2148840"/>
            <a:ext cx="2176272" cy="3886200"/>
          </a:xfrm>
          <a:prstGeom prst="rect">
            <a:avLst/>
          </a:prstGeom>
        </p:spPr>
      </p:pic>
      <p:sp>
        <p:nvSpPr>
          <p:cNvPr id="21" name="Shape 18"/>
          <p:cNvSpPr/>
          <p:nvPr/>
        </p:nvSpPr>
        <p:spPr>
          <a:xfrm>
            <a:off x="9491472" y="2103120"/>
            <a:ext cx="2267712" cy="3977640"/>
          </a:xfrm>
          <a:prstGeom prst="roundRect">
            <a:avLst>
              <a:gd name="adj" fmla="val 6452"/>
            </a:avLst>
          </a:prstGeom>
          <a:solidFill>
            <a:srgbClr val="14201B"/>
          </a:solidFill>
          <a:ln/>
        </p:spPr>
      </p:sp>
      <p:pic>
        <p:nvPicPr>
          <p:cNvPr id="22" name="Image 1" descr="/tmp/claude-0/-home-user-Remoovals/9aaf5bb5-a8d7-505a-9eb5-464ae059be3c/scratchpad/build/img/session-detail-crop.png">    </p:cNvPr>
          <p:cNvPicPr>
            <a:picLocks noChangeAspect="1"/>
          </p:cNvPicPr>
          <p:nvPr/>
        </p:nvPicPr>
        <p:blipFill>
          <a:blip r:embed="rId2"/>
          <a:stretch>
            <a:fillRect/>
          </a:stretch>
        </p:blipFill>
        <p:spPr>
          <a:xfrm>
            <a:off x="9537192" y="2148840"/>
            <a:ext cx="2176272" cy="3886200"/>
          </a:xfrm>
          <a:prstGeom prst="rect">
            <a:avLst/>
          </a:prstGeom>
        </p:spPr>
      </p:pic>
      <p:sp>
        <p:nvSpPr>
          <p:cNvPr id="23" name="Text 19"/>
          <p:cNvSpPr txBox="1"/>
          <p:nvPr/>
        </p:nvSpPr>
        <p:spPr>
          <a:xfrm>
            <a:off x="6949440" y="6126480"/>
            <a:ext cx="2176272"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CREW HOME</a:t>
            </a:r>
            <a:endParaRPr lang="en-US" sz="1000" dirty="0"/>
          </a:p>
        </p:txBody>
      </p:sp>
      <p:sp>
        <p:nvSpPr>
          <p:cNvPr id="24" name="Text 20"/>
          <p:cNvSpPr txBox="1"/>
          <p:nvPr/>
        </p:nvSpPr>
        <p:spPr>
          <a:xfrm>
            <a:off x="9537192" y="6126480"/>
            <a:ext cx="2176272"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SESSION, PLAYED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PRODUCT · BRAGGING RIGHTS</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BRAGGING RIGHTS KEEP THE CREW COMING BACK. THE CARD IS THE AD.</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06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Text 4"/>
          <p:cNvSpPr txBox="1"/>
          <p:nvPr/>
        </p:nvSpPr>
        <p:spPr>
          <a:xfrm>
            <a:off x="548640" y="2194560"/>
            <a:ext cx="3291840" cy="27432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THE TABLE</a:t>
            </a:r>
            <a:endParaRPr lang="en-US" sz="1700" dirty="0"/>
          </a:p>
        </p:txBody>
      </p:sp>
      <p:sp>
        <p:nvSpPr>
          <p:cNvPr id="7" name="Text 5"/>
          <p:cNvSpPr txBox="1"/>
          <p:nvPr/>
        </p:nvSpPr>
        <p:spPr>
          <a:xfrm>
            <a:off x="548640" y="2468880"/>
            <a:ext cx="3291840" cy="457200"/>
          </a:xfrm>
          <a:prstGeom prst="rect">
            <a:avLst/>
          </a:prstGeom>
          <a:noFill/>
          <a:ln/>
        </p:spPr>
        <p:txBody>
          <a:bodyPr wrap="square" lIns="0" tIns="0" rIns="0" bIns="0" rtlCol="0" anchor="t"/>
          <a:lstStyle/>
          <a:p>
            <a:pPr algn="l" indent="0" marL="0">
              <a:lnSpc>
                <a:spcPct val="110000"/>
              </a:lnSpc>
              <a:buNone/>
            </a:pPr>
            <a:r>
              <a:rPr lang="en-US" sz="1100" dirty="0">
                <a:solidFill>
                  <a:srgbClr val="3E4A44"/>
                </a:solidFill>
                <a:latin typeface="Arial" pitchFamily="34" charset="0"/>
                <a:ea typeface="Arial" pitchFamily="34" charset="-122"/>
                <a:cs typeface="Arial" pitchFamily="34" charset="-120"/>
              </a:rPr>
              <a:t>+3 turned up, +2 per MOTM vote, +1 per grafter vote, −2 late drop, −3 no-show.</a:t>
            </a:r>
            <a:endParaRPr lang="en-US" sz="1100" dirty="0"/>
          </a:p>
        </p:txBody>
      </p:sp>
      <p:sp>
        <p:nvSpPr>
          <p:cNvPr id="8" name="Text 6"/>
          <p:cNvSpPr txBox="1"/>
          <p:nvPr/>
        </p:nvSpPr>
        <p:spPr>
          <a:xfrm>
            <a:off x="548640" y="2980944"/>
            <a:ext cx="3291840" cy="27432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SICK NOTES</a:t>
            </a:r>
            <a:endParaRPr lang="en-US" sz="1700" dirty="0"/>
          </a:p>
        </p:txBody>
      </p:sp>
      <p:sp>
        <p:nvSpPr>
          <p:cNvPr id="9" name="Text 7"/>
          <p:cNvSpPr txBox="1"/>
          <p:nvPr/>
        </p:nvSpPr>
        <p:spPr>
          <a:xfrm>
            <a:off x="548640" y="3255264"/>
            <a:ext cx="3291840" cy="457200"/>
          </a:xfrm>
          <a:prstGeom prst="rect">
            <a:avLst/>
          </a:prstGeom>
          <a:noFill/>
          <a:ln/>
        </p:spPr>
        <p:txBody>
          <a:bodyPr wrap="square" lIns="0" tIns="0" rIns="0" bIns="0" rtlCol="0" anchor="t"/>
          <a:lstStyle/>
          <a:p>
            <a:pPr algn="l" indent="0" marL="0">
              <a:lnSpc>
                <a:spcPct val="110000"/>
              </a:lnSpc>
              <a:buNone/>
            </a:pPr>
            <a:r>
              <a:rPr lang="en-US" sz="1100" dirty="0">
                <a:solidFill>
                  <a:srgbClr val="3E4A44"/>
                </a:solidFill>
                <a:latin typeface="Arial" pitchFamily="34" charset="0"/>
                <a:ea typeface="Arial" pitchFamily="34" charset="-122"/>
                <a:cs typeface="Arial" pitchFamily="34" charset="-120"/>
              </a:rPr>
              <a:t>Late drops plus no-shows, on a leaderboard the crew will argue about.</a:t>
            </a:r>
            <a:endParaRPr lang="en-US" sz="1100" dirty="0"/>
          </a:p>
        </p:txBody>
      </p:sp>
      <p:sp>
        <p:nvSpPr>
          <p:cNvPr id="10" name="Text 8"/>
          <p:cNvSpPr txBox="1"/>
          <p:nvPr/>
        </p:nvSpPr>
        <p:spPr>
          <a:xfrm>
            <a:off x="548640" y="3767328"/>
            <a:ext cx="3291840" cy="27432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STREAKS AND FORM</a:t>
            </a:r>
            <a:endParaRPr lang="en-US" sz="1700" dirty="0"/>
          </a:p>
        </p:txBody>
      </p:sp>
      <p:sp>
        <p:nvSpPr>
          <p:cNvPr id="11" name="Text 9"/>
          <p:cNvSpPr txBox="1"/>
          <p:nvPr/>
        </p:nvSpPr>
        <p:spPr>
          <a:xfrm>
            <a:off x="548640" y="4041648"/>
            <a:ext cx="3291840" cy="457200"/>
          </a:xfrm>
          <a:prstGeom prst="rect">
            <a:avLst/>
          </a:prstGeom>
          <a:noFill/>
          <a:ln/>
        </p:spPr>
        <p:txBody>
          <a:bodyPr wrap="square" lIns="0" tIns="0" rIns="0" bIns="0" rtlCol="0" anchor="t"/>
          <a:lstStyle/>
          <a:p>
            <a:pPr algn="l" indent="0" marL="0">
              <a:lnSpc>
                <a:spcPct val="110000"/>
              </a:lnSpc>
              <a:buNone/>
            </a:pPr>
            <a:r>
              <a:rPr lang="en-US" sz="1100" dirty="0">
                <a:solidFill>
                  <a:srgbClr val="3E4A44"/>
                </a:solidFill>
                <a:latin typeface="Arial" pitchFamily="34" charset="0"/>
                <a:ea typeface="Arial" pitchFamily="34" charset="-122"/>
                <a:cs typeface="Arial" pitchFamily="34" charset="-120"/>
              </a:rPr>
              <a:t>Consecutive turn-ups and a 4.0 to 10.0 form score over the last five sessions.</a:t>
            </a:r>
            <a:endParaRPr lang="en-US" sz="1100" dirty="0"/>
          </a:p>
        </p:txBody>
      </p:sp>
      <p:sp>
        <p:nvSpPr>
          <p:cNvPr id="12" name="Text 10"/>
          <p:cNvSpPr txBox="1"/>
          <p:nvPr/>
        </p:nvSpPr>
        <p:spPr>
          <a:xfrm>
            <a:off x="548640" y="4553712"/>
            <a:ext cx="3291840" cy="27432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PLAYER CARDS</a:t>
            </a:r>
            <a:endParaRPr lang="en-US" sz="1700" dirty="0"/>
          </a:p>
        </p:txBody>
      </p:sp>
      <p:sp>
        <p:nvSpPr>
          <p:cNvPr id="13" name="Text 11"/>
          <p:cNvSpPr txBox="1"/>
          <p:nvPr/>
        </p:nvSpPr>
        <p:spPr>
          <a:xfrm>
            <a:off x="548640" y="4828032"/>
            <a:ext cx="3291840" cy="457200"/>
          </a:xfrm>
          <a:prstGeom prst="rect">
            <a:avLst/>
          </a:prstGeom>
          <a:noFill/>
          <a:ln/>
        </p:spPr>
        <p:txBody>
          <a:bodyPr wrap="square" lIns="0" tIns="0" rIns="0" bIns="0" rtlCol="0" anchor="t"/>
          <a:lstStyle/>
          <a:p>
            <a:pPr algn="l" indent="0" marL="0">
              <a:lnSpc>
                <a:spcPct val="110000"/>
              </a:lnSpc>
              <a:buNone/>
            </a:pPr>
            <a:r>
              <a:rPr lang="en-US" sz="1100" dirty="0">
                <a:solidFill>
                  <a:srgbClr val="3E4A44"/>
                </a:solidFill>
                <a:latin typeface="Arial" pitchFamily="34" charset="0"/>
                <a:ea typeface="Arial" pitchFamily="34" charset="-122"/>
                <a:cs typeface="Arial" pitchFamily="34" charset="-120"/>
              </a:rPr>
              <a:t>Peer-rated 0 to 99 stats: turns up, form, votes, graft, streak, overall.</a:t>
            </a:r>
            <a:endParaRPr lang="en-US" sz="1100" dirty="0"/>
          </a:p>
        </p:txBody>
      </p:sp>
      <p:sp>
        <p:nvSpPr>
          <p:cNvPr id="14" name="Text 12"/>
          <p:cNvSpPr txBox="1"/>
          <p:nvPr/>
        </p:nvSpPr>
        <p:spPr>
          <a:xfrm>
            <a:off x="548640" y="5340096"/>
            <a:ext cx="3291840" cy="27432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SHARE CARDS</a:t>
            </a:r>
            <a:endParaRPr lang="en-US" sz="1700" dirty="0"/>
          </a:p>
        </p:txBody>
      </p:sp>
      <p:sp>
        <p:nvSpPr>
          <p:cNvPr id="15" name="Text 13"/>
          <p:cNvSpPr txBox="1"/>
          <p:nvPr/>
        </p:nvSpPr>
        <p:spPr>
          <a:xfrm>
            <a:off x="548640" y="5614416"/>
            <a:ext cx="3291840" cy="457200"/>
          </a:xfrm>
          <a:prstGeom prst="rect">
            <a:avLst/>
          </a:prstGeom>
          <a:noFill/>
          <a:ln/>
        </p:spPr>
        <p:txBody>
          <a:bodyPr wrap="square" lIns="0" tIns="0" rIns="0" bIns="0" rtlCol="0" anchor="t"/>
          <a:lstStyle/>
          <a:p>
            <a:pPr algn="l" indent="0" marL="0">
              <a:lnSpc>
                <a:spcPct val="110000"/>
              </a:lnSpc>
              <a:buNone/>
            </a:pPr>
            <a:r>
              <a:rPr lang="en-US" sz="1100" dirty="0">
                <a:solidFill>
                  <a:srgbClr val="3E4A44"/>
                </a:solidFill>
                <a:latin typeface="Arial" pitchFamily="34" charset="0"/>
                <a:ea typeface="Arial" pitchFamily="34" charset="-122"/>
                <a:cs typeface="Arial" pitchFamily="34" charset="-120"/>
              </a:rPr>
              <a:t>Every session and player renders as a 1200 by 630 preview inside WhatsApp.</a:t>
            </a:r>
            <a:endParaRPr lang="en-US" sz="1100" dirty="0"/>
          </a:p>
        </p:txBody>
      </p:sp>
      <p:sp>
        <p:nvSpPr>
          <p:cNvPr id="16" name="Shape 14"/>
          <p:cNvSpPr/>
          <p:nvPr/>
        </p:nvSpPr>
        <p:spPr>
          <a:xfrm>
            <a:off x="4114800" y="2103120"/>
            <a:ext cx="2267712" cy="3977640"/>
          </a:xfrm>
          <a:prstGeom prst="roundRect">
            <a:avLst>
              <a:gd name="adj" fmla="val 6452"/>
            </a:avLst>
          </a:prstGeom>
          <a:solidFill>
            <a:srgbClr val="14201B"/>
          </a:solidFill>
          <a:ln/>
        </p:spPr>
      </p:sp>
      <p:pic>
        <p:nvPicPr>
          <p:cNvPr id="17" name="Image 0" descr="/tmp/claude-0/-home-user-Remoovals/9aaf5bb5-a8d7-505a-9eb5-464ae059be3c/scratchpad/build/img/table-crop.png">    </p:cNvPr>
          <p:cNvPicPr>
            <a:picLocks noChangeAspect="1"/>
          </p:cNvPicPr>
          <p:nvPr/>
        </p:nvPicPr>
        <p:blipFill>
          <a:blip r:embed="rId1"/>
          <a:stretch>
            <a:fillRect/>
          </a:stretch>
        </p:blipFill>
        <p:spPr>
          <a:xfrm>
            <a:off x="4160520" y="2148840"/>
            <a:ext cx="2176272" cy="3886200"/>
          </a:xfrm>
          <a:prstGeom prst="rect">
            <a:avLst/>
          </a:prstGeom>
        </p:spPr>
      </p:pic>
      <p:sp>
        <p:nvSpPr>
          <p:cNvPr id="18" name="Shape 15"/>
          <p:cNvSpPr/>
          <p:nvPr/>
        </p:nvSpPr>
        <p:spPr>
          <a:xfrm>
            <a:off x="6611112" y="2103120"/>
            <a:ext cx="2267712" cy="3977640"/>
          </a:xfrm>
          <a:prstGeom prst="roundRect">
            <a:avLst>
              <a:gd name="adj" fmla="val 6452"/>
            </a:avLst>
          </a:prstGeom>
          <a:solidFill>
            <a:srgbClr val="14201B"/>
          </a:solidFill>
          <a:ln/>
        </p:spPr>
      </p:sp>
      <p:pic>
        <p:nvPicPr>
          <p:cNvPr id="19" name="Image 1" descr="/tmp/claude-0/-home-user-Remoovals/9aaf5bb5-a8d7-505a-9eb5-464ae059be3c/scratchpad/build/img/player-crop.png">    </p:cNvPr>
          <p:cNvPicPr>
            <a:picLocks noChangeAspect="1"/>
          </p:cNvPicPr>
          <p:nvPr/>
        </p:nvPicPr>
        <p:blipFill>
          <a:blip r:embed="rId2"/>
          <a:stretch>
            <a:fillRect/>
          </a:stretch>
        </p:blipFill>
        <p:spPr>
          <a:xfrm>
            <a:off x="6656832" y="2148840"/>
            <a:ext cx="2176272" cy="3886200"/>
          </a:xfrm>
          <a:prstGeom prst="rect">
            <a:avLst/>
          </a:prstGeom>
        </p:spPr>
      </p:pic>
      <p:sp>
        <p:nvSpPr>
          <p:cNvPr id="20" name="Text 16"/>
          <p:cNvSpPr txBox="1"/>
          <p:nvPr/>
        </p:nvSpPr>
        <p:spPr>
          <a:xfrm>
            <a:off x="4160520" y="6126480"/>
            <a:ext cx="2176272"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SEASON TABLE</a:t>
            </a:r>
            <a:endParaRPr lang="en-US" sz="1000" dirty="0"/>
          </a:p>
        </p:txBody>
      </p:sp>
      <p:sp>
        <p:nvSpPr>
          <p:cNvPr id="21" name="Text 17"/>
          <p:cNvSpPr txBox="1"/>
          <p:nvPr/>
        </p:nvSpPr>
        <p:spPr>
          <a:xfrm>
            <a:off x="6656832" y="6126480"/>
            <a:ext cx="2176272"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PLAYER CARD</a:t>
            </a:r>
            <a:endParaRPr lang="en-US" sz="1000" dirty="0"/>
          </a:p>
        </p:txBody>
      </p:sp>
      <p:sp>
        <p:nvSpPr>
          <p:cNvPr id="22" name="Shape 18"/>
          <p:cNvSpPr/>
          <p:nvPr/>
        </p:nvSpPr>
        <p:spPr>
          <a:xfrm>
            <a:off x="8961120" y="2103120"/>
            <a:ext cx="2743200" cy="1483614"/>
          </a:xfrm>
          <a:prstGeom prst="roundRect">
            <a:avLst>
              <a:gd name="adj" fmla="val 4931"/>
            </a:avLst>
          </a:prstGeom>
          <a:solidFill>
            <a:srgbClr val="FFFFFF"/>
          </a:solidFill>
          <a:ln w="9525">
            <a:solidFill>
              <a:srgbClr val="D5DAD2"/>
            </a:solidFill>
            <a:prstDash val="solid"/>
          </a:ln>
        </p:spPr>
      </p:sp>
      <p:pic>
        <p:nvPicPr>
          <p:cNvPr id="23" name="Image 2" descr="/tmp/claude-0/-home-user-Remoovals/9aaf5bb5-a8d7-505a-9eb5-464ae059be3c/scratchpad/build/img/og-player.png">    </p:cNvPr>
          <p:cNvPicPr>
            <a:picLocks noChangeAspect="1"/>
          </p:cNvPicPr>
          <p:nvPr/>
        </p:nvPicPr>
        <p:blipFill>
          <a:blip r:embed="rId3"/>
          <a:stretch>
            <a:fillRect/>
          </a:stretch>
        </p:blipFill>
        <p:spPr>
          <a:xfrm>
            <a:off x="9006840" y="2148840"/>
            <a:ext cx="2651760" cy="1392174"/>
          </a:xfrm>
          <a:prstGeom prst="rect">
            <a:avLst/>
          </a:prstGeom>
        </p:spPr>
      </p:pic>
      <p:sp>
        <p:nvSpPr>
          <p:cNvPr id="24" name="Text 19"/>
          <p:cNvSpPr txBox="1"/>
          <p:nvPr/>
        </p:nvSpPr>
        <p:spPr>
          <a:xfrm>
            <a:off x="9006840" y="3815334"/>
            <a:ext cx="2651760" cy="457200"/>
          </a:xfrm>
          <a:prstGeom prst="rect">
            <a:avLst/>
          </a:prstGeom>
          <a:noFill/>
          <a:ln/>
        </p:spPr>
        <p:txBody>
          <a:bodyPr wrap="square" lIns="0" tIns="0" rIns="0" bIns="0" rtlCol="0" anchor="ctr"/>
          <a:lstStyle/>
          <a:p>
            <a:pPr algn="l" indent="0" marL="0">
              <a:buNone/>
            </a:pPr>
            <a:r>
              <a:rPr lang="en-US" sz="2600" b="1" dirty="0">
                <a:solidFill>
                  <a:srgbClr val="146238"/>
                </a:solidFill>
                <a:latin typeface="Barlow Condensed" pitchFamily="34" charset="0"/>
                <a:ea typeface="Barlow Condensed" pitchFamily="34" charset="-122"/>
                <a:cs typeface="Barlow Condensed" pitchFamily="34" charset="-120"/>
              </a:rPr>
              <a:t>THE CARD IS THE AD.</a:t>
            </a:r>
            <a:endParaRPr lang="en-US" sz="2600" dirty="0"/>
          </a:p>
        </p:txBody>
      </p:sp>
      <p:sp>
        <p:nvSpPr>
          <p:cNvPr id="25" name="Text 20"/>
          <p:cNvSpPr txBox="1"/>
          <p:nvPr/>
        </p:nvSpPr>
        <p:spPr>
          <a:xfrm>
            <a:off x="9006840" y="4318254"/>
            <a:ext cx="2651760" cy="1371600"/>
          </a:xfrm>
          <a:prstGeom prst="rect">
            <a:avLst/>
          </a:prstGeom>
          <a:noFill/>
          <a:ln/>
        </p:spPr>
        <p:txBody>
          <a:bodyPr wrap="square" lIns="0" tIns="0" rIns="0" bIns="0" rtlCol="0" anchor="t"/>
          <a:lstStyle/>
          <a:p>
            <a:pPr algn="l" indent="0" marL="0">
              <a:lnSpc>
                <a:spcPct val="115000"/>
              </a:lnSpc>
              <a:buNone/>
            </a:pPr>
            <a:r>
              <a:rPr lang="en-US" sz="1100" dirty="0">
                <a:solidFill>
                  <a:srgbClr val="3E4A44"/>
                </a:solidFill>
                <a:latin typeface="Arial" pitchFamily="34" charset="0"/>
                <a:ea typeface="Arial" pitchFamily="34" charset="-122"/>
                <a:cs typeface="Arial" pitchFamily="34" charset="-120"/>
              </a:rPr>
              <a:t>Members share their own cards into the group chat. Each member is in other crews, and the card carries a start-your-own-crew action. That is the referral loop.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PRODUCT · MONEY</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MONEY SPLITS TO THE PENNY, AND A LATE DROP STILL OWES ITS SHARE.</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07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Text 4"/>
          <p:cNvSpPr txBox="1"/>
          <p:nvPr/>
        </p:nvSpPr>
        <p:spPr>
          <a:xfrm>
            <a:off x="548640" y="2194560"/>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1</a:t>
            </a:r>
            <a:endParaRPr lang="en-US" sz="1600" dirty="0"/>
          </a:p>
        </p:txBody>
      </p:sp>
      <p:sp>
        <p:nvSpPr>
          <p:cNvPr id="7" name="Text 5"/>
          <p:cNvSpPr txBox="1"/>
          <p:nvPr/>
        </p:nvSpPr>
        <p:spPr>
          <a:xfrm>
            <a:off x="1097280" y="2194560"/>
            <a:ext cx="539496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Exact splitting</a:t>
            </a:r>
            <a:endParaRPr lang="en-US" sz="1800" dirty="0"/>
          </a:p>
        </p:txBody>
      </p:sp>
      <p:sp>
        <p:nvSpPr>
          <p:cNvPr id="8" name="Text 6"/>
          <p:cNvSpPr txBox="1"/>
          <p:nvPr/>
        </p:nvSpPr>
        <p:spPr>
          <a:xfrm>
            <a:off x="1097280" y="2487168"/>
            <a:ext cx="539496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Pence only. 'Split it' divides the booking exactly, with remainder pennies going to the first payers so the total is always right.</a:t>
            </a:r>
            <a:endParaRPr lang="en-US" sz="1200" dirty="0"/>
          </a:p>
        </p:txBody>
      </p:sp>
      <p:sp>
        <p:nvSpPr>
          <p:cNvPr id="9" name="Text 7"/>
          <p:cNvSpPr txBox="1"/>
          <p:nvPr/>
        </p:nvSpPr>
        <p:spPr>
          <a:xfrm>
            <a:off x="548640" y="3154680"/>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2</a:t>
            </a:r>
            <a:endParaRPr lang="en-US" sz="1600" dirty="0"/>
          </a:p>
        </p:txBody>
      </p:sp>
      <p:sp>
        <p:nvSpPr>
          <p:cNvPr id="10" name="Text 8"/>
          <p:cNvSpPr txBox="1"/>
          <p:nvPr/>
        </p:nvSpPr>
        <p:spPr>
          <a:xfrm>
            <a:off x="1097280" y="3154680"/>
            <a:ext cx="539496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Late drops and no-shows still owe</a:t>
            </a:r>
            <a:endParaRPr lang="en-US" sz="1800" dirty="0"/>
          </a:p>
        </p:txBody>
      </p:sp>
      <p:sp>
        <p:nvSpPr>
          <p:cNvPr id="11" name="Text 9"/>
          <p:cNvSpPr txBox="1"/>
          <p:nvPr/>
        </p:nvSpPr>
        <p:spPr>
          <a:xfrm>
            <a:off x="1097280" y="3447288"/>
            <a:ext cx="539496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Who owes: everyone who played, no-shows, and late drops inside the crew's window. The organiser's biggest risk goes away.</a:t>
            </a:r>
            <a:endParaRPr lang="en-US" sz="1200" dirty="0"/>
          </a:p>
        </p:txBody>
      </p:sp>
      <p:sp>
        <p:nvSpPr>
          <p:cNvPr id="12" name="Text 10"/>
          <p:cNvSpPr txBox="1"/>
          <p:nvPr/>
        </p:nvSpPr>
        <p:spPr>
          <a:xfrm>
            <a:off x="548640" y="4114800"/>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3</a:t>
            </a:r>
            <a:endParaRPr lang="en-US" sz="1600" dirty="0"/>
          </a:p>
        </p:txBody>
      </p:sp>
      <p:sp>
        <p:nvSpPr>
          <p:cNvPr id="13" name="Text 11"/>
          <p:cNvSpPr txBox="1"/>
          <p:nvPr/>
        </p:nvSpPr>
        <p:spPr>
          <a:xfrm>
            <a:off x="1097280" y="4114800"/>
            <a:ext cx="539496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Ledger and mark-as-paid, now</a:t>
            </a:r>
            <a:endParaRPr lang="en-US" sz="1800" dirty="0"/>
          </a:p>
        </p:txBody>
      </p:sp>
      <p:sp>
        <p:nvSpPr>
          <p:cNvPr id="14" name="Text 12"/>
          <p:cNvSpPr txBox="1"/>
          <p:nvPr/>
        </p:nvSpPr>
        <p:spPr>
          <a:xfrm>
            <a:off x="1097280" y="4407408"/>
            <a:ext cx="539496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Charges minus payments, per person, visible to the whole crew. v1 moves no money and takes no fee, deliberately.</a:t>
            </a:r>
            <a:endParaRPr lang="en-US" sz="1200" dirty="0"/>
          </a:p>
        </p:txBody>
      </p:sp>
      <p:sp>
        <p:nvSpPr>
          <p:cNvPr id="15" name="Text 13"/>
          <p:cNvSpPr txBox="1"/>
          <p:nvPr/>
        </p:nvSpPr>
        <p:spPr>
          <a:xfrm>
            <a:off x="548640" y="5074920"/>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4</a:t>
            </a:r>
            <a:endParaRPr lang="en-US" sz="1600" dirty="0"/>
          </a:p>
        </p:txBody>
      </p:sp>
      <p:sp>
        <p:nvSpPr>
          <p:cNvPr id="16" name="Text 14"/>
          <p:cNvSpPr txBox="1"/>
          <p:nvPr/>
        </p:nvSpPr>
        <p:spPr>
          <a:xfrm>
            <a:off x="1097280" y="5074920"/>
            <a:ext cx="5394960" cy="292608"/>
          </a:xfrm>
          <a:prstGeom prst="rect">
            <a:avLst/>
          </a:prstGeom>
          <a:noFill/>
          <a:ln/>
        </p:spPr>
        <p:txBody>
          <a:bodyPr wrap="square" lIns="0" tIns="0" rIns="0" bIns="0" rtlCol="0" anchor="ctr"/>
          <a:lstStyle/>
          <a:p>
            <a:pPr algn="l" indent="0" marL="0">
              <a:buNone/>
            </a:pPr>
            <a:r>
              <a:rPr lang="en-US" sz="1800" b="1" dirty="0">
                <a:solidFill>
                  <a:srgbClr val="14201B"/>
                </a:solidFill>
                <a:latin typeface="Barlow Condensed" pitchFamily="34" charset="0"/>
                <a:ea typeface="Barlow Condensed" pitchFamily="34" charset="-122"/>
                <a:cs typeface="Barlow Condensed" pitchFamily="34" charset="-120"/>
              </a:rPr>
              <a:t>Stripe Connect pass-through, next</a:t>
            </a:r>
            <a:endParaRPr lang="en-US" sz="1800" dirty="0"/>
          </a:p>
        </p:txBody>
      </p:sp>
      <p:sp>
        <p:nvSpPr>
          <p:cNvPr id="17" name="Text 15"/>
          <p:cNvSpPr txBox="1"/>
          <p:nvPr/>
        </p:nvSpPr>
        <p:spPr>
          <a:xfrm>
            <a:off x="1097280" y="5367528"/>
            <a:ext cx="5394960" cy="457200"/>
          </a:xfrm>
          <a:prstGeom prst="rect">
            <a:avLst/>
          </a:prstGeom>
          <a:noFill/>
          <a:ln/>
        </p:spPr>
        <p:txBody>
          <a:bodyPr wrap="square" lIns="0" tIns="0" rIns="0" bIns="0" rtlCol="0" anchor="t"/>
          <a:lstStyle/>
          <a:p>
            <a:pPr algn="l" indent="0" marL="0">
              <a:lnSpc>
                <a:spcPct val="110000"/>
              </a:lnSpc>
              <a:buNone/>
            </a:pPr>
            <a:r>
              <a:rPr lang="en-US" sz="1200" dirty="0">
                <a:solidFill>
                  <a:srgbClr val="3E4A44"/>
                </a:solidFill>
                <a:latin typeface="Arial" pitchFamily="34" charset="0"/>
                <a:ea typeface="Arial" pitchFamily="34" charset="-122"/>
                <a:cs typeface="Arial" pitchFamily="34" charset="-120"/>
              </a:rPr>
              <a:t>Members pay through Stripe straight to the organiser. Our fee is shown up front. We never hold funds, so no FCA authorisation is needed.</a:t>
            </a:r>
            <a:endParaRPr lang="en-US" sz="1200" dirty="0"/>
          </a:p>
        </p:txBody>
      </p:sp>
      <p:sp>
        <p:nvSpPr>
          <p:cNvPr id="18" name="Shape 16"/>
          <p:cNvSpPr/>
          <p:nvPr/>
        </p:nvSpPr>
        <p:spPr>
          <a:xfrm>
            <a:off x="6903720" y="2103120"/>
            <a:ext cx="2267712" cy="3977640"/>
          </a:xfrm>
          <a:prstGeom prst="roundRect">
            <a:avLst>
              <a:gd name="adj" fmla="val 6452"/>
            </a:avLst>
          </a:prstGeom>
          <a:solidFill>
            <a:srgbClr val="14201B"/>
          </a:solidFill>
          <a:ln/>
        </p:spPr>
      </p:sp>
      <p:pic>
        <p:nvPicPr>
          <p:cNvPr id="19" name="Image 0" descr="/tmp/claude-0/-home-user-Remoovals/9aaf5bb5-a8d7-505a-9eb5-464ae059be3c/scratchpad/build/img/money-crop.png">    </p:cNvPr>
          <p:cNvPicPr>
            <a:picLocks noChangeAspect="1"/>
          </p:cNvPicPr>
          <p:nvPr/>
        </p:nvPicPr>
        <p:blipFill>
          <a:blip r:embed="rId1"/>
          <a:stretch>
            <a:fillRect/>
          </a:stretch>
        </p:blipFill>
        <p:spPr>
          <a:xfrm>
            <a:off x="6949440" y="2148840"/>
            <a:ext cx="2176272" cy="3886200"/>
          </a:xfrm>
          <a:prstGeom prst="rect">
            <a:avLst/>
          </a:prstGeom>
        </p:spPr>
      </p:pic>
      <p:sp>
        <p:nvSpPr>
          <p:cNvPr id="20" name="Text 17"/>
          <p:cNvSpPr txBox="1"/>
          <p:nvPr/>
        </p:nvSpPr>
        <p:spPr>
          <a:xfrm>
            <a:off x="6949440" y="6126480"/>
            <a:ext cx="2176272"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LEDGER</a:t>
            </a:r>
            <a:endParaRPr lang="en-US" sz="1000" dirty="0"/>
          </a:p>
        </p:txBody>
      </p:sp>
      <p:sp>
        <p:nvSpPr>
          <p:cNvPr id="21" name="Shape 18"/>
          <p:cNvSpPr/>
          <p:nvPr/>
        </p:nvSpPr>
        <p:spPr>
          <a:xfrm>
            <a:off x="9537192" y="2148840"/>
            <a:ext cx="2105863" cy="1417320"/>
          </a:xfrm>
          <a:prstGeom prst="roundRect">
            <a:avLst>
              <a:gd name="adj" fmla="val 5161"/>
            </a:avLst>
          </a:prstGeom>
          <a:solidFill>
            <a:srgbClr val="DDEFE3"/>
          </a:solidFill>
          <a:ln w="9525">
            <a:solidFill>
              <a:srgbClr val="DDEFE3"/>
            </a:solidFill>
            <a:prstDash val="solid"/>
          </a:ln>
        </p:spPr>
      </p:sp>
      <p:sp>
        <p:nvSpPr>
          <p:cNvPr id="22" name="Text 19"/>
          <p:cNvSpPr txBox="1"/>
          <p:nvPr/>
        </p:nvSpPr>
        <p:spPr>
          <a:xfrm>
            <a:off x="9720072" y="2286000"/>
            <a:ext cx="137160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V1 · NOW</a:t>
            </a:r>
            <a:endParaRPr lang="en-US" sz="1000" dirty="0"/>
          </a:p>
        </p:txBody>
      </p:sp>
      <p:sp>
        <p:nvSpPr>
          <p:cNvPr id="23" name="Text 20"/>
          <p:cNvSpPr txBox="1"/>
          <p:nvPr/>
        </p:nvSpPr>
        <p:spPr>
          <a:xfrm>
            <a:off x="9720072" y="2606040"/>
            <a:ext cx="1740103" cy="914400"/>
          </a:xfrm>
          <a:prstGeom prst="rect">
            <a:avLst/>
          </a:prstGeom>
          <a:noFill/>
          <a:ln/>
        </p:spPr>
        <p:txBody>
          <a:bodyPr wrap="square" lIns="0" tIns="0" rIns="0" bIns="0" rtlCol="0" anchor="t"/>
          <a:lstStyle/>
          <a:p>
            <a:pPr algn="l" indent="0" marL="0">
              <a:lnSpc>
                <a:spcPct val="100000"/>
              </a:lnSpc>
              <a:buNone/>
            </a:pPr>
            <a:r>
              <a:rPr lang="en-US" sz="1700" b="1" dirty="0">
                <a:solidFill>
                  <a:srgbClr val="146238"/>
                </a:solidFill>
                <a:latin typeface="Barlow Condensed" pitchFamily="34" charset="0"/>
                <a:ea typeface="Barlow Condensed" pitchFamily="34" charset="-122"/>
                <a:cs typeface="Barlow Condensed" pitchFamily="34" charset="-120"/>
              </a:rPr>
              <a:t>No fee.</a:t>
            </a:r>
            <a:endParaRPr lang="en-US" sz="1700" dirty="0"/>
          </a:p>
          <a:p>
            <a:pPr algn="l" indent="0" marL="0">
              <a:lnSpc>
                <a:spcPct val="100000"/>
              </a:lnSpc>
              <a:buNone/>
            </a:pPr>
            <a:r>
              <a:rPr lang="en-US" sz="1700" b="1" dirty="0">
                <a:solidFill>
                  <a:srgbClr val="146238"/>
                </a:solidFill>
                <a:latin typeface="Barlow Condensed" pitchFamily="34" charset="0"/>
                <a:ea typeface="Barlow Condensed" pitchFamily="34" charset="-122"/>
                <a:cs typeface="Barlow Condensed" pitchFamily="34" charset="-120"/>
              </a:rPr>
              <a:t>No funds held.</a:t>
            </a:r>
            <a:endParaRPr lang="en-US" sz="1700" dirty="0"/>
          </a:p>
          <a:p>
            <a:pPr algn="l" indent="0" marL="0">
              <a:lnSpc>
                <a:spcPct val="100000"/>
              </a:lnSpc>
              <a:buNone/>
            </a:pPr>
            <a:r>
              <a:rPr lang="en-US" sz="1700" b="1" dirty="0">
                <a:solidFill>
                  <a:srgbClr val="146238"/>
                </a:solidFill>
                <a:latin typeface="Barlow Condensed" pitchFamily="34" charset="0"/>
                <a:ea typeface="Barlow Condensed" pitchFamily="34" charset="-122"/>
                <a:cs typeface="Barlow Condensed" pitchFamily="34" charset="-120"/>
              </a:rPr>
              <a:t>Manual settle.</a:t>
            </a:r>
            <a:endParaRPr lang="en-US" sz="1700" dirty="0"/>
          </a:p>
        </p:txBody>
      </p:sp>
      <p:sp>
        <p:nvSpPr>
          <p:cNvPr id="24" name="Shape 21"/>
          <p:cNvSpPr/>
          <p:nvPr/>
        </p:nvSpPr>
        <p:spPr>
          <a:xfrm>
            <a:off x="9537192" y="3749040"/>
            <a:ext cx="2105863" cy="1417320"/>
          </a:xfrm>
          <a:prstGeom prst="roundRect">
            <a:avLst>
              <a:gd name="adj" fmla="val 5161"/>
            </a:avLst>
          </a:prstGeom>
          <a:solidFill>
            <a:srgbClr val="FFFFFF"/>
          </a:solidFill>
          <a:ln w="9525">
            <a:solidFill>
              <a:srgbClr val="D5DAD2"/>
            </a:solidFill>
            <a:prstDash val="solid"/>
          </a:ln>
        </p:spPr>
      </p:sp>
      <p:sp>
        <p:nvSpPr>
          <p:cNvPr id="25" name="Text 22"/>
          <p:cNvSpPr txBox="1"/>
          <p:nvPr/>
        </p:nvSpPr>
        <p:spPr>
          <a:xfrm>
            <a:off x="9720072" y="3886200"/>
            <a:ext cx="137160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V1.1 · NEXT</a:t>
            </a:r>
            <a:endParaRPr lang="en-US" sz="1000" dirty="0"/>
          </a:p>
        </p:txBody>
      </p:sp>
      <p:sp>
        <p:nvSpPr>
          <p:cNvPr id="26" name="Text 23"/>
          <p:cNvSpPr txBox="1"/>
          <p:nvPr/>
        </p:nvSpPr>
        <p:spPr>
          <a:xfrm>
            <a:off x="9720072" y="4206240"/>
            <a:ext cx="1740103" cy="914400"/>
          </a:xfrm>
          <a:prstGeom prst="rect">
            <a:avLst/>
          </a:prstGeom>
          <a:noFill/>
          <a:ln/>
        </p:spPr>
        <p:txBody>
          <a:bodyPr wrap="square" lIns="0" tIns="0" rIns="0" bIns="0" rtlCol="0" anchor="t"/>
          <a:lstStyle/>
          <a:p>
            <a:pPr algn="l" indent="0" marL="0">
              <a:lnSpc>
                <a:spcPct val="100000"/>
              </a:lnSpc>
              <a:buNone/>
            </a:pPr>
            <a:r>
              <a:rPr lang="en-US" sz="1700" b="1" dirty="0">
                <a:solidFill>
                  <a:srgbClr val="14201B"/>
                </a:solidFill>
                <a:latin typeface="Barlow Condensed" pitchFamily="34" charset="0"/>
                <a:ea typeface="Barlow Condensed" pitchFamily="34" charset="-122"/>
                <a:cs typeface="Barlow Condensed" pitchFamily="34" charset="-120"/>
              </a:rPr>
              <a:t>Stripe Connect.</a:t>
            </a:r>
            <a:endParaRPr lang="en-US" sz="1700" dirty="0"/>
          </a:p>
          <a:p>
            <a:pPr algn="l" indent="0" marL="0">
              <a:lnSpc>
                <a:spcPct val="100000"/>
              </a:lnSpc>
              <a:buNone/>
            </a:pPr>
            <a:r>
              <a:rPr lang="en-US" sz="1700" b="1" dirty="0">
                <a:solidFill>
                  <a:srgbClr val="14201B"/>
                </a:solidFill>
                <a:latin typeface="Barlow Condensed" pitchFamily="34" charset="0"/>
                <a:ea typeface="Barlow Condensed" pitchFamily="34" charset="-122"/>
                <a:cs typeface="Barlow Condensed" pitchFamily="34" charset="-120"/>
              </a:rPr>
              <a:t>Fee on the card.</a:t>
            </a:r>
            <a:endParaRPr lang="en-US" sz="1700" dirty="0"/>
          </a:p>
          <a:p>
            <a:pPr algn="l" indent="0" marL="0">
              <a:lnSpc>
                <a:spcPct val="100000"/>
              </a:lnSpc>
              <a:buNone/>
            </a:pPr>
            <a:r>
              <a:rPr lang="en-US" sz="1700" b="1" dirty="0">
                <a:solidFill>
                  <a:srgbClr val="14201B"/>
                </a:solidFill>
                <a:latin typeface="Barlow Condensed" pitchFamily="34" charset="0"/>
                <a:ea typeface="Barlow Condensed" pitchFamily="34" charset="-122"/>
                <a:cs typeface="Barlow Condensed" pitchFamily="34" charset="-120"/>
              </a:rPr>
              <a:t>No funds held.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1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BUILT, NOT SLIDES</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F5F6F2"/>
                </a:solidFill>
                <a:latin typeface="Barlow Condensed" pitchFamily="34" charset="0"/>
                <a:ea typeface="Barlow Condensed" pitchFamily="34" charset="-122"/>
                <a:cs typeface="Barlow Condensed" pitchFamily="34" charset="-120"/>
              </a:rPr>
              <a:t>V1 IS LIVE CODE, DEPLOYABLE TODAY.</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8A968E"/>
                </a:solidFill>
                <a:latin typeface="Courier New" pitchFamily="34" charset="0"/>
                <a:ea typeface="Courier New" pitchFamily="34" charset="-122"/>
                <a:cs typeface="Courier New" pitchFamily="34" charset="-120"/>
              </a:rPr>
              <a:t>08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8A968E"/>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48840"/>
            <a:ext cx="1371600" cy="1737360"/>
          </a:xfrm>
          <a:prstGeom prst="roundRect">
            <a:avLst>
              <a:gd name="adj" fmla="val 5333"/>
            </a:avLst>
          </a:prstGeom>
          <a:solidFill>
            <a:srgbClr val="1C2823"/>
          </a:solidFill>
          <a:ln w="9525">
            <a:solidFill>
              <a:srgbClr val="2A352E"/>
            </a:solidFill>
            <a:prstDash val="solid"/>
          </a:ln>
        </p:spPr>
      </p:sp>
      <p:sp>
        <p:nvSpPr>
          <p:cNvPr id="7" name="Text 5"/>
          <p:cNvSpPr txBox="1"/>
          <p:nvPr/>
        </p:nvSpPr>
        <p:spPr>
          <a:xfrm>
            <a:off x="685800" y="2286000"/>
            <a:ext cx="1097280" cy="731520"/>
          </a:xfrm>
          <a:prstGeom prst="rect">
            <a:avLst/>
          </a:prstGeom>
          <a:noFill/>
          <a:ln/>
        </p:spPr>
        <p:txBody>
          <a:bodyPr wrap="square" lIns="0" tIns="0" rIns="0" bIns="0" rtlCol="0" anchor="ctr"/>
          <a:lstStyle/>
          <a:p>
            <a:pPr algn="l" indent="0" marL="0">
              <a:buNone/>
            </a:pPr>
            <a:r>
              <a:rPr lang="en-US" sz="3400" b="1" dirty="0">
                <a:solidFill>
                  <a:srgbClr val="F5F6F2"/>
                </a:solidFill>
                <a:latin typeface="Barlow Condensed" pitchFamily="34" charset="0"/>
                <a:ea typeface="Barlow Condensed" pitchFamily="34" charset="-122"/>
                <a:cs typeface="Barlow Condensed" pitchFamily="34" charset="-120"/>
              </a:rPr>
              <a:t>18 + 2</a:t>
            </a:r>
            <a:endParaRPr lang="en-US" sz="3400" dirty="0"/>
          </a:p>
        </p:txBody>
      </p:sp>
      <p:sp>
        <p:nvSpPr>
          <p:cNvPr id="8" name="Text 6"/>
          <p:cNvSpPr txBox="1"/>
          <p:nvPr/>
        </p:nvSpPr>
        <p:spPr>
          <a:xfrm>
            <a:off x="685800" y="3063240"/>
            <a:ext cx="1097280" cy="731520"/>
          </a:xfrm>
          <a:prstGeom prst="rect">
            <a:avLst/>
          </a:prstGeom>
          <a:noFill/>
          <a:ln/>
        </p:spPr>
        <p:txBody>
          <a:bodyPr wrap="square" lIns="0" tIns="0" rIns="0" bIns="0" rtlCol="0" anchor="t"/>
          <a:lstStyle/>
          <a:p>
            <a:pPr algn="l" indent="0" marL="0">
              <a:lnSpc>
                <a:spcPct val="110000"/>
              </a:lnSpc>
              <a:buNone/>
            </a:pPr>
            <a:r>
              <a:rPr lang="en-US" sz="1050" dirty="0">
                <a:solidFill>
                  <a:srgbClr val="BAC5BD"/>
                </a:solidFill>
                <a:latin typeface="Arial" pitchFamily="34" charset="0"/>
                <a:ea typeface="Arial" pitchFamily="34" charset="-122"/>
                <a:cs typeface="Arial" pitchFamily="34" charset="-120"/>
              </a:rPr>
              <a:t>screens, plus two share-card image routes</a:t>
            </a:r>
            <a:endParaRPr lang="en-US" sz="1050" dirty="0"/>
          </a:p>
        </p:txBody>
      </p:sp>
      <p:sp>
        <p:nvSpPr>
          <p:cNvPr id="9" name="Shape 7"/>
          <p:cNvSpPr/>
          <p:nvPr/>
        </p:nvSpPr>
        <p:spPr>
          <a:xfrm>
            <a:off x="2029968" y="2148840"/>
            <a:ext cx="1371600" cy="1737360"/>
          </a:xfrm>
          <a:prstGeom prst="roundRect">
            <a:avLst>
              <a:gd name="adj" fmla="val 5333"/>
            </a:avLst>
          </a:prstGeom>
          <a:solidFill>
            <a:srgbClr val="1C2823"/>
          </a:solidFill>
          <a:ln w="9525">
            <a:solidFill>
              <a:srgbClr val="2A352E"/>
            </a:solidFill>
            <a:prstDash val="solid"/>
          </a:ln>
        </p:spPr>
      </p:sp>
      <p:sp>
        <p:nvSpPr>
          <p:cNvPr id="10" name="Text 8"/>
          <p:cNvSpPr txBox="1"/>
          <p:nvPr/>
        </p:nvSpPr>
        <p:spPr>
          <a:xfrm>
            <a:off x="2167128" y="2286000"/>
            <a:ext cx="1097280" cy="731520"/>
          </a:xfrm>
          <a:prstGeom prst="rect">
            <a:avLst/>
          </a:prstGeom>
          <a:noFill/>
          <a:ln/>
        </p:spPr>
        <p:txBody>
          <a:bodyPr wrap="square" lIns="0" tIns="0" rIns="0" bIns="0" rtlCol="0" anchor="ctr"/>
          <a:lstStyle/>
          <a:p>
            <a:pPr algn="l" indent="0" marL="0">
              <a:buNone/>
            </a:pPr>
            <a:r>
              <a:rPr lang="en-US" sz="4400" b="1" dirty="0">
                <a:solidFill>
                  <a:srgbClr val="F5F6F2"/>
                </a:solidFill>
                <a:latin typeface="Barlow Condensed" pitchFamily="34" charset="0"/>
                <a:ea typeface="Barlow Condensed" pitchFamily="34" charset="-122"/>
                <a:cs typeface="Barlow Condensed" pitchFamily="34" charset="-120"/>
              </a:rPr>
              <a:t>40</a:t>
            </a:r>
            <a:endParaRPr lang="en-US" sz="4400" dirty="0"/>
          </a:p>
        </p:txBody>
      </p:sp>
      <p:sp>
        <p:nvSpPr>
          <p:cNvPr id="11" name="Text 9"/>
          <p:cNvSpPr txBox="1"/>
          <p:nvPr/>
        </p:nvSpPr>
        <p:spPr>
          <a:xfrm>
            <a:off x="2167128" y="3063240"/>
            <a:ext cx="1097280" cy="731520"/>
          </a:xfrm>
          <a:prstGeom prst="rect">
            <a:avLst/>
          </a:prstGeom>
          <a:noFill/>
          <a:ln/>
        </p:spPr>
        <p:txBody>
          <a:bodyPr wrap="square" lIns="0" tIns="0" rIns="0" bIns="0" rtlCol="0" anchor="t"/>
          <a:lstStyle/>
          <a:p>
            <a:pPr algn="l" indent="0" marL="0">
              <a:lnSpc>
                <a:spcPct val="110000"/>
              </a:lnSpc>
              <a:buNone/>
            </a:pPr>
            <a:r>
              <a:rPr lang="en-US" sz="1050" dirty="0">
                <a:solidFill>
                  <a:srgbClr val="BAC5BD"/>
                </a:solidFill>
                <a:latin typeface="Arial" pitchFamily="34" charset="0"/>
                <a:ea typeface="Arial" pitchFamily="34" charset="-122"/>
                <a:cs typeface="Arial" pitchFamily="34" charset="-120"/>
              </a:rPr>
              <a:t>unit tests on rules, redirects and London time</a:t>
            </a:r>
            <a:endParaRPr lang="en-US" sz="1050" dirty="0"/>
          </a:p>
        </p:txBody>
      </p:sp>
      <p:sp>
        <p:nvSpPr>
          <p:cNvPr id="12" name="Shape 10"/>
          <p:cNvSpPr/>
          <p:nvPr/>
        </p:nvSpPr>
        <p:spPr>
          <a:xfrm>
            <a:off x="3511296" y="2148840"/>
            <a:ext cx="1371600" cy="1737360"/>
          </a:xfrm>
          <a:prstGeom prst="roundRect">
            <a:avLst>
              <a:gd name="adj" fmla="val 5333"/>
            </a:avLst>
          </a:prstGeom>
          <a:solidFill>
            <a:srgbClr val="1C2823"/>
          </a:solidFill>
          <a:ln w="9525">
            <a:solidFill>
              <a:srgbClr val="2A352E"/>
            </a:solidFill>
            <a:prstDash val="solid"/>
          </a:ln>
        </p:spPr>
      </p:sp>
      <p:sp>
        <p:nvSpPr>
          <p:cNvPr id="13" name="Text 11"/>
          <p:cNvSpPr txBox="1"/>
          <p:nvPr/>
        </p:nvSpPr>
        <p:spPr>
          <a:xfrm>
            <a:off x="3648456" y="2286000"/>
            <a:ext cx="1097280" cy="731520"/>
          </a:xfrm>
          <a:prstGeom prst="rect">
            <a:avLst/>
          </a:prstGeom>
          <a:noFill/>
          <a:ln/>
        </p:spPr>
        <p:txBody>
          <a:bodyPr wrap="square" lIns="0" tIns="0" rIns="0" bIns="0" rtlCol="0" anchor="ctr"/>
          <a:lstStyle/>
          <a:p>
            <a:pPr algn="l" indent="0" marL="0">
              <a:buNone/>
            </a:pPr>
            <a:r>
              <a:rPr lang="en-US" sz="4400" b="1" dirty="0">
                <a:solidFill>
                  <a:srgbClr val="F5F6F2"/>
                </a:solidFill>
                <a:latin typeface="Barlow Condensed" pitchFamily="34" charset="0"/>
                <a:ea typeface="Barlow Condensed" pitchFamily="34" charset="-122"/>
                <a:cs typeface="Barlow Condensed" pitchFamily="34" charset="-120"/>
              </a:rPr>
              <a:t>1</a:t>
            </a:r>
            <a:endParaRPr lang="en-US" sz="4400" dirty="0"/>
          </a:p>
        </p:txBody>
      </p:sp>
      <p:sp>
        <p:nvSpPr>
          <p:cNvPr id="14" name="Text 12"/>
          <p:cNvSpPr txBox="1"/>
          <p:nvPr/>
        </p:nvSpPr>
        <p:spPr>
          <a:xfrm>
            <a:off x="3648456" y="3063240"/>
            <a:ext cx="1097280" cy="731520"/>
          </a:xfrm>
          <a:prstGeom prst="rect">
            <a:avLst/>
          </a:prstGeom>
          <a:noFill/>
          <a:ln/>
        </p:spPr>
        <p:txBody>
          <a:bodyPr wrap="square" lIns="0" tIns="0" rIns="0" bIns="0" rtlCol="0" anchor="t"/>
          <a:lstStyle/>
          <a:p>
            <a:pPr algn="l" indent="0" marL="0">
              <a:lnSpc>
                <a:spcPct val="110000"/>
              </a:lnSpc>
              <a:buNone/>
            </a:pPr>
            <a:r>
              <a:rPr lang="en-US" sz="1050" dirty="0">
                <a:solidFill>
                  <a:srgbClr val="BAC5BD"/>
                </a:solidFill>
                <a:latin typeface="Arial" pitchFamily="34" charset="0"/>
                <a:ea typeface="Arial" pitchFamily="34" charset="-122"/>
                <a:cs typeface="Arial" pitchFamily="34" charset="-120"/>
              </a:rPr>
              <a:t>end-to-end test running the whole loop as three people</a:t>
            </a:r>
            <a:endParaRPr lang="en-US" sz="1050" dirty="0"/>
          </a:p>
        </p:txBody>
      </p:sp>
      <p:sp>
        <p:nvSpPr>
          <p:cNvPr id="15" name="Shape 13"/>
          <p:cNvSpPr/>
          <p:nvPr/>
        </p:nvSpPr>
        <p:spPr>
          <a:xfrm>
            <a:off x="4992624" y="2148840"/>
            <a:ext cx="1371600" cy="1737360"/>
          </a:xfrm>
          <a:prstGeom prst="roundRect">
            <a:avLst>
              <a:gd name="adj" fmla="val 5333"/>
            </a:avLst>
          </a:prstGeom>
          <a:solidFill>
            <a:srgbClr val="1C2823"/>
          </a:solidFill>
          <a:ln w="9525">
            <a:solidFill>
              <a:srgbClr val="2A352E"/>
            </a:solidFill>
            <a:prstDash val="solid"/>
          </a:ln>
        </p:spPr>
      </p:sp>
      <p:sp>
        <p:nvSpPr>
          <p:cNvPr id="16" name="Text 14"/>
          <p:cNvSpPr txBox="1"/>
          <p:nvPr/>
        </p:nvSpPr>
        <p:spPr>
          <a:xfrm>
            <a:off x="5129784" y="2286000"/>
            <a:ext cx="1097280" cy="731520"/>
          </a:xfrm>
          <a:prstGeom prst="rect">
            <a:avLst/>
          </a:prstGeom>
          <a:noFill/>
          <a:ln/>
        </p:spPr>
        <p:txBody>
          <a:bodyPr wrap="square" lIns="0" tIns="0" rIns="0" bIns="0" rtlCol="0" anchor="ctr"/>
          <a:lstStyle/>
          <a:p>
            <a:pPr algn="l" indent="0" marL="0">
              <a:buNone/>
            </a:pPr>
            <a:r>
              <a:rPr lang="en-US" sz="4400" b="1" dirty="0">
                <a:solidFill>
                  <a:srgbClr val="F5F6F2"/>
                </a:solidFill>
                <a:latin typeface="Barlow Condensed" pitchFamily="34" charset="0"/>
                <a:ea typeface="Barlow Condensed" pitchFamily="34" charset="-122"/>
                <a:cs typeface="Barlow Condensed" pitchFamily="34" charset="-120"/>
              </a:rPr>
              <a:t>5</a:t>
            </a:r>
            <a:endParaRPr lang="en-US" sz="4400" dirty="0"/>
          </a:p>
        </p:txBody>
      </p:sp>
      <p:sp>
        <p:nvSpPr>
          <p:cNvPr id="17" name="Text 15"/>
          <p:cNvSpPr txBox="1"/>
          <p:nvPr/>
        </p:nvSpPr>
        <p:spPr>
          <a:xfrm>
            <a:off x="5129784" y="3063240"/>
            <a:ext cx="1097280" cy="731520"/>
          </a:xfrm>
          <a:prstGeom prst="rect">
            <a:avLst/>
          </a:prstGeom>
          <a:noFill/>
          <a:ln/>
        </p:spPr>
        <p:txBody>
          <a:bodyPr wrap="square" lIns="0" tIns="0" rIns="0" bIns="0" rtlCol="0" anchor="t"/>
          <a:lstStyle/>
          <a:p>
            <a:pPr algn="l" indent="0" marL="0">
              <a:lnSpc>
                <a:spcPct val="110000"/>
              </a:lnSpc>
              <a:buNone/>
            </a:pPr>
            <a:r>
              <a:rPr lang="en-US" sz="1050" dirty="0">
                <a:solidFill>
                  <a:srgbClr val="BAC5BD"/>
                </a:solidFill>
                <a:latin typeface="Arial" pitchFamily="34" charset="0"/>
                <a:ea typeface="Arial" pitchFamily="34" charset="-122"/>
                <a:cs typeface="Arial" pitchFamily="34" charset="-120"/>
              </a:rPr>
              <a:t>sports: football, padel, golf, gym, race weekends</a:t>
            </a:r>
            <a:endParaRPr lang="en-US" sz="1050" dirty="0"/>
          </a:p>
        </p:txBody>
      </p:sp>
      <p:sp>
        <p:nvSpPr>
          <p:cNvPr id="18" name="Shape 16"/>
          <p:cNvSpPr/>
          <p:nvPr/>
        </p:nvSpPr>
        <p:spPr>
          <a:xfrm>
            <a:off x="6473952" y="2148840"/>
            <a:ext cx="1371600" cy="1737360"/>
          </a:xfrm>
          <a:prstGeom prst="roundRect">
            <a:avLst>
              <a:gd name="adj" fmla="val 5333"/>
            </a:avLst>
          </a:prstGeom>
          <a:solidFill>
            <a:srgbClr val="1C2823"/>
          </a:solidFill>
          <a:ln w="9525">
            <a:solidFill>
              <a:srgbClr val="2A352E"/>
            </a:solidFill>
            <a:prstDash val="solid"/>
          </a:ln>
        </p:spPr>
      </p:sp>
      <p:sp>
        <p:nvSpPr>
          <p:cNvPr id="19" name="Text 17"/>
          <p:cNvSpPr txBox="1"/>
          <p:nvPr/>
        </p:nvSpPr>
        <p:spPr>
          <a:xfrm>
            <a:off x="6611112" y="2286000"/>
            <a:ext cx="1097280" cy="731520"/>
          </a:xfrm>
          <a:prstGeom prst="rect">
            <a:avLst/>
          </a:prstGeom>
          <a:noFill/>
          <a:ln/>
        </p:spPr>
        <p:txBody>
          <a:bodyPr wrap="square" lIns="0" tIns="0" rIns="0" bIns="0" rtlCol="0" anchor="ctr"/>
          <a:lstStyle/>
          <a:p>
            <a:pPr algn="l" indent="0" marL="0">
              <a:buNone/>
            </a:pPr>
            <a:r>
              <a:rPr lang="en-US" sz="4400" b="1" dirty="0">
                <a:solidFill>
                  <a:srgbClr val="F5F6F2"/>
                </a:solidFill>
                <a:latin typeface="Barlow Condensed" pitchFamily="34" charset="0"/>
                <a:ea typeface="Barlow Condensed" pitchFamily="34" charset="-122"/>
                <a:cs typeface="Barlow Condensed" pitchFamily="34" charset="-120"/>
              </a:rPr>
              <a:t>4</a:t>
            </a:r>
            <a:endParaRPr lang="en-US" sz="4400" dirty="0"/>
          </a:p>
        </p:txBody>
      </p:sp>
      <p:sp>
        <p:nvSpPr>
          <p:cNvPr id="20" name="Text 18"/>
          <p:cNvSpPr txBox="1"/>
          <p:nvPr/>
        </p:nvSpPr>
        <p:spPr>
          <a:xfrm>
            <a:off x="6611112" y="3063240"/>
            <a:ext cx="1097280" cy="731520"/>
          </a:xfrm>
          <a:prstGeom prst="rect">
            <a:avLst/>
          </a:prstGeom>
          <a:noFill/>
          <a:ln/>
        </p:spPr>
        <p:txBody>
          <a:bodyPr wrap="square" lIns="0" tIns="0" rIns="0" bIns="0" rtlCol="0" anchor="t"/>
          <a:lstStyle/>
          <a:p>
            <a:pPr algn="l" indent="0" marL="0">
              <a:lnSpc>
                <a:spcPct val="110000"/>
              </a:lnSpc>
              <a:buNone/>
            </a:pPr>
            <a:r>
              <a:rPr lang="en-US" sz="1050" dirty="0">
                <a:solidFill>
                  <a:srgbClr val="BAC5BD"/>
                </a:solidFill>
                <a:latin typeface="Arial" pitchFamily="34" charset="0"/>
                <a:ea typeface="Arial" pitchFamily="34" charset="-122"/>
                <a:cs typeface="Arial" pitchFamily="34" charset="-120"/>
              </a:rPr>
              <a:t>side games: teams, americano, Stableford, predictor</a:t>
            </a:r>
            <a:endParaRPr lang="en-US" sz="1050" dirty="0"/>
          </a:p>
        </p:txBody>
      </p:sp>
      <p:sp>
        <p:nvSpPr>
          <p:cNvPr id="21" name="Text 19"/>
          <p:cNvSpPr txBox="1"/>
          <p:nvPr/>
        </p:nvSpPr>
        <p:spPr>
          <a:xfrm>
            <a:off x="548640" y="4114800"/>
            <a:ext cx="7406640" cy="822960"/>
          </a:xfrm>
          <a:prstGeom prst="rect">
            <a:avLst/>
          </a:prstGeom>
          <a:noFill/>
          <a:ln/>
        </p:spPr>
        <p:txBody>
          <a:bodyPr wrap="square" lIns="0" tIns="0" rIns="0" bIns="0" rtlCol="0" anchor="t"/>
          <a:lstStyle/>
          <a:p>
            <a:pPr algn="l" indent="0" marL="0">
              <a:lnSpc>
                <a:spcPct val="120000"/>
              </a:lnSpc>
              <a:buNone/>
            </a:pPr>
            <a:r>
              <a:rPr lang="en-US" sz="1200" b="1" dirty="0">
                <a:solidFill>
                  <a:srgbClr val="F5F6F2"/>
                </a:solidFill>
                <a:latin typeface="Arial" pitchFamily="34" charset="0"/>
                <a:ea typeface="Arial" pitchFamily="34" charset="-122"/>
                <a:cs typeface="Arial" pitchFamily="34" charset="-120"/>
              </a:rPr>
              <a:t>Stack. </a:t>
            </a:r>
            <a:pPr algn="l" indent="0" marL="0">
              <a:lnSpc>
                <a:spcPct val="120000"/>
              </a:lnSpc>
              <a:buNone/>
            </a:pPr>
            <a:r>
              <a:rPr lang="en-US" sz="1200" dirty="0">
                <a:solidFill>
                  <a:srgbClr val="BAC5BD"/>
                </a:solidFill>
                <a:latin typeface="Arial" pitchFamily="34" charset="0"/>
                <a:ea typeface="Arial" pitchFamily="34" charset="-122"/>
                <a:cs typeface="Arial" pitchFamily="34" charset="-120"/>
              </a:rPr>
              <a:t>Next.js 16, React 19, TypeScript, Drizzle on libsql, Tailwind. Web-first PWA, share cards via next/og. Docs for product, architecture, design, legal, GTM, metrics and deployment are in the repo.</a:t>
            </a:r>
            <a:endParaRPr lang="en-US" sz="1200" dirty="0"/>
          </a:p>
        </p:txBody>
      </p:sp>
      <p:sp>
        <p:nvSpPr>
          <p:cNvPr id="22" name="Shape 20"/>
          <p:cNvSpPr/>
          <p:nvPr/>
        </p:nvSpPr>
        <p:spPr>
          <a:xfrm>
            <a:off x="548640" y="5074920"/>
            <a:ext cx="7406640" cy="1005840"/>
          </a:xfrm>
          <a:prstGeom prst="roundRect">
            <a:avLst>
              <a:gd name="adj" fmla="val 7273"/>
            </a:avLst>
          </a:prstGeom>
          <a:solidFill>
            <a:srgbClr val="3A3010"/>
          </a:solidFill>
          <a:ln w="9525">
            <a:solidFill>
              <a:srgbClr val="3A3010"/>
            </a:solidFill>
            <a:prstDash val="solid"/>
          </a:ln>
        </p:spPr>
      </p:sp>
      <p:sp>
        <p:nvSpPr>
          <p:cNvPr id="23" name="Text 21"/>
          <p:cNvSpPr txBox="1"/>
          <p:nvPr/>
        </p:nvSpPr>
        <p:spPr>
          <a:xfrm>
            <a:off x="777240" y="5193792"/>
            <a:ext cx="2743200" cy="274320"/>
          </a:xfrm>
          <a:prstGeom prst="rect">
            <a:avLst/>
          </a:prstGeom>
          <a:noFill/>
          <a:ln/>
        </p:spPr>
        <p:txBody>
          <a:bodyPr wrap="square" lIns="0" tIns="0" rIns="0" bIns="0" rtlCol="0" anchor="ctr"/>
          <a:lstStyle/>
          <a:p>
            <a:pPr algn="l" indent="0" marL="0">
              <a:buNone/>
            </a:pPr>
            <a:r>
              <a:rPr lang="en-US" sz="1000" b="1" spc="300" kern="0" dirty="0">
                <a:solidFill>
                  <a:srgbClr val="F1BC1E"/>
                </a:solidFill>
                <a:latin typeface="Courier New" pitchFamily="34" charset="0"/>
                <a:ea typeface="Courier New" pitchFamily="34" charset="-122"/>
                <a:cs typeface="Courier New" pitchFamily="34" charset="-120"/>
              </a:rPr>
              <a:t>HONESTY CHECK</a:t>
            </a:r>
            <a:endParaRPr lang="en-US" sz="1000" dirty="0"/>
          </a:p>
        </p:txBody>
      </p:sp>
      <p:sp>
        <p:nvSpPr>
          <p:cNvPr id="24" name="Text 22"/>
          <p:cNvSpPr txBox="1"/>
          <p:nvPr/>
        </p:nvSpPr>
        <p:spPr>
          <a:xfrm>
            <a:off x="777240" y="5468112"/>
            <a:ext cx="6949440" cy="548640"/>
          </a:xfrm>
          <a:prstGeom prst="rect">
            <a:avLst/>
          </a:prstGeom>
          <a:noFill/>
          <a:ln/>
        </p:spPr>
        <p:txBody>
          <a:bodyPr wrap="square" lIns="0" tIns="0" rIns="0" bIns="0" rtlCol="0" anchor="t"/>
          <a:lstStyle/>
          <a:p>
            <a:pPr algn="l" indent="0" marL="0">
              <a:lnSpc>
                <a:spcPct val="115000"/>
              </a:lnSpc>
              <a:buNone/>
            </a:pPr>
            <a:r>
              <a:rPr lang="en-US" sz="1200" dirty="0">
                <a:solidFill>
                  <a:srgbClr val="F5F6F2"/>
                </a:solidFill>
                <a:latin typeface="Arial" pitchFamily="34" charset="0"/>
                <a:ea typeface="Arial" pitchFamily="34" charset="-122"/>
                <a:cs typeface="Arial" pitchFamily="34" charset="-120"/>
              </a:rPr>
              <a:t>Pre-revenue. Pre-users. The 15-crew London pilot starts now. The claim on this slide is that the loop is built and tested, not that it is proven.</a:t>
            </a:r>
            <a:endParaRPr lang="en-US" sz="1200" dirty="0"/>
          </a:p>
        </p:txBody>
      </p:sp>
      <p:sp>
        <p:nvSpPr>
          <p:cNvPr id="25" name="Shape 23"/>
          <p:cNvSpPr/>
          <p:nvPr/>
        </p:nvSpPr>
        <p:spPr>
          <a:xfrm>
            <a:off x="8275320" y="2103120"/>
            <a:ext cx="3383280" cy="2377440"/>
          </a:xfrm>
          <a:prstGeom prst="roundRect">
            <a:avLst>
              <a:gd name="adj" fmla="val 3077"/>
            </a:avLst>
          </a:prstGeom>
          <a:solidFill>
            <a:srgbClr val="F5F6F2"/>
          </a:solidFill>
          <a:ln w="9525">
            <a:solidFill>
              <a:srgbClr val="2A352E"/>
            </a:solidFill>
            <a:prstDash val="solid"/>
          </a:ln>
        </p:spPr>
      </p:sp>
      <p:pic>
        <p:nvPicPr>
          <p:cNvPr id="26" name="Image 0" descr="/tmp/claude-0/-home-user-Remoovals/9aaf5bb5-a8d7-505a-9eb5-464ae059be3c/scratchpad/build/img/landing-desktop-crop.png">    </p:cNvPr>
          <p:cNvPicPr>
            <a:picLocks noChangeAspect="1"/>
          </p:cNvPicPr>
          <p:nvPr/>
        </p:nvPicPr>
        <p:blipFill>
          <a:blip r:embed="rId1"/>
          <a:stretch>
            <a:fillRect/>
          </a:stretch>
        </p:blipFill>
        <p:spPr>
          <a:xfrm>
            <a:off x="8321040" y="2148840"/>
            <a:ext cx="3291840" cy="2286000"/>
          </a:xfrm>
          <a:prstGeom prst="rect">
            <a:avLst/>
          </a:prstGeom>
        </p:spPr>
      </p:pic>
      <p:sp>
        <p:nvSpPr>
          <p:cNvPr id="27" name="Text 24"/>
          <p:cNvSpPr txBox="1"/>
          <p:nvPr/>
        </p:nvSpPr>
        <p:spPr>
          <a:xfrm>
            <a:off x="8275320" y="4572000"/>
            <a:ext cx="3383280" cy="256032"/>
          </a:xfrm>
          <a:prstGeom prst="rect">
            <a:avLst/>
          </a:prstGeom>
          <a:noFill/>
          <a:ln/>
        </p:spPr>
        <p:txBody>
          <a:bodyPr wrap="square" lIns="0" tIns="0" rIns="0" bIns="0" rtlCol="0" anchor="ctr"/>
          <a:lstStyle/>
          <a:p>
            <a:pPr algn="l" indent="0" marL="0">
              <a:buNone/>
            </a:pPr>
            <a:r>
              <a:rPr lang="en-US" sz="1000" b="1" spc="300" kern="0" dirty="0">
                <a:solidFill>
                  <a:srgbClr val="8A968E"/>
                </a:solidFill>
                <a:latin typeface="Courier New" pitchFamily="34" charset="0"/>
                <a:ea typeface="Courier New" pitchFamily="34" charset="-122"/>
                <a:cs typeface="Courier New" pitchFamily="34" charset="-120"/>
              </a:rPr>
              <a:t>LANDING PAGE, LIVE BUILD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MARKET</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BOTTOM-UP, THE UK HAS ROUGHLY 180,000 REGULAR ADULT CREWS.</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09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7406640" cy="914400"/>
        </p:xfrm>
        <a:graphic>
          <a:graphicData uri="http://schemas.openxmlformats.org/drawingml/2006/table">
            <a:tbl>
              <a:tblPr/>
              <a:tblGrid>
                <a:gridCol w="1828800"/>
                <a:gridCol w="3383280"/>
                <a:gridCol w="1188720"/>
                <a:gridCol w="1005840"/>
              </a:tblGrid>
              <a:tr h="347472">
                <a:tc>
                  <a:txBody>
                    <a:bodyPr/>
                    <a:lstStyle/>
                    <a:p>
                      <a:pPr indent="0" marL="0">
                        <a:buNone/>
                      </a:pPr>
                      <a:r>
                        <a:rPr lang="en-US" sz="800" b="1" dirty="0">
                          <a:solidFill>
                            <a:srgbClr val="14201B"/>
                          </a:solidFill>
                          <a:latin typeface="Courier New" pitchFamily="34" charset="0"/>
                          <a:ea typeface="Courier New" pitchFamily="34" charset="-122"/>
                          <a:cs typeface="Courier New" pitchFamily="34" charset="-120"/>
                        </a:rPr>
                        <a:t>SEGMENT</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indent="0" marL="0">
                        <a:buNone/>
                      </a:pPr>
                      <a:r>
                        <a:rPr lang="en-US" sz="800" b="1" dirty="0">
                          <a:solidFill>
                            <a:srgbClr val="14201B"/>
                          </a:solidFill>
                          <a:latin typeface="Courier New" pitchFamily="34" charset="0"/>
                          <a:ea typeface="Courier New" pitchFamily="34" charset="-122"/>
                          <a:cs typeface="Courier New" pitchFamily="34" charset="-120"/>
                        </a:rPr>
                        <a:t>BASIS</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r" indent="0" marL="0">
                        <a:buNone/>
                      </a:pPr>
                      <a:r>
                        <a:rPr lang="en-US" sz="800" b="1" dirty="0">
                          <a:solidFill>
                            <a:srgbClr val="14201B"/>
                          </a:solidFill>
                          <a:latin typeface="Courier New" pitchFamily="34" charset="0"/>
                          <a:ea typeface="Courier New" pitchFamily="34" charset="-122"/>
                          <a:cs typeface="Courier New" pitchFamily="34" charset="-120"/>
                        </a:rPr>
                        <a:t>REGULAR ADULT CREWS</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r" indent="0" marL="0">
                        <a:buNone/>
                      </a:pPr>
                      <a:r>
                        <a:rPr lang="en-US" sz="800" b="1" dirty="0">
                          <a:solidFill>
                            <a:srgbClr val="14201B"/>
                          </a:solidFill>
                          <a:latin typeface="Courier New" pitchFamily="34" charset="0"/>
                          <a:ea typeface="Courier New" pitchFamily="34" charset="-122"/>
                          <a:cs typeface="Courier New" pitchFamily="34" charset="-120"/>
                        </a:rPr>
                        <a:t>SESSIONS / CREW / MONTH</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r h="566928">
                <a:tc>
                  <a:txBody>
                    <a:bodyPr/>
                    <a:lstStyle/>
                    <a:p>
                      <a:pPr indent="0" marL="0">
                        <a:buNone/>
                      </a:pPr>
                      <a:r>
                        <a:rPr lang="en-US" sz="950" b="1" dirty="0">
                          <a:solidFill>
                            <a:srgbClr val="14201B"/>
                          </a:solidFill>
                          <a:latin typeface="Arial" pitchFamily="34" charset="0"/>
                          <a:ea typeface="Arial" pitchFamily="34" charset="-122"/>
                          <a:cs typeface="Arial" pitchFamily="34" charset="-120"/>
                        </a:rPr>
                        <a:t>Casual 5 and 7-a-side football</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Sport England adult football participation; assume 15 to 25% of adult players are in a fixed weekly group of 10 to 14</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60,000 to 120,000</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3 to 4</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502920">
                <a:tc>
                  <a:txBody>
                    <a:bodyPr/>
                    <a:lstStyle/>
                    <a:p>
                      <a:pPr indent="0" marL="0">
                        <a:buNone/>
                      </a:pPr>
                      <a:r>
                        <a:rPr lang="en-US" sz="950" b="1" dirty="0">
                          <a:solidFill>
                            <a:srgbClr val="14201B"/>
                          </a:solidFill>
                          <a:latin typeface="Arial" pitchFamily="34" charset="0"/>
                          <a:ea typeface="Arial" pitchFamily="34" charset="-122"/>
                          <a:cs typeface="Arial" pitchFamily="34" charset="-120"/>
                        </a:rPr>
                        <a:t>Padel groups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860k players (LTA); assume 20 to 30% play in a regular four or eight</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40,000 to 65,000</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3 to 6</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566928">
                <a:tc>
                  <a:txBody>
                    <a:bodyPr/>
                    <a:lstStyle/>
                    <a:p>
                      <a:pPr indent="0" marL="0">
                        <a:buNone/>
                      </a:pPr>
                      <a:r>
                        <a:rPr lang="en-US" sz="950" b="1" dirty="0">
                          <a:solidFill>
                            <a:srgbClr val="14201B"/>
                          </a:solidFill>
                          <a:latin typeface="Arial" pitchFamily="34" charset="0"/>
                          <a:ea typeface="Arial" pitchFamily="34" charset="-122"/>
                          <a:cs typeface="Arial" pitchFamily="34" charset="-120"/>
                        </a:rPr>
                        <a:t>Golf societies and fourballs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12.6M adults play some golf; assume 3 to 5% in an organised society or standing fourball</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25,000 to 50,000</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1 to 2</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57200">
                <a:tc>
                  <a:txBody>
                    <a:bodyPr/>
                    <a:lstStyle/>
                    <a:p>
                      <a:pPr indent="0" marL="0">
                        <a:buNone/>
                      </a:pPr>
                      <a:r>
                        <a:rPr lang="en-US" sz="950" b="1" dirty="0">
                          <a:solidFill>
                            <a:srgbClr val="14201B"/>
                          </a:solidFill>
                          <a:latin typeface="Arial" pitchFamily="34" charset="0"/>
                          <a:ea typeface="Arial" pitchFamily="34" charset="-122"/>
                          <a:cs typeface="Arial" pitchFamily="34" charset="-120"/>
                        </a:rPr>
                        <a:t>Gym crews and race-watching crews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Expansion segments, not sized for revenue in this plan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6E7A73"/>
                          </a:solidFill>
                          <a:latin typeface="Arial" pitchFamily="34" charset="0"/>
                          <a:ea typeface="Arial" pitchFamily="34" charset="-122"/>
                          <a:cs typeface="Arial" pitchFamily="34" charset="-120"/>
                        </a:rPr>
                        <a:t>not sized</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6E7A73"/>
                          </a:solidFill>
                          <a:latin typeface="Arial" pitchFamily="34" charset="0"/>
                          <a:ea typeface="Arial" pitchFamily="34" charset="-122"/>
                          <a:cs typeface="Arial" pitchFamily="34" charset="-120"/>
                        </a:rPr>
                        <a:t>not sized</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bl>
          </a:graphicData>
        </a:graphic>
      </p:graphicFrame>
      <p:sp>
        <p:nvSpPr>
          <p:cNvPr id="7" name="Text 4"/>
          <p:cNvSpPr txBox="1"/>
          <p:nvPr/>
        </p:nvSpPr>
        <p:spPr>
          <a:xfrm>
            <a:off x="548640" y="4709160"/>
            <a:ext cx="7406640" cy="914400"/>
          </a:xfrm>
          <a:prstGeom prst="rect">
            <a:avLst/>
          </a:prstGeom>
          <a:noFill/>
          <a:ln/>
        </p:spPr>
        <p:txBody>
          <a:bodyPr wrap="square" lIns="0" tIns="0" rIns="0" bIns="0" rtlCol="0" anchor="t"/>
          <a:lstStyle/>
          <a:p>
            <a:pPr algn="l" indent="0" marL="0">
              <a:lnSpc>
                <a:spcPct val="120000"/>
              </a:lnSpc>
              <a:buNone/>
            </a:pPr>
            <a:r>
              <a:rPr lang="en-US" sz="900" i="1" dirty="0">
                <a:solidFill>
                  <a:srgbClr val="6E7A73"/>
                </a:solidFill>
                <a:latin typeface="Arial" pitchFamily="34" charset="0"/>
                <a:ea typeface="Arial" pitchFamily="34" charset="-122"/>
                <a:cs typeface="Arial" pitchFamily="34" charset="-120"/>
              </a:rPr>
              <a:t>All crew counts are assumptions derived from participation data, not measured figures. Middle of the three sized ranges gives about 180,000 crews. Session money of £6 to £12 per person and 8 to 12 people per football session are assumptions. Spond alone moves about €270M a year in payments, which supports the shape of the estimate.</a:t>
            </a:r>
            <a:endParaRPr lang="en-US" sz="900" dirty="0"/>
          </a:p>
        </p:txBody>
      </p:sp>
      <p:sp>
        <p:nvSpPr>
          <p:cNvPr id="8" name="Shape 5"/>
          <p:cNvSpPr/>
          <p:nvPr/>
        </p:nvSpPr>
        <p:spPr>
          <a:xfrm>
            <a:off x="8275320" y="2148840"/>
            <a:ext cx="3367735" cy="1188720"/>
          </a:xfrm>
          <a:prstGeom prst="roundRect">
            <a:avLst>
              <a:gd name="adj" fmla="val 6154"/>
            </a:avLst>
          </a:prstGeom>
          <a:solidFill>
            <a:srgbClr val="DDEFE3"/>
          </a:solidFill>
          <a:ln w="9525">
            <a:solidFill>
              <a:srgbClr val="DDEFE3"/>
            </a:solidFill>
            <a:prstDash val="solid"/>
          </a:ln>
        </p:spPr>
      </p:sp>
      <p:sp>
        <p:nvSpPr>
          <p:cNvPr id="9" name="Text 6"/>
          <p:cNvSpPr txBox="1"/>
          <p:nvPr/>
        </p:nvSpPr>
        <p:spPr>
          <a:xfrm>
            <a:off x="8458200" y="2258568"/>
            <a:ext cx="3001975" cy="502920"/>
          </a:xfrm>
          <a:prstGeom prst="rect">
            <a:avLst/>
          </a:prstGeom>
          <a:noFill/>
          <a:ln/>
        </p:spPr>
        <p:txBody>
          <a:bodyPr wrap="square" lIns="0" tIns="0" rIns="0" bIns="0" rtlCol="0" anchor="ctr"/>
          <a:lstStyle/>
          <a:p>
            <a:pPr algn="l" indent="0" marL="0">
              <a:buNone/>
            </a:pPr>
            <a:r>
              <a:rPr lang="en-US" sz="3000" b="1" dirty="0">
                <a:solidFill>
                  <a:srgbClr val="146238"/>
                </a:solidFill>
                <a:latin typeface="Barlow Condensed" pitchFamily="34" charset="0"/>
                <a:ea typeface="Barlow Condensed" pitchFamily="34" charset="-122"/>
                <a:cs typeface="Barlow Condensed" pitchFamily="34" charset="-120"/>
              </a:rPr>
              <a:t>~£1bn / yr</a:t>
            </a:r>
            <a:endParaRPr lang="en-US" sz="3000" dirty="0"/>
          </a:p>
        </p:txBody>
      </p:sp>
      <p:sp>
        <p:nvSpPr>
          <p:cNvPr id="10" name="Text 7"/>
          <p:cNvSpPr txBox="1"/>
          <p:nvPr/>
        </p:nvSpPr>
        <p:spPr>
          <a:xfrm>
            <a:off x="8458200" y="2770632"/>
            <a:ext cx="3001975" cy="5029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Session money moving through UK crews. Order of magnitude only (assumption).</a:t>
            </a:r>
            <a:endParaRPr lang="en-US" sz="1000" dirty="0"/>
          </a:p>
        </p:txBody>
      </p:sp>
      <p:sp>
        <p:nvSpPr>
          <p:cNvPr id="11" name="Shape 8"/>
          <p:cNvSpPr/>
          <p:nvPr/>
        </p:nvSpPr>
        <p:spPr>
          <a:xfrm>
            <a:off x="8275320" y="3474720"/>
            <a:ext cx="3367735" cy="1188720"/>
          </a:xfrm>
          <a:prstGeom prst="roundRect">
            <a:avLst>
              <a:gd name="adj" fmla="val 6154"/>
            </a:avLst>
          </a:prstGeom>
          <a:solidFill>
            <a:srgbClr val="FFFFFF"/>
          </a:solidFill>
          <a:ln w="9525">
            <a:solidFill>
              <a:srgbClr val="D5DAD2"/>
            </a:solidFill>
            <a:prstDash val="solid"/>
          </a:ln>
        </p:spPr>
      </p:sp>
      <p:sp>
        <p:nvSpPr>
          <p:cNvPr id="12" name="Text 9"/>
          <p:cNvSpPr txBox="1"/>
          <p:nvPr/>
        </p:nvSpPr>
        <p:spPr>
          <a:xfrm>
            <a:off x="8458200" y="3584448"/>
            <a:ext cx="3001975" cy="502920"/>
          </a:xfrm>
          <a:prstGeom prst="rect">
            <a:avLst/>
          </a:prstGeom>
          <a:noFill/>
          <a:ln/>
        </p:spPr>
        <p:txBody>
          <a:bodyPr wrap="square" lIns="0" tIns="0" rIns="0" bIns="0" rtlCol="0" anchor="ctr"/>
          <a:lstStyle/>
          <a:p>
            <a:pPr algn="l" indent="0" marL="0">
              <a:buNone/>
            </a:pPr>
            <a:r>
              <a:rPr lang="en-US" sz="3000" b="1" dirty="0">
                <a:solidFill>
                  <a:srgbClr val="14201B"/>
                </a:solidFill>
                <a:latin typeface="Barlow Condensed" pitchFamily="34" charset="0"/>
                <a:ea typeface="Barlow Condensed" pitchFamily="34" charset="-122"/>
                <a:cs typeface="Barlow Condensed" pitchFamily="34" charset="-120"/>
              </a:rPr>
              <a:t>~180k crews</a:t>
            </a:r>
            <a:endParaRPr lang="en-US" sz="3000" dirty="0"/>
          </a:p>
        </p:txBody>
      </p:sp>
      <p:sp>
        <p:nvSpPr>
          <p:cNvPr id="13" name="Text 10"/>
          <p:cNvSpPr txBox="1"/>
          <p:nvPr/>
        </p:nvSpPr>
        <p:spPr>
          <a:xfrm>
            <a:off x="8458200" y="4096512"/>
            <a:ext cx="3001975" cy="5029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UK football, padel and golf crews we could serve (assumption).</a:t>
            </a:r>
            <a:endParaRPr lang="en-US" sz="1000" dirty="0"/>
          </a:p>
        </p:txBody>
      </p:sp>
      <p:sp>
        <p:nvSpPr>
          <p:cNvPr id="14" name="Shape 11"/>
          <p:cNvSpPr/>
          <p:nvPr/>
        </p:nvSpPr>
        <p:spPr>
          <a:xfrm>
            <a:off x="8275320" y="4800600"/>
            <a:ext cx="3367735" cy="1188720"/>
          </a:xfrm>
          <a:prstGeom prst="roundRect">
            <a:avLst>
              <a:gd name="adj" fmla="val 6154"/>
            </a:avLst>
          </a:prstGeom>
          <a:solidFill>
            <a:srgbClr val="FFFFFF"/>
          </a:solidFill>
          <a:ln w="9525">
            <a:solidFill>
              <a:srgbClr val="D5DAD2"/>
            </a:solidFill>
            <a:prstDash val="solid"/>
          </a:ln>
        </p:spPr>
      </p:sp>
      <p:sp>
        <p:nvSpPr>
          <p:cNvPr id="15" name="Text 12"/>
          <p:cNvSpPr txBox="1"/>
          <p:nvPr/>
        </p:nvSpPr>
        <p:spPr>
          <a:xfrm>
            <a:off x="8458200" y="4910328"/>
            <a:ext cx="3001975" cy="502920"/>
          </a:xfrm>
          <a:prstGeom prst="rect">
            <a:avLst/>
          </a:prstGeom>
          <a:noFill/>
          <a:ln/>
        </p:spPr>
        <p:txBody>
          <a:bodyPr wrap="square" lIns="0" tIns="0" rIns="0" bIns="0" rtlCol="0" anchor="ctr"/>
          <a:lstStyle/>
          <a:p>
            <a:pPr algn="l" indent="0" marL="0">
              <a:buNone/>
            </a:pPr>
            <a:r>
              <a:rPr lang="en-US" sz="3000" b="1" dirty="0">
                <a:solidFill>
                  <a:srgbClr val="14201B"/>
                </a:solidFill>
                <a:latin typeface="Barlow Condensed" pitchFamily="34" charset="0"/>
                <a:ea typeface="Barlow Condensed" pitchFamily="34" charset="-122"/>
                <a:cs typeface="Barlow Condensed" pitchFamily="34" charset="-120"/>
              </a:rPr>
              <a:t>300 → 500</a:t>
            </a:r>
            <a:endParaRPr lang="en-US" sz="3000" dirty="0"/>
          </a:p>
        </p:txBody>
      </p:sp>
      <p:sp>
        <p:nvSpPr>
          <p:cNvPr id="16" name="Text 13"/>
          <p:cNvSpPr txBox="1"/>
          <p:nvPr/>
        </p:nvSpPr>
        <p:spPr>
          <a:xfrm>
            <a:off x="8458200" y="5422392"/>
            <a:ext cx="3001975" cy="5029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Active London crews by month 12, 500 crews across 3 cities by month 18 (targets).</a:t>
            </a:r>
            <a:endParaRPr lang="en-US" sz="1000" dirty="0"/>
          </a:p>
        </p:txBody>
      </p:sp>
      <p:sp>
        <p:nvSpPr>
          <p:cNvPr id="17" name="Text 14"/>
          <p:cNvSpPr txBox="1"/>
          <p:nvPr/>
        </p:nvSpPr>
        <p:spPr>
          <a:xfrm>
            <a:off x="8275320" y="6080760"/>
            <a:ext cx="3367735"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PLAN'S TAM, SAM AND FIRST SOM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COMPETITION</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ROLL CALL IS ALONE IN THE CREW AND ADULT-CASUAL CORNER.</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10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822960" y="2103120"/>
            <a:ext cx="6583680" cy="3886200"/>
          </a:xfrm>
          <a:prstGeom prst="roundRect">
            <a:avLst>
              <a:gd name="adj" fmla="val 1882"/>
            </a:avLst>
          </a:prstGeom>
          <a:solidFill>
            <a:srgbClr val="FFFFFF"/>
          </a:solidFill>
          <a:ln w="9525">
            <a:solidFill>
              <a:srgbClr val="D5DAD2"/>
            </a:solidFill>
            <a:prstDash val="solid"/>
          </a:ln>
        </p:spPr>
      </p:sp>
      <p:sp>
        <p:nvSpPr>
          <p:cNvPr id="7" name="Shape 5"/>
          <p:cNvSpPr/>
          <p:nvPr/>
        </p:nvSpPr>
        <p:spPr>
          <a:xfrm>
            <a:off x="4114800" y="2148840"/>
            <a:ext cx="0" cy="3794760"/>
          </a:xfrm>
          <a:prstGeom prst="line">
            <a:avLst/>
          </a:prstGeom>
          <a:noFill/>
          <a:ln w="12700">
            <a:solidFill>
              <a:srgbClr val="E6E9E2"/>
            </a:solidFill>
            <a:prstDash val="solid"/>
          </a:ln>
        </p:spPr>
      </p:sp>
      <p:sp>
        <p:nvSpPr>
          <p:cNvPr id="8" name="Shape 6"/>
          <p:cNvSpPr/>
          <p:nvPr/>
        </p:nvSpPr>
        <p:spPr>
          <a:xfrm>
            <a:off x="868680" y="4046220"/>
            <a:ext cx="6492240" cy="0"/>
          </a:xfrm>
          <a:prstGeom prst="line">
            <a:avLst/>
          </a:prstGeom>
          <a:noFill/>
          <a:ln w="12700">
            <a:solidFill>
              <a:srgbClr val="E6E9E2"/>
            </a:solidFill>
            <a:prstDash val="solid"/>
          </a:ln>
        </p:spPr>
      </p:sp>
      <p:sp>
        <p:nvSpPr>
          <p:cNvPr id="9" name="Shape 7"/>
          <p:cNvSpPr/>
          <p:nvPr/>
        </p:nvSpPr>
        <p:spPr>
          <a:xfrm>
            <a:off x="4133088" y="2121408"/>
            <a:ext cx="3246120" cy="1897380"/>
          </a:xfrm>
          <a:prstGeom prst="roundRect">
            <a:avLst>
              <a:gd name="adj" fmla="val 2892"/>
            </a:avLst>
          </a:prstGeom>
          <a:solidFill>
            <a:srgbClr val="DDEFE3"/>
          </a:solidFill>
          <a:ln/>
        </p:spPr>
      </p:sp>
      <p:sp>
        <p:nvSpPr>
          <p:cNvPr id="10" name="Text 8"/>
          <p:cNvSpPr txBox="1"/>
          <p:nvPr/>
        </p:nvSpPr>
        <p:spPr>
          <a:xfrm>
            <a:off x="960120" y="2194560"/>
            <a:ext cx="182880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ADULT CASUAL</a:t>
            </a:r>
            <a:endParaRPr lang="en-US" sz="1000" dirty="0"/>
          </a:p>
        </p:txBody>
      </p:sp>
      <p:sp>
        <p:nvSpPr>
          <p:cNvPr id="11" name="Text 9"/>
          <p:cNvSpPr txBox="1"/>
          <p:nvPr/>
        </p:nvSpPr>
        <p:spPr>
          <a:xfrm>
            <a:off x="960120" y="5641848"/>
            <a:ext cx="228600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INSTITUTION / VENUE</a:t>
            </a:r>
            <a:endParaRPr lang="en-US" sz="1000" dirty="0"/>
          </a:p>
        </p:txBody>
      </p:sp>
      <p:sp>
        <p:nvSpPr>
          <p:cNvPr id="12" name="Text 10"/>
          <p:cNvSpPr txBox="1"/>
          <p:nvPr/>
        </p:nvSpPr>
        <p:spPr>
          <a:xfrm>
            <a:off x="960120" y="3918204"/>
            <a:ext cx="137160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INDIVIDUAL</a:t>
            </a:r>
            <a:endParaRPr lang="en-US" sz="1000" dirty="0"/>
          </a:p>
        </p:txBody>
      </p:sp>
      <p:sp>
        <p:nvSpPr>
          <p:cNvPr id="13" name="Text 11"/>
          <p:cNvSpPr txBox="1"/>
          <p:nvPr/>
        </p:nvSpPr>
        <p:spPr>
          <a:xfrm>
            <a:off x="5897880" y="3918204"/>
            <a:ext cx="1371600" cy="256032"/>
          </a:xfrm>
          <a:prstGeom prst="rect">
            <a:avLst/>
          </a:prstGeom>
          <a:noFill/>
          <a:ln/>
        </p:spPr>
        <p:txBody>
          <a:bodyPr wrap="square" lIns="0" tIns="0" rIns="0" bIns="0" rtlCol="0" anchor="ctr"/>
          <a:lstStyle/>
          <a:p>
            <a:pPr algn="r" indent="0" marL="0">
              <a:buNone/>
            </a:pPr>
            <a:r>
              <a:rPr lang="en-US" sz="1000" b="1" spc="300" kern="0" dirty="0">
                <a:solidFill>
                  <a:srgbClr val="6E7A73"/>
                </a:solidFill>
                <a:latin typeface="Courier New" pitchFamily="34" charset="0"/>
                <a:ea typeface="Courier New" pitchFamily="34" charset="-122"/>
                <a:cs typeface="Courier New" pitchFamily="34" charset="-120"/>
              </a:rPr>
              <a:t>CREW</a:t>
            </a:r>
            <a:endParaRPr lang="en-US" sz="1000" dirty="0"/>
          </a:p>
        </p:txBody>
      </p:sp>
      <p:sp>
        <p:nvSpPr>
          <p:cNvPr id="14" name="Shape 12"/>
          <p:cNvSpPr/>
          <p:nvPr/>
        </p:nvSpPr>
        <p:spPr>
          <a:xfrm>
            <a:off x="1380744" y="2585466"/>
            <a:ext cx="201168" cy="201168"/>
          </a:xfrm>
          <a:prstGeom prst="roundRect">
            <a:avLst>
              <a:gd name="adj" fmla="val 50000"/>
            </a:avLst>
          </a:prstGeom>
          <a:solidFill>
            <a:srgbClr val="6E7A73"/>
          </a:solidFill>
          <a:ln/>
        </p:spPr>
      </p:sp>
      <p:sp>
        <p:nvSpPr>
          <p:cNvPr id="15" name="Text 13"/>
          <p:cNvSpPr txBox="1"/>
          <p:nvPr/>
        </p:nvSpPr>
        <p:spPr>
          <a:xfrm>
            <a:off x="1655064" y="2539746"/>
            <a:ext cx="1737360" cy="274320"/>
          </a:xfrm>
          <a:prstGeom prst="rect">
            <a:avLst/>
          </a:prstGeom>
          <a:noFill/>
          <a:ln/>
        </p:spPr>
        <p:txBody>
          <a:bodyPr wrap="square" lIns="0" tIns="0" rIns="0" bIns="0" rtlCol="0" anchor="ctr"/>
          <a:lstStyle/>
          <a:p>
            <a:pPr algn="l" indent="0" marL="0">
              <a:buNone/>
            </a:pPr>
            <a:r>
              <a:rPr lang="en-US" sz="1400" b="1" dirty="0">
                <a:solidFill>
                  <a:srgbClr val="14201B"/>
                </a:solidFill>
                <a:latin typeface="Barlow Condensed" pitchFamily="34" charset="0"/>
                <a:ea typeface="Barlow Condensed" pitchFamily="34" charset="-122"/>
                <a:cs typeface="Barlow Condensed" pitchFamily="34" charset="-120"/>
              </a:rPr>
              <a:t>Hevy, Strava</a:t>
            </a:r>
            <a:endParaRPr lang="en-US" sz="1400" dirty="0"/>
          </a:p>
        </p:txBody>
      </p:sp>
      <p:sp>
        <p:nvSpPr>
          <p:cNvPr id="16" name="Text 14"/>
          <p:cNvSpPr txBox="1"/>
          <p:nvPr/>
        </p:nvSpPr>
        <p:spPr>
          <a:xfrm>
            <a:off x="1655064" y="2777490"/>
            <a:ext cx="173736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individual loggers</a:t>
            </a:r>
            <a:endParaRPr lang="en-US" sz="850" dirty="0"/>
          </a:p>
        </p:txBody>
      </p:sp>
      <p:sp>
        <p:nvSpPr>
          <p:cNvPr id="17" name="Shape 15"/>
          <p:cNvSpPr/>
          <p:nvPr/>
        </p:nvSpPr>
        <p:spPr>
          <a:xfrm>
            <a:off x="1380744" y="3557016"/>
            <a:ext cx="201168" cy="201168"/>
          </a:xfrm>
          <a:prstGeom prst="roundRect">
            <a:avLst>
              <a:gd name="adj" fmla="val 50000"/>
            </a:avLst>
          </a:prstGeom>
          <a:solidFill>
            <a:srgbClr val="6E7A73"/>
          </a:solidFill>
          <a:ln/>
        </p:spPr>
      </p:sp>
      <p:sp>
        <p:nvSpPr>
          <p:cNvPr id="18" name="Text 16"/>
          <p:cNvSpPr txBox="1"/>
          <p:nvPr/>
        </p:nvSpPr>
        <p:spPr>
          <a:xfrm>
            <a:off x="1655064" y="3511296"/>
            <a:ext cx="1737360" cy="274320"/>
          </a:xfrm>
          <a:prstGeom prst="rect">
            <a:avLst/>
          </a:prstGeom>
          <a:noFill/>
          <a:ln/>
        </p:spPr>
        <p:txBody>
          <a:bodyPr wrap="square" lIns="0" tIns="0" rIns="0" bIns="0" rtlCol="0" anchor="ctr"/>
          <a:lstStyle/>
          <a:p>
            <a:pPr algn="l" indent="0" marL="0">
              <a:buNone/>
            </a:pPr>
            <a:r>
              <a:rPr lang="en-US" sz="1400" b="1" dirty="0">
                <a:solidFill>
                  <a:srgbClr val="14201B"/>
                </a:solidFill>
                <a:latin typeface="Barlow Condensed" pitchFamily="34" charset="0"/>
                <a:ea typeface="Barlow Condensed" pitchFamily="34" charset="-122"/>
                <a:cs typeface="Barlow Condensed" pitchFamily="34" charset="-120"/>
              </a:rPr>
              <a:t>FPL, Sofascore</a:t>
            </a:r>
            <a:endParaRPr lang="en-US" sz="1400" dirty="0"/>
          </a:p>
        </p:txBody>
      </p:sp>
      <p:sp>
        <p:nvSpPr>
          <p:cNvPr id="19" name="Text 17"/>
          <p:cNvSpPr txBox="1"/>
          <p:nvPr/>
        </p:nvSpPr>
        <p:spPr>
          <a:xfrm>
            <a:off x="1655064" y="3749040"/>
            <a:ext cx="173736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the fan, not the player</a:t>
            </a:r>
            <a:endParaRPr lang="en-US" sz="850" dirty="0"/>
          </a:p>
        </p:txBody>
      </p:sp>
      <p:sp>
        <p:nvSpPr>
          <p:cNvPr id="20" name="Shape 18"/>
          <p:cNvSpPr/>
          <p:nvPr/>
        </p:nvSpPr>
        <p:spPr>
          <a:xfrm>
            <a:off x="2894990" y="3090672"/>
            <a:ext cx="201168" cy="201168"/>
          </a:xfrm>
          <a:prstGeom prst="roundRect">
            <a:avLst>
              <a:gd name="adj" fmla="val 50000"/>
            </a:avLst>
          </a:prstGeom>
          <a:solidFill>
            <a:srgbClr val="6E7A73"/>
          </a:solidFill>
          <a:ln/>
        </p:spPr>
      </p:sp>
      <p:sp>
        <p:nvSpPr>
          <p:cNvPr id="21" name="Text 19"/>
          <p:cNvSpPr txBox="1"/>
          <p:nvPr/>
        </p:nvSpPr>
        <p:spPr>
          <a:xfrm>
            <a:off x="3169310" y="3044952"/>
            <a:ext cx="1737360" cy="274320"/>
          </a:xfrm>
          <a:prstGeom prst="rect">
            <a:avLst/>
          </a:prstGeom>
          <a:noFill/>
          <a:ln/>
        </p:spPr>
        <p:txBody>
          <a:bodyPr wrap="square" lIns="0" tIns="0" rIns="0" bIns="0" rtlCol="0" anchor="ctr"/>
          <a:lstStyle/>
          <a:p>
            <a:pPr algn="l" indent="0" marL="0">
              <a:buNone/>
            </a:pPr>
            <a:r>
              <a:rPr lang="en-US" sz="1400" b="1" dirty="0">
                <a:solidFill>
                  <a:srgbClr val="14201B"/>
                </a:solidFill>
                <a:latin typeface="Barlow Condensed" pitchFamily="34" charset="0"/>
                <a:ea typeface="Barlow Condensed" pitchFamily="34" charset="-122"/>
                <a:cs typeface="Barlow Condensed" pitchFamily="34" charset="-120"/>
              </a:rPr>
              <a:t>Footy Addicts</a:t>
            </a:r>
            <a:endParaRPr lang="en-US" sz="1400" dirty="0"/>
          </a:p>
        </p:txBody>
      </p:sp>
      <p:sp>
        <p:nvSpPr>
          <p:cNvPr id="22" name="Text 20"/>
          <p:cNvSpPr txBox="1"/>
          <p:nvPr/>
        </p:nvSpPr>
        <p:spPr>
          <a:xfrm>
            <a:off x="3169310" y="3282696"/>
            <a:ext cx="173736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strangers, per-head fees</a:t>
            </a:r>
            <a:endParaRPr lang="en-US" sz="850" dirty="0"/>
          </a:p>
        </p:txBody>
      </p:sp>
      <p:sp>
        <p:nvSpPr>
          <p:cNvPr id="23" name="Shape 21"/>
          <p:cNvSpPr/>
          <p:nvPr/>
        </p:nvSpPr>
        <p:spPr>
          <a:xfrm>
            <a:off x="1907438" y="4956048"/>
            <a:ext cx="201168" cy="201168"/>
          </a:xfrm>
          <a:prstGeom prst="roundRect">
            <a:avLst>
              <a:gd name="adj" fmla="val 50000"/>
            </a:avLst>
          </a:prstGeom>
          <a:solidFill>
            <a:srgbClr val="6E7A73"/>
          </a:solidFill>
          <a:ln/>
        </p:spPr>
      </p:sp>
      <p:sp>
        <p:nvSpPr>
          <p:cNvPr id="24" name="Text 22"/>
          <p:cNvSpPr txBox="1"/>
          <p:nvPr/>
        </p:nvSpPr>
        <p:spPr>
          <a:xfrm>
            <a:off x="2181758" y="4910328"/>
            <a:ext cx="1737360" cy="274320"/>
          </a:xfrm>
          <a:prstGeom prst="rect">
            <a:avLst/>
          </a:prstGeom>
          <a:noFill/>
          <a:ln/>
        </p:spPr>
        <p:txBody>
          <a:bodyPr wrap="square" lIns="0" tIns="0" rIns="0" bIns="0" rtlCol="0" anchor="ctr"/>
          <a:lstStyle/>
          <a:p>
            <a:pPr algn="l" indent="0" marL="0">
              <a:buNone/>
            </a:pPr>
            <a:r>
              <a:rPr lang="en-US" sz="1400" b="1" dirty="0">
                <a:solidFill>
                  <a:srgbClr val="14201B"/>
                </a:solidFill>
                <a:latin typeface="Barlow Condensed" pitchFamily="34" charset="0"/>
                <a:ea typeface="Barlow Condensed" pitchFamily="34" charset="-122"/>
                <a:cs typeface="Barlow Condensed" pitchFamily="34" charset="-120"/>
              </a:rPr>
              <a:t>Playtomic</a:t>
            </a:r>
            <a:endParaRPr lang="en-US" sz="1400" dirty="0"/>
          </a:p>
        </p:txBody>
      </p:sp>
      <p:sp>
        <p:nvSpPr>
          <p:cNvPr id="25" name="Text 23"/>
          <p:cNvSpPr txBox="1"/>
          <p:nvPr/>
        </p:nvSpPr>
        <p:spPr>
          <a:xfrm>
            <a:off x="2181758" y="5148072"/>
            <a:ext cx="173736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padel booking, €65M, 1.3★</a:t>
            </a:r>
            <a:endParaRPr lang="en-US" sz="850" dirty="0"/>
          </a:p>
        </p:txBody>
      </p:sp>
      <p:sp>
        <p:nvSpPr>
          <p:cNvPr id="26" name="Shape 24"/>
          <p:cNvSpPr/>
          <p:nvPr/>
        </p:nvSpPr>
        <p:spPr>
          <a:xfrm>
            <a:off x="5462626" y="5266944"/>
            <a:ext cx="201168" cy="201168"/>
          </a:xfrm>
          <a:prstGeom prst="roundRect">
            <a:avLst>
              <a:gd name="adj" fmla="val 50000"/>
            </a:avLst>
          </a:prstGeom>
          <a:solidFill>
            <a:srgbClr val="6E7A73"/>
          </a:solidFill>
          <a:ln/>
        </p:spPr>
      </p:sp>
      <p:sp>
        <p:nvSpPr>
          <p:cNvPr id="27" name="Text 25"/>
          <p:cNvSpPr txBox="1"/>
          <p:nvPr/>
        </p:nvSpPr>
        <p:spPr>
          <a:xfrm>
            <a:off x="5736946" y="5221224"/>
            <a:ext cx="1737360" cy="274320"/>
          </a:xfrm>
          <a:prstGeom prst="rect">
            <a:avLst/>
          </a:prstGeom>
          <a:noFill/>
          <a:ln/>
        </p:spPr>
        <p:txBody>
          <a:bodyPr wrap="square" lIns="0" tIns="0" rIns="0" bIns="0" rtlCol="0" anchor="ctr"/>
          <a:lstStyle/>
          <a:p>
            <a:pPr algn="l" indent="0" marL="0">
              <a:buNone/>
            </a:pPr>
            <a:r>
              <a:rPr lang="en-US" sz="1400" b="1" dirty="0">
                <a:solidFill>
                  <a:srgbClr val="14201B"/>
                </a:solidFill>
                <a:latin typeface="Barlow Condensed" pitchFamily="34" charset="0"/>
                <a:ea typeface="Barlow Condensed" pitchFamily="34" charset="-122"/>
                <a:cs typeface="Barlow Condensed" pitchFamily="34" charset="-120"/>
              </a:rPr>
              <a:t>Spond</a:t>
            </a:r>
            <a:endParaRPr lang="en-US" sz="1400" dirty="0"/>
          </a:p>
        </p:txBody>
      </p:sp>
      <p:sp>
        <p:nvSpPr>
          <p:cNvPr id="28" name="Text 26"/>
          <p:cNvSpPr txBox="1"/>
          <p:nvPr/>
        </p:nvSpPr>
        <p:spPr>
          <a:xfrm>
            <a:off x="5736946" y="5458968"/>
            <a:ext cx="173736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youth and parents, 4M MAU</a:t>
            </a:r>
            <a:endParaRPr lang="en-US" sz="850" dirty="0"/>
          </a:p>
        </p:txBody>
      </p:sp>
      <p:sp>
        <p:nvSpPr>
          <p:cNvPr id="29" name="Shape 27"/>
          <p:cNvSpPr/>
          <p:nvPr/>
        </p:nvSpPr>
        <p:spPr>
          <a:xfrm>
            <a:off x="4540910" y="4256532"/>
            <a:ext cx="201168" cy="201168"/>
          </a:xfrm>
          <a:prstGeom prst="roundRect">
            <a:avLst>
              <a:gd name="adj" fmla="val 50000"/>
            </a:avLst>
          </a:prstGeom>
          <a:solidFill>
            <a:srgbClr val="6E7A73"/>
          </a:solidFill>
          <a:ln/>
        </p:spPr>
      </p:sp>
      <p:sp>
        <p:nvSpPr>
          <p:cNvPr id="30" name="Text 28"/>
          <p:cNvSpPr txBox="1"/>
          <p:nvPr/>
        </p:nvSpPr>
        <p:spPr>
          <a:xfrm>
            <a:off x="4815230" y="4210812"/>
            <a:ext cx="2194560" cy="274320"/>
          </a:xfrm>
          <a:prstGeom prst="rect">
            <a:avLst/>
          </a:prstGeom>
          <a:noFill/>
          <a:ln/>
        </p:spPr>
        <p:txBody>
          <a:bodyPr wrap="square" lIns="0" tIns="0" rIns="0" bIns="0" rtlCol="0" anchor="ctr"/>
          <a:lstStyle/>
          <a:p>
            <a:pPr algn="l" indent="0" marL="0">
              <a:buNone/>
            </a:pPr>
            <a:r>
              <a:rPr lang="en-US" sz="1400" b="1" dirty="0">
                <a:solidFill>
                  <a:srgbClr val="14201B"/>
                </a:solidFill>
                <a:latin typeface="Barlow Condensed" pitchFamily="34" charset="0"/>
                <a:ea typeface="Barlow Condensed" pitchFamily="34" charset="-122"/>
                <a:cs typeface="Barlow Condensed" pitchFamily="34" charset="-120"/>
              </a:rPr>
              <a:t>Capo, Quick9, ParUp</a:t>
            </a:r>
            <a:endParaRPr lang="en-US" sz="1400" dirty="0"/>
          </a:p>
        </p:txBody>
      </p:sp>
      <p:sp>
        <p:nvSpPr>
          <p:cNvPr id="31" name="Text 29"/>
          <p:cNvSpPr txBox="1"/>
          <p:nvPr/>
        </p:nvSpPr>
        <p:spPr>
          <a:xfrm>
            <a:off x="4815230" y="4448556"/>
            <a:ext cx="219456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single-sport organiser tools</a:t>
            </a:r>
            <a:endParaRPr lang="en-US" sz="850" dirty="0"/>
          </a:p>
        </p:txBody>
      </p:sp>
      <p:sp>
        <p:nvSpPr>
          <p:cNvPr id="32" name="Shape 30"/>
          <p:cNvSpPr/>
          <p:nvPr/>
        </p:nvSpPr>
        <p:spPr>
          <a:xfrm>
            <a:off x="5539435" y="2880360"/>
            <a:ext cx="310896" cy="310896"/>
          </a:xfrm>
          <a:prstGeom prst="roundRect">
            <a:avLst>
              <a:gd name="adj" fmla="val 50000"/>
            </a:avLst>
          </a:prstGeom>
          <a:solidFill>
            <a:srgbClr val="1E8A4C"/>
          </a:solidFill>
          <a:ln/>
        </p:spPr>
      </p:sp>
      <p:sp>
        <p:nvSpPr>
          <p:cNvPr id="33" name="Text 31"/>
          <p:cNvSpPr txBox="1"/>
          <p:nvPr/>
        </p:nvSpPr>
        <p:spPr>
          <a:xfrm>
            <a:off x="5923483" y="2816352"/>
            <a:ext cx="2011680" cy="365760"/>
          </a:xfrm>
          <a:prstGeom prst="rect">
            <a:avLst/>
          </a:prstGeom>
          <a:noFill/>
          <a:ln/>
        </p:spPr>
        <p:txBody>
          <a:bodyPr wrap="square" lIns="0" tIns="0" rIns="0" bIns="0" rtlCol="0" anchor="ctr"/>
          <a:lstStyle/>
          <a:p>
            <a:pPr algn="l" indent="0" marL="0">
              <a:buNone/>
            </a:pPr>
            <a:r>
              <a:rPr lang="en-US" sz="2200" b="1" dirty="0">
                <a:solidFill>
                  <a:srgbClr val="146238"/>
                </a:solidFill>
                <a:latin typeface="Barlow Condensed" pitchFamily="34" charset="0"/>
                <a:ea typeface="Barlow Condensed" pitchFamily="34" charset="-122"/>
                <a:cs typeface="Barlow Condensed" pitchFamily="34" charset="-120"/>
              </a:rPr>
              <a:t>ROLL CALL</a:t>
            </a:r>
            <a:endParaRPr lang="en-US" sz="2200" dirty="0"/>
          </a:p>
        </p:txBody>
      </p:sp>
      <p:sp>
        <p:nvSpPr>
          <p:cNvPr id="34" name="Text 32"/>
          <p:cNvSpPr txBox="1"/>
          <p:nvPr/>
        </p:nvSpPr>
        <p:spPr>
          <a:xfrm>
            <a:off x="5923483" y="3200400"/>
            <a:ext cx="2011680" cy="274320"/>
          </a:xfrm>
          <a:prstGeom prst="rect">
            <a:avLst/>
          </a:prstGeom>
          <a:noFill/>
          <a:ln/>
        </p:spPr>
        <p:txBody>
          <a:bodyPr wrap="square" lIns="0" tIns="0" rIns="0" bIns="0" rtlCol="0" anchor="t"/>
          <a:lstStyle/>
          <a:p>
            <a:pPr algn="l" indent="0" marL="0">
              <a:buNone/>
            </a:pPr>
            <a:r>
              <a:rPr lang="en-US" sz="850" dirty="0">
                <a:solidFill>
                  <a:srgbClr val="6E7A73"/>
                </a:solidFill>
                <a:latin typeface="Arial" pitchFamily="34" charset="0"/>
                <a:ea typeface="Arial" pitchFamily="34" charset="-122"/>
                <a:cs typeface="Arial" pitchFamily="34" charset="-120"/>
              </a:rPr>
              <a:t>crew-first, cross-sport, adult</a:t>
            </a:r>
            <a:endParaRPr lang="en-US" sz="850" dirty="0"/>
          </a:p>
        </p:txBody>
      </p:sp>
      <p:sp>
        <p:nvSpPr>
          <p:cNvPr id="35" name="Text 33"/>
          <p:cNvSpPr txBox="1"/>
          <p:nvPr/>
        </p:nvSpPr>
        <p:spPr>
          <a:xfrm>
            <a:off x="7818120" y="2103120"/>
            <a:ext cx="3824935" cy="274320"/>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WHY IT HOLDS</a:t>
            </a:r>
            <a:endParaRPr lang="en-US" sz="1000" dirty="0"/>
          </a:p>
        </p:txBody>
      </p:sp>
      <p:sp>
        <p:nvSpPr>
          <p:cNvPr id="36" name="Text 34"/>
          <p:cNvSpPr txBox="1"/>
          <p:nvPr/>
        </p:nvSpPr>
        <p:spPr>
          <a:xfrm>
            <a:off x="7818120" y="2468880"/>
            <a:ext cx="38249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A crew brings its own liquidity</a:t>
            </a:r>
            <a:endParaRPr lang="en-US" sz="1600" dirty="0"/>
          </a:p>
        </p:txBody>
      </p:sp>
      <p:sp>
        <p:nvSpPr>
          <p:cNvPr id="37" name="Text 35"/>
          <p:cNvSpPr txBox="1"/>
          <p:nvPr/>
        </p:nvSpPr>
        <p:spPr>
          <a:xfrm>
            <a:off x="7818120" y="2761488"/>
            <a:ext cx="3824935" cy="548640"/>
          </a:xfrm>
          <a:prstGeom prst="rect">
            <a:avLst/>
          </a:prstGeom>
          <a:noFill/>
          <a:ln/>
        </p:spPr>
        <p:txBody>
          <a:bodyPr wrap="square" lIns="0" tIns="0" rIns="0" bIns="0" rtlCol="0" anchor="t"/>
          <a:lstStyle/>
          <a:p>
            <a:pPr algn="l" indent="0" marL="0">
              <a:lnSpc>
                <a:spcPct val="110000"/>
              </a:lnSpc>
              <a:buNone/>
            </a:pPr>
            <a:r>
              <a:rPr lang="en-US" sz="1050" dirty="0">
                <a:solidFill>
                  <a:srgbClr val="3E4A44"/>
                </a:solidFill>
                <a:latin typeface="Arial" pitchFamily="34" charset="0"/>
                <a:ea typeface="Arial" pitchFamily="34" charset="-122"/>
                <a:cs typeface="Arial" pitchFamily="34" charset="-120"/>
              </a:rPr>
              <a:t>We never find players. One organiser brings 8 to 20 people in a single share.</a:t>
            </a:r>
            <a:endParaRPr lang="en-US" sz="1050" dirty="0"/>
          </a:p>
        </p:txBody>
      </p:sp>
      <p:sp>
        <p:nvSpPr>
          <p:cNvPr id="38" name="Text 36"/>
          <p:cNvSpPr txBox="1"/>
          <p:nvPr/>
        </p:nvSpPr>
        <p:spPr>
          <a:xfrm>
            <a:off x="7818120" y="3364992"/>
            <a:ext cx="38249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Cross-sport identity</a:t>
            </a:r>
            <a:endParaRPr lang="en-US" sz="1600" dirty="0"/>
          </a:p>
        </p:txBody>
      </p:sp>
      <p:sp>
        <p:nvSpPr>
          <p:cNvPr id="39" name="Text 37"/>
          <p:cNvSpPr txBox="1"/>
          <p:nvPr/>
        </p:nvSpPr>
        <p:spPr>
          <a:xfrm>
            <a:off x="7818120" y="3657600"/>
            <a:ext cx="3824935" cy="548640"/>
          </a:xfrm>
          <a:prstGeom prst="rect">
            <a:avLst/>
          </a:prstGeom>
          <a:noFill/>
          <a:ln/>
        </p:spPr>
        <p:txBody>
          <a:bodyPr wrap="square" lIns="0" tIns="0" rIns="0" bIns="0" rtlCol="0" anchor="t"/>
          <a:lstStyle/>
          <a:p>
            <a:pPr algn="l" indent="0" marL="0">
              <a:lnSpc>
                <a:spcPct val="110000"/>
              </a:lnSpc>
              <a:buNone/>
            </a:pPr>
            <a:r>
              <a:rPr lang="en-US" sz="1050" dirty="0">
                <a:solidFill>
                  <a:srgbClr val="3E4A44"/>
                </a:solidFill>
                <a:latin typeface="Arial" pitchFamily="34" charset="0"/>
                <a:ea typeface="Arial" pitchFamily="34" charset="-122"/>
                <a:cs typeface="Arial" pitchFamily="34" charset="-120"/>
              </a:rPr>
              <a:t>One player card across football, padel and golf. No single-sport app can build it.</a:t>
            </a:r>
            <a:endParaRPr lang="en-US" sz="1050" dirty="0"/>
          </a:p>
        </p:txBody>
      </p:sp>
      <p:sp>
        <p:nvSpPr>
          <p:cNvPr id="40" name="Text 38"/>
          <p:cNvSpPr txBox="1"/>
          <p:nvPr/>
        </p:nvSpPr>
        <p:spPr>
          <a:xfrm>
            <a:off x="7818120" y="4261104"/>
            <a:ext cx="38249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An adult brand Spond cannot stretch to</a:t>
            </a:r>
            <a:endParaRPr lang="en-US" sz="1600" dirty="0"/>
          </a:p>
        </p:txBody>
      </p:sp>
      <p:sp>
        <p:nvSpPr>
          <p:cNvPr id="41" name="Text 39"/>
          <p:cNvSpPr txBox="1"/>
          <p:nvPr/>
        </p:nvSpPr>
        <p:spPr>
          <a:xfrm>
            <a:off x="7818120" y="4553712"/>
            <a:ext cx="3824935" cy="548640"/>
          </a:xfrm>
          <a:prstGeom prst="rect">
            <a:avLst/>
          </a:prstGeom>
          <a:noFill/>
          <a:ln/>
        </p:spPr>
        <p:txBody>
          <a:bodyPr wrap="square" lIns="0" tIns="0" rIns="0" bIns="0" rtlCol="0" anchor="t"/>
          <a:lstStyle/>
          <a:p>
            <a:pPr algn="l" indent="0" marL="0">
              <a:lnSpc>
                <a:spcPct val="110000"/>
              </a:lnSpc>
              <a:buNone/>
            </a:pPr>
            <a:r>
              <a:rPr lang="en-US" sz="1050" dirty="0">
                <a:solidFill>
                  <a:srgbClr val="3E4A44"/>
                </a:solidFill>
                <a:latin typeface="Arial" pitchFamily="34" charset="0"/>
                <a:ea typeface="Arial" pitchFamily="34" charset="-122"/>
                <a:cs typeface="Arial" pitchFamily="34" charset="-120"/>
              </a:rPr>
              <a:t>Spond is a parent's app. Ours lives in the group chat.</a:t>
            </a:r>
            <a:endParaRPr lang="en-US" sz="1050" dirty="0"/>
          </a:p>
        </p:txBody>
      </p:sp>
      <p:sp>
        <p:nvSpPr>
          <p:cNvPr id="42" name="Text 40"/>
          <p:cNvSpPr txBox="1"/>
          <p:nvPr/>
        </p:nvSpPr>
        <p:spPr>
          <a:xfrm>
            <a:off x="7818120" y="5157216"/>
            <a:ext cx="38249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Playtomic is padel-only</a:t>
            </a:r>
            <a:endParaRPr lang="en-US" sz="1600" dirty="0"/>
          </a:p>
        </p:txBody>
      </p:sp>
      <p:sp>
        <p:nvSpPr>
          <p:cNvPr id="43" name="Text 41"/>
          <p:cNvSpPr txBox="1"/>
          <p:nvPr/>
        </p:nvSpPr>
        <p:spPr>
          <a:xfrm>
            <a:off x="7818120" y="5449824"/>
            <a:ext cx="3824935" cy="548640"/>
          </a:xfrm>
          <a:prstGeom prst="rect">
            <a:avLst/>
          </a:prstGeom>
          <a:noFill/>
          <a:ln/>
        </p:spPr>
        <p:txBody>
          <a:bodyPr wrap="square" lIns="0" tIns="0" rIns="0" bIns="0" rtlCol="0" anchor="t"/>
          <a:lstStyle/>
          <a:p>
            <a:pPr algn="l" indent="0" marL="0">
              <a:lnSpc>
                <a:spcPct val="110000"/>
              </a:lnSpc>
              <a:buNone/>
            </a:pPr>
            <a:r>
              <a:rPr lang="en-US" sz="1050" dirty="0">
                <a:solidFill>
                  <a:srgbClr val="3E4A44"/>
                </a:solidFill>
                <a:latin typeface="Arial" pitchFamily="34" charset="0"/>
                <a:ea typeface="Arial" pitchFamily="34" charset="-122"/>
                <a:cs typeface="Arial" pitchFamily="34" charset="-120"/>
              </a:rPr>
              <a:t>And venue-first. The crew, not the court, is our unit.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BUSINESS MODEL</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NO SUBSCRIPTIONS. WE EARN FROM MONEY THAT ALREADY MOVES.</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11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Text 4"/>
          <p:cNvSpPr txBox="1"/>
          <p:nvPr/>
        </p:nvSpPr>
        <p:spPr>
          <a:xfrm>
            <a:off x="548640" y="2103120"/>
            <a:ext cx="6309360" cy="777240"/>
          </a:xfrm>
          <a:prstGeom prst="rect">
            <a:avLst/>
          </a:prstGeom>
          <a:noFill/>
          <a:ln/>
        </p:spPr>
        <p:txBody>
          <a:bodyPr wrap="square" lIns="0" tIns="0" rIns="0" bIns="0" rtlCol="0" anchor="t"/>
          <a:lstStyle/>
          <a:p>
            <a:pPr algn="l" indent="0" marL="0">
              <a:lnSpc>
                <a:spcPct val="120000"/>
              </a:lnSpc>
              <a:buNone/>
            </a:pPr>
            <a:r>
              <a:rPr lang="en-US" sz="1150" b="1" dirty="0">
                <a:solidFill>
                  <a:srgbClr val="14201B"/>
                </a:solidFill>
                <a:latin typeface="Arial" pitchFamily="34" charset="0"/>
                <a:ea typeface="Arial" pitchFamily="34" charset="-122"/>
                <a:cs typeface="Arial" pitchFamily="34" charset="-120"/>
              </a:rPr>
              <a:t>Why no subscription. </a:t>
            </a:r>
            <a:pPr algn="l" indent="0" marL="0">
              <a:lnSpc>
                <a:spcPct val="120000"/>
              </a:lnSpc>
              <a:buNone/>
            </a:pPr>
            <a:r>
              <a:rPr lang="en-US" sz="1150" dirty="0">
                <a:solidFill>
                  <a:srgbClr val="3E4A44"/>
                </a:solidFill>
                <a:latin typeface="Arial" pitchFamily="34" charset="0"/>
                <a:ea typeface="Arial" pitchFamily="34" charset="-122"/>
                <a:cs typeface="Arial" pitchFamily="34" charset="-120"/>
              </a:rPr>
              <a:t>Every incumbent's reviews say the same thing: subscriptions and hidden fees are resented. Golf apps show the ceiling and a paywall on the organiser kills the one person who brings a crew.</a:t>
            </a:r>
            <a:endParaRPr lang="en-US" sz="1150" dirty="0"/>
          </a:p>
        </p:txBody>
      </p:sp>
      <p:sp>
        <p:nvSpPr>
          <p:cNvPr id="7" name="Shape 5"/>
          <p:cNvSpPr/>
          <p:nvPr/>
        </p:nvSpPr>
        <p:spPr>
          <a:xfrm>
            <a:off x="548640" y="3017520"/>
            <a:ext cx="6309360" cy="914400"/>
          </a:xfrm>
          <a:prstGeom prst="roundRect">
            <a:avLst>
              <a:gd name="adj" fmla="val 8000"/>
            </a:avLst>
          </a:prstGeom>
          <a:solidFill>
            <a:srgbClr val="FFFFFF"/>
          </a:solidFill>
          <a:ln w="9525">
            <a:solidFill>
              <a:srgbClr val="D5DAD2"/>
            </a:solidFill>
            <a:prstDash val="solid"/>
          </a:ln>
        </p:spPr>
      </p:sp>
      <p:sp>
        <p:nvSpPr>
          <p:cNvPr id="8" name="Text 6"/>
          <p:cNvSpPr txBox="1"/>
          <p:nvPr/>
        </p:nvSpPr>
        <p:spPr>
          <a:xfrm>
            <a:off x="731520" y="3282696"/>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1</a:t>
            </a:r>
            <a:endParaRPr lang="en-US" sz="1600" dirty="0"/>
          </a:p>
        </p:txBody>
      </p:sp>
      <p:sp>
        <p:nvSpPr>
          <p:cNvPr id="9" name="Text 7"/>
          <p:cNvSpPr txBox="1"/>
          <p:nvPr/>
        </p:nvSpPr>
        <p:spPr>
          <a:xfrm>
            <a:off x="1280160" y="3108960"/>
            <a:ext cx="2651760" cy="292608"/>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PAYMENTS FEE</a:t>
            </a:r>
            <a:endParaRPr lang="en-US" sz="1700" dirty="0"/>
          </a:p>
        </p:txBody>
      </p:sp>
      <p:sp>
        <p:nvSpPr>
          <p:cNvPr id="10" name="Text 8"/>
          <p:cNvSpPr txBox="1"/>
          <p:nvPr/>
        </p:nvSpPr>
        <p:spPr>
          <a:xfrm>
            <a:off x="3657600" y="3136392"/>
            <a:ext cx="3063240" cy="237744"/>
          </a:xfrm>
          <a:prstGeom prst="rect">
            <a:avLst/>
          </a:prstGeom>
          <a:noFill/>
          <a:ln/>
        </p:spPr>
        <p:txBody>
          <a:bodyPr wrap="square" lIns="0" tIns="0" rIns="0" bIns="0" rtlCol="0" anchor="ctr"/>
          <a:lstStyle/>
          <a:p>
            <a:pPr algn="r" indent="0" marL="0">
              <a:buNone/>
            </a:pPr>
            <a:r>
              <a:rPr lang="en-US" sz="750" b="1" spc="100" kern="0" dirty="0">
                <a:solidFill>
                  <a:srgbClr val="7A5A00"/>
                </a:solidFill>
                <a:latin typeface="Courier New" pitchFamily="34" charset="0"/>
                <a:ea typeface="Courier New" pitchFamily="34" charset="-122"/>
                <a:cs typeface="Courier New" pitchFamily="34" charset="-120"/>
              </a:rPr>
              <a:t>ASSUMPTION: ~2.5% + 20P PER PAYER</a:t>
            </a:r>
            <a:endParaRPr lang="en-US" sz="750" dirty="0"/>
          </a:p>
        </p:txBody>
      </p:sp>
      <p:sp>
        <p:nvSpPr>
          <p:cNvPr id="11" name="Text 9"/>
          <p:cNvSpPr txBox="1"/>
          <p:nvPr/>
        </p:nvSpPr>
        <p:spPr>
          <a:xfrm>
            <a:off x="1280160" y="3401568"/>
            <a:ext cx="5394960" cy="5029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A transparent per-session fee on collected money once Stripe Connect is live, shown on the pin and the card. Spond's model, applied to adults.</a:t>
            </a:r>
            <a:endParaRPr lang="en-US" sz="1000" dirty="0"/>
          </a:p>
        </p:txBody>
      </p:sp>
      <p:sp>
        <p:nvSpPr>
          <p:cNvPr id="12" name="Shape 10"/>
          <p:cNvSpPr/>
          <p:nvPr/>
        </p:nvSpPr>
        <p:spPr>
          <a:xfrm>
            <a:off x="548640" y="4041648"/>
            <a:ext cx="6309360" cy="914400"/>
          </a:xfrm>
          <a:prstGeom prst="roundRect">
            <a:avLst>
              <a:gd name="adj" fmla="val 8000"/>
            </a:avLst>
          </a:prstGeom>
          <a:solidFill>
            <a:srgbClr val="FFFFFF"/>
          </a:solidFill>
          <a:ln w="9525">
            <a:solidFill>
              <a:srgbClr val="D5DAD2"/>
            </a:solidFill>
            <a:prstDash val="solid"/>
          </a:ln>
        </p:spPr>
      </p:sp>
      <p:sp>
        <p:nvSpPr>
          <p:cNvPr id="13" name="Text 11"/>
          <p:cNvSpPr txBox="1"/>
          <p:nvPr/>
        </p:nvSpPr>
        <p:spPr>
          <a:xfrm>
            <a:off x="731520" y="4306824"/>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2</a:t>
            </a:r>
            <a:endParaRPr lang="en-US" sz="1600" dirty="0"/>
          </a:p>
        </p:txBody>
      </p:sp>
      <p:sp>
        <p:nvSpPr>
          <p:cNvPr id="14" name="Text 12"/>
          <p:cNvSpPr txBox="1"/>
          <p:nvPr/>
        </p:nvSpPr>
        <p:spPr>
          <a:xfrm>
            <a:off x="1280160" y="4133088"/>
            <a:ext cx="2651760" cy="292608"/>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VENUE PARTNERSHIPS</a:t>
            </a:r>
            <a:endParaRPr lang="en-US" sz="1700" dirty="0"/>
          </a:p>
        </p:txBody>
      </p:sp>
      <p:sp>
        <p:nvSpPr>
          <p:cNvPr id="15" name="Text 13"/>
          <p:cNvSpPr txBox="1"/>
          <p:nvPr/>
        </p:nvSpPr>
        <p:spPr>
          <a:xfrm>
            <a:off x="3657600" y="4160520"/>
            <a:ext cx="3063240" cy="237744"/>
          </a:xfrm>
          <a:prstGeom prst="rect">
            <a:avLst/>
          </a:prstGeom>
          <a:noFill/>
          <a:ln/>
        </p:spPr>
        <p:txBody>
          <a:bodyPr wrap="square" lIns="0" tIns="0" rIns="0" bIns="0" rtlCol="0" anchor="ctr"/>
          <a:lstStyle/>
          <a:p>
            <a:pPr algn="r" indent="0" marL="0">
              <a:buNone/>
            </a:pPr>
            <a:r>
              <a:rPr lang="en-US" sz="750" b="1" spc="100" kern="0" dirty="0">
                <a:solidFill>
                  <a:srgbClr val="6E7A73"/>
                </a:solidFill>
                <a:latin typeface="Courier New" pitchFamily="34" charset="0"/>
                <a:ea typeface="Courier New" pitchFamily="34" charset="-122"/>
                <a:cs typeface="Courier New" pitchFamily="34" charset="-120"/>
              </a:rPr>
              <a:t>FROM V2, AFTER RETENTION DATA</a:t>
            </a:r>
            <a:endParaRPr lang="en-US" sz="750" dirty="0"/>
          </a:p>
        </p:txBody>
      </p:sp>
      <p:sp>
        <p:nvSpPr>
          <p:cNvPr id="16" name="Text 14"/>
          <p:cNvSpPr txBox="1"/>
          <p:nvPr/>
        </p:nvSpPr>
        <p:spPr>
          <a:xfrm>
            <a:off x="1280160" y="4425696"/>
            <a:ext cx="5394960" cy="5029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Venues pay for reliable crews: standing slot placement, off-peak fills, a referral fee or discount share. No booking fee, no exclusivity.</a:t>
            </a:r>
            <a:endParaRPr lang="en-US" sz="1000" dirty="0"/>
          </a:p>
        </p:txBody>
      </p:sp>
      <p:sp>
        <p:nvSpPr>
          <p:cNvPr id="17" name="Shape 15"/>
          <p:cNvSpPr/>
          <p:nvPr/>
        </p:nvSpPr>
        <p:spPr>
          <a:xfrm>
            <a:off x="548640" y="5065776"/>
            <a:ext cx="6309360" cy="914400"/>
          </a:xfrm>
          <a:prstGeom prst="roundRect">
            <a:avLst>
              <a:gd name="adj" fmla="val 8000"/>
            </a:avLst>
          </a:prstGeom>
          <a:solidFill>
            <a:srgbClr val="FFFFFF"/>
          </a:solidFill>
          <a:ln w="9525">
            <a:solidFill>
              <a:srgbClr val="D5DAD2"/>
            </a:solidFill>
            <a:prstDash val="solid"/>
          </a:ln>
        </p:spPr>
      </p:sp>
      <p:sp>
        <p:nvSpPr>
          <p:cNvPr id="18" name="Text 16"/>
          <p:cNvSpPr txBox="1"/>
          <p:nvPr/>
        </p:nvSpPr>
        <p:spPr>
          <a:xfrm>
            <a:off x="731520" y="5330952"/>
            <a:ext cx="384048" cy="384048"/>
          </a:xfrm>
          <a:prstGeom prst="roundRect">
            <a:avLst>
              <a:gd name="adj" fmla="val 50000"/>
            </a:avLst>
          </a:prstGeom>
          <a:solidFill>
            <a:srgbClr val="1E8A4C"/>
          </a:solidFill>
          <a:ln/>
        </p:spPr>
        <p:txBody>
          <a:bodyPr wrap="square" lIns="0" tIns="0" rIns="0" bIns="0" rtlCol="0" anchor="ctr"/>
          <a:lstStyle/>
          <a:p>
            <a:pPr algn="ctr" indent="0" marL="0">
              <a:buNone/>
            </a:pPr>
            <a:r>
              <a:rPr lang="en-US" sz="1600" b="1" dirty="0">
                <a:solidFill>
                  <a:srgbClr val="FFFFFF"/>
                </a:solidFill>
                <a:latin typeface="Barlow Condensed" pitchFamily="34" charset="0"/>
                <a:ea typeface="Barlow Condensed" pitchFamily="34" charset="-122"/>
                <a:cs typeface="Barlow Condensed" pitchFamily="34" charset="-120"/>
              </a:rPr>
              <a:t>3</a:t>
            </a:r>
            <a:endParaRPr lang="en-US" sz="1600" dirty="0"/>
          </a:p>
        </p:txBody>
      </p:sp>
      <p:sp>
        <p:nvSpPr>
          <p:cNvPr id="19" name="Text 17"/>
          <p:cNvSpPr txBox="1"/>
          <p:nvPr/>
        </p:nvSpPr>
        <p:spPr>
          <a:xfrm>
            <a:off x="1280160" y="5157216"/>
            <a:ext cx="2651760" cy="292608"/>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PREMIUM CREW FEATURES</a:t>
            </a:r>
            <a:endParaRPr lang="en-US" sz="1700" dirty="0"/>
          </a:p>
        </p:txBody>
      </p:sp>
      <p:sp>
        <p:nvSpPr>
          <p:cNvPr id="20" name="Text 18"/>
          <p:cNvSpPr txBox="1"/>
          <p:nvPr/>
        </p:nvSpPr>
        <p:spPr>
          <a:xfrm>
            <a:off x="3657600" y="5184648"/>
            <a:ext cx="3063240" cy="237744"/>
          </a:xfrm>
          <a:prstGeom prst="rect">
            <a:avLst/>
          </a:prstGeom>
          <a:noFill/>
          <a:ln/>
        </p:spPr>
        <p:txBody>
          <a:bodyPr wrap="square" lIns="0" tIns="0" rIns="0" bIns="0" rtlCol="0" anchor="ctr"/>
          <a:lstStyle/>
          <a:p>
            <a:pPr algn="r" indent="0" marL="0">
              <a:buNone/>
            </a:pPr>
            <a:r>
              <a:rPr lang="en-US" sz="750" b="1" spc="100" kern="0" dirty="0">
                <a:solidFill>
                  <a:srgbClr val="6E7A73"/>
                </a:solidFill>
                <a:latin typeface="Courier New" pitchFamily="34" charset="0"/>
                <a:ea typeface="Courier New" pitchFamily="34" charset="-122"/>
                <a:cs typeface="Courier New" pitchFamily="34" charset="-120"/>
              </a:rPr>
              <a:t>LATER</a:t>
            </a:r>
            <a:endParaRPr lang="en-US" sz="750" dirty="0"/>
          </a:p>
        </p:txBody>
      </p:sp>
      <p:sp>
        <p:nvSpPr>
          <p:cNvPr id="21" name="Text 19"/>
          <p:cNvSpPr txBox="1"/>
          <p:nvPr/>
        </p:nvSpPr>
        <p:spPr>
          <a:xfrm>
            <a:off x="1280160" y="5449824"/>
            <a:ext cx="5394960" cy="5029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Awards night generator, custom card designs, extended history. One-off per crew per season, never rolling.</a:t>
            </a:r>
            <a:endParaRPr lang="en-US" sz="1000" dirty="0"/>
          </a:p>
        </p:txBody>
      </p:sp>
      <p:sp>
        <p:nvSpPr>
          <p:cNvPr id="22" name="Text 20"/>
          <p:cNvSpPr txBox="1"/>
          <p:nvPr/>
        </p:nvSpPr>
        <p:spPr>
          <a:xfrm>
            <a:off x="7269480" y="2103120"/>
            <a:ext cx="4373575"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UNIT ECONOMICS PER CREW PER MONTH (ASSUMPTIONS)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269480" y="2423160"/>
          <a:ext cx="4373575" cy="914400"/>
        </p:xfrm>
        <a:graphic>
          <a:graphicData uri="http://schemas.openxmlformats.org/drawingml/2006/table">
            <a:tbl>
              <a:tblPr/>
              <a:tblGrid>
                <a:gridCol w="2331720"/>
                <a:gridCol w="1019556"/>
                <a:gridCol w="1019556"/>
              </a:tblGrid>
              <a:tr h="329184">
                <a:tc>
                  <a:txBody>
                    <a:bodyPr/>
                    <a:lstStyle/>
                    <a:p>
                      <a:pPr indent="0" marL="0">
                        <a:buNone/>
                      </a:pPr>
                      <a:endParaRPr lang="en-US" sz="800" dirty="0">
                        <a:latin typeface="Courier New" charset="0"/>
                        <a:ea typeface="Courier New" charset="0"/>
                        <a:cs typeface="Courier New"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r" indent="0" marL="0">
                        <a:buNone/>
                      </a:pPr>
                      <a:r>
                        <a:rPr lang="en-US" sz="800" b="1" dirty="0">
                          <a:solidFill>
                            <a:srgbClr val="14201B"/>
                          </a:solidFill>
                          <a:latin typeface="Courier New" pitchFamily="34" charset="0"/>
                          <a:ea typeface="Courier New" pitchFamily="34" charset="-122"/>
                          <a:cs typeface="Courier New" pitchFamily="34" charset="-120"/>
                        </a:rPr>
                        <a:t>FOOTBALL CREW</a:t>
                      </a:r>
                      <a:endParaRPr lang="en-US" sz="800" dirty="0">
                        <a:latin typeface="Courier New" charset="0"/>
                        <a:ea typeface="Courier New" charset="0"/>
                        <a:cs typeface="Courier New"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r" indent="0" marL="0">
                        <a:buNone/>
                      </a:pPr>
                      <a:r>
                        <a:rPr lang="en-US" sz="800" b="1" dirty="0">
                          <a:solidFill>
                            <a:srgbClr val="14201B"/>
                          </a:solidFill>
                          <a:latin typeface="Courier New" pitchFamily="34" charset="0"/>
                          <a:ea typeface="Courier New" pitchFamily="34" charset="-122"/>
                          <a:cs typeface="Courier New" pitchFamily="34" charset="-120"/>
                        </a:rPr>
                        <a:t>PADEL FOUR</a:t>
                      </a:r>
                      <a:endParaRPr lang="en-US" sz="800" dirty="0">
                        <a:latin typeface="Courier New" charset="0"/>
                        <a:ea typeface="Courier New" charset="0"/>
                        <a:cs typeface="Courier New"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r h="329184">
                <a:tc>
                  <a:txBody>
                    <a:bodyPr/>
                    <a:lstStyle/>
                    <a:p>
                      <a:pPr indent="0" marL="0">
                        <a:buNone/>
                      </a:pPr>
                      <a:r>
                        <a:rPr lang="en-US" sz="950" dirty="0">
                          <a:solidFill>
                            <a:srgbClr val="3E4A44"/>
                          </a:solidFill>
                          <a:latin typeface="Arial" pitchFamily="34" charset="0"/>
                          <a:ea typeface="Arial" pitchFamily="34" charset="-122"/>
                          <a:cs typeface="Arial" pitchFamily="34" charset="-120"/>
                        </a:rPr>
                        <a:t>Sessions per month</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329184">
                <a:tc>
                  <a:txBody>
                    <a:bodyPr/>
                    <a:lstStyle/>
                    <a:p>
                      <a:pPr indent="0" marL="0">
                        <a:buNone/>
                      </a:pPr>
                      <a:r>
                        <a:rPr lang="en-US" sz="950" dirty="0">
                          <a:solidFill>
                            <a:srgbClr val="3E4A44"/>
                          </a:solidFill>
                          <a:latin typeface="Arial" pitchFamily="34" charset="0"/>
                          <a:ea typeface="Arial" pitchFamily="34" charset="-122"/>
                          <a:cs typeface="Arial" pitchFamily="34" charset="-120"/>
                        </a:rPr>
                        <a:t>Money collected per session</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£90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£48</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329184">
                <a:tc>
                  <a:txBody>
                    <a:bodyPr/>
                    <a:lstStyle/>
                    <a:p>
                      <a:pPr indent="0" marL="0">
                        <a:buNone/>
                      </a:pPr>
                      <a:r>
                        <a:rPr lang="en-US" sz="950" dirty="0">
                          <a:solidFill>
                            <a:srgbClr val="3E4A44"/>
                          </a:solidFill>
                          <a:latin typeface="Arial" pitchFamily="34" charset="0"/>
                          <a:ea typeface="Arial" pitchFamily="34" charset="-122"/>
                          <a:cs typeface="Arial" pitchFamily="34" charset="-120"/>
                        </a:rPr>
                        <a:t>Monthly volume</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£360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£192</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329184">
                <a:tc>
                  <a:txBody>
                    <a:bodyPr/>
                    <a:lstStyle/>
                    <a:p>
                      <a:pPr indent="0" marL="0">
                        <a:buNone/>
                      </a:pPr>
                      <a:r>
                        <a:rPr lang="en-US" sz="950" dirty="0">
                          <a:solidFill>
                            <a:srgbClr val="3E4A44"/>
                          </a:solidFill>
                          <a:latin typeface="Arial" pitchFamily="34" charset="0"/>
                          <a:ea typeface="Arial" pitchFamily="34" charset="-122"/>
                          <a:cs typeface="Arial" pitchFamily="34" charset="-120"/>
                        </a:rPr>
                        <a:t>Roll Call take at 2.5% + 20p per payer</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£17</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329184">
                <a:tc>
                  <a:txBody>
                    <a:bodyPr/>
                    <a:lstStyle/>
                    <a:p>
                      <a:pPr indent="0" marL="0">
                        <a:buNone/>
                      </a:pPr>
                      <a:r>
                        <a:rPr lang="en-US" sz="950" dirty="0">
                          <a:solidFill>
                            <a:srgbClr val="3E4A44"/>
                          </a:solidFill>
                          <a:latin typeface="Arial" pitchFamily="34" charset="0"/>
                          <a:ea typeface="Arial" pitchFamily="34" charset="-122"/>
                          <a:cs typeface="Arial" pitchFamily="34" charset="-120"/>
                        </a:rPr>
                        <a:t>Stripe cost, approx 1.5% + 20p</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£11.80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£5.50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329184">
                <a:tc>
                  <a:txBody>
                    <a:bodyPr/>
                    <a:lstStyle/>
                    <a:p>
                      <a:pPr indent="0" marL="0">
                        <a:buNone/>
                      </a:pPr>
                      <a:r>
                        <a:rPr lang="en-US" sz="950" b="1" dirty="0">
                          <a:solidFill>
                            <a:srgbClr val="146238"/>
                          </a:solidFill>
                          <a:latin typeface="Arial" pitchFamily="34" charset="0"/>
                          <a:ea typeface="Arial" pitchFamily="34" charset="-122"/>
                          <a:cs typeface="Arial" pitchFamily="34" charset="-120"/>
                        </a:rPr>
                        <a:t>Net payments margin</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r" indent="0" marL="0">
                        <a:buNone/>
                      </a:pPr>
                      <a:r>
                        <a:rPr lang="en-US" sz="950" b="1" dirty="0">
                          <a:solidFill>
                            <a:srgbClr val="146238"/>
                          </a:solidFill>
                          <a:latin typeface="Arial" pitchFamily="34" charset="0"/>
                          <a:ea typeface="Arial" pitchFamily="34" charset="-122"/>
                          <a:cs typeface="Arial" pitchFamily="34" charset="-120"/>
                        </a:rPr>
                        <a:t>about £5</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c>
                  <a:txBody>
                    <a:bodyPr/>
                    <a:lstStyle/>
                    <a:p>
                      <a:pPr algn="r" indent="0" marL="0">
                        <a:buNone/>
                      </a:pPr>
                      <a:r>
                        <a:rPr lang="en-US" sz="950" b="1" dirty="0">
                          <a:solidFill>
                            <a:srgbClr val="146238"/>
                          </a:solidFill>
                          <a:latin typeface="Arial" pitchFamily="34" charset="0"/>
                          <a:ea typeface="Arial" pitchFamily="34" charset="-122"/>
                          <a:cs typeface="Arial" pitchFamily="34" charset="-120"/>
                        </a:rPr>
                        <a:t>about £2.50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DDEFE3"/>
                    </a:solidFill>
                  </a:tcPr>
                </a:tc>
              </a:tr>
              <a:tr h="329184">
                <a:tc>
                  <a:txBody>
                    <a:bodyPr/>
                    <a:lstStyle/>
                    <a:p>
                      <a:pPr indent="0" marL="0">
                        <a:buNone/>
                      </a:pPr>
                      <a:r>
                        <a:rPr lang="en-US" sz="950" dirty="0">
                          <a:solidFill>
                            <a:srgbClr val="3E4A44"/>
                          </a:solidFill>
                          <a:latin typeface="Arial" pitchFamily="34" charset="0"/>
                          <a:ea typeface="Arial" pitchFamily="34" charset="-122"/>
                          <a:cs typeface="Arial" pitchFamily="34" charset="-120"/>
                        </a:rPr>
                        <a:t>Hosting and messaging cost</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under £0.50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dirty="0">
                          <a:solidFill>
                            <a:srgbClr val="3E4A44"/>
                          </a:solidFill>
                          <a:latin typeface="Arial" pitchFamily="34" charset="0"/>
                          <a:ea typeface="Arial" pitchFamily="34" charset="-122"/>
                          <a:cs typeface="Arial" pitchFamily="34" charset="-120"/>
                        </a:rPr>
                        <a:t>under £0.50</a:t>
                      </a:r>
                      <a:endParaRPr lang="en-US" sz="950" dirty="0">
                        <a:latin typeface="Arial" charset="0"/>
                        <a:ea typeface="Arial" charset="0"/>
                        <a:cs typeface="Arial" charset="0"/>
                      </a:endParaRPr>
                    </a:p>
                  </a:txBody>
                  <a:tcPr marL="45720" marR="45720" marT="45720" marB="45720"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bl>
          </a:graphicData>
        </a:graphic>
      </p:graphicFrame>
      <p:sp>
        <p:nvSpPr>
          <p:cNvPr id="24" name="Text 21"/>
          <p:cNvSpPr txBox="1"/>
          <p:nvPr/>
        </p:nvSpPr>
        <p:spPr>
          <a:xfrm>
            <a:off x="7269480" y="5212080"/>
            <a:ext cx="4373575" cy="868680"/>
          </a:xfrm>
          <a:prstGeom prst="rect">
            <a:avLst/>
          </a:prstGeom>
          <a:noFill/>
          <a:ln/>
        </p:spPr>
        <p:txBody>
          <a:bodyPr wrap="square" lIns="0" tIns="0" rIns="0" bIns="0" rtlCol="0" anchor="t"/>
          <a:lstStyle/>
          <a:p>
            <a:pPr algn="l" indent="0" marL="0">
              <a:lnSpc>
                <a:spcPct val="120000"/>
              </a:lnSpc>
              <a:buNone/>
            </a:pPr>
            <a:r>
              <a:rPr lang="en-US" sz="950" i="1" dirty="0">
                <a:solidFill>
                  <a:srgbClr val="6E7A73"/>
                </a:solidFill>
                <a:latin typeface="Arial" pitchFamily="34" charset="0"/>
                <a:ea typeface="Arial" pitchFamily="34" charset="-122"/>
                <a:cs typeface="Arial" pitchFamily="34" charset="-120"/>
              </a:rPr>
              <a:t>Payments alone is thin: about £4,000 a month net at 1,000 active crews (assumption). That funds infrastructure, not salaries, which is why venue revenue is the second leg and why we will not raise fees to compensate.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GO-TO-MARKET</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LONDON FIRST: 15 CREWS, THEN THE SHARE CARD DOES THE SELLING.</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12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03120"/>
            <a:ext cx="2624328" cy="1417320"/>
          </a:xfrm>
          <a:prstGeom prst="roundRect">
            <a:avLst>
              <a:gd name="adj" fmla="val 5161"/>
            </a:avLst>
          </a:prstGeom>
          <a:solidFill>
            <a:srgbClr val="FFFFFF"/>
          </a:solidFill>
          <a:ln w="9525">
            <a:solidFill>
              <a:srgbClr val="D5DAD2"/>
            </a:solidFill>
            <a:prstDash val="solid"/>
          </a:ln>
        </p:spPr>
      </p:sp>
      <p:sp>
        <p:nvSpPr>
          <p:cNvPr id="7" name="Text 5"/>
          <p:cNvSpPr txBox="1"/>
          <p:nvPr/>
        </p:nvSpPr>
        <p:spPr>
          <a:xfrm>
            <a:off x="731520" y="2212848"/>
            <a:ext cx="2258568" cy="32004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15-CREW PILOT</a:t>
            </a:r>
            <a:endParaRPr lang="en-US" sz="1700" dirty="0"/>
          </a:p>
        </p:txBody>
      </p:sp>
      <p:sp>
        <p:nvSpPr>
          <p:cNvPr id="8" name="Text 6"/>
          <p:cNvSpPr txBox="1"/>
          <p:nvPr/>
        </p:nvSpPr>
        <p:spPr>
          <a:xfrm>
            <a:off x="731520" y="2560320"/>
            <a:ext cx="2258568" cy="91440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6 football, 4 padel, 2 golf, 2 gym, 1 race weekend. Organisers found in person at venues, set up on the spot.</a:t>
            </a:r>
            <a:endParaRPr lang="en-US" sz="1000" dirty="0"/>
          </a:p>
        </p:txBody>
      </p:sp>
      <p:sp>
        <p:nvSpPr>
          <p:cNvPr id="9" name="Text 7"/>
          <p:cNvSpPr txBox="1"/>
          <p:nvPr/>
        </p:nvSpPr>
        <p:spPr>
          <a:xfrm>
            <a:off x="3154680" y="2606040"/>
            <a:ext cx="219456" cy="365760"/>
          </a:xfrm>
          <a:prstGeom prst="rect">
            <a:avLst/>
          </a:prstGeom>
          <a:noFill/>
          <a:ln/>
        </p:spPr>
        <p:txBody>
          <a:bodyPr wrap="square" lIns="0" tIns="0" rIns="0" bIns="0" rtlCol="0" anchor="ctr"/>
          <a:lstStyle/>
          <a:p>
            <a:pPr algn="ctr" indent="0" marL="0">
              <a:buNone/>
            </a:pPr>
            <a:r>
              <a:rPr lang="en-US" sz="1600" dirty="0">
                <a:solidFill>
                  <a:srgbClr val="1E8A4C"/>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3355848" y="2103120"/>
            <a:ext cx="2624328" cy="1417320"/>
          </a:xfrm>
          <a:prstGeom prst="roundRect">
            <a:avLst>
              <a:gd name="adj" fmla="val 5161"/>
            </a:avLst>
          </a:prstGeom>
          <a:solidFill>
            <a:srgbClr val="FFFFFF"/>
          </a:solidFill>
          <a:ln w="9525">
            <a:solidFill>
              <a:srgbClr val="D5DAD2"/>
            </a:solidFill>
            <a:prstDash val="solid"/>
          </a:ln>
        </p:spPr>
      </p:sp>
      <p:sp>
        <p:nvSpPr>
          <p:cNvPr id="11" name="Text 9"/>
          <p:cNvSpPr txBox="1"/>
          <p:nvPr/>
        </p:nvSpPr>
        <p:spPr>
          <a:xfrm>
            <a:off x="3538728" y="2212848"/>
            <a:ext cx="2258568" cy="32004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SHARE-CARD REFERRAL LOOP</a:t>
            </a:r>
            <a:endParaRPr lang="en-US" sz="1700" dirty="0"/>
          </a:p>
        </p:txBody>
      </p:sp>
      <p:sp>
        <p:nvSpPr>
          <p:cNvPr id="12" name="Text 10"/>
          <p:cNvSpPr txBox="1"/>
          <p:nvPr/>
        </p:nvSpPr>
        <p:spPr>
          <a:xfrm>
            <a:off x="3538728" y="2560320"/>
            <a:ext cx="2258568" cy="91440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Every pin, table update and player card goes back into WhatsApp with a start-your-own-crew action.</a:t>
            </a:r>
            <a:endParaRPr lang="en-US" sz="1000" dirty="0"/>
          </a:p>
        </p:txBody>
      </p:sp>
      <p:sp>
        <p:nvSpPr>
          <p:cNvPr id="13" name="Text 11"/>
          <p:cNvSpPr txBox="1"/>
          <p:nvPr/>
        </p:nvSpPr>
        <p:spPr>
          <a:xfrm>
            <a:off x="5961888" y="2606040"/>
            <a:ext cx="219456" cy="365760"/>
          </a:xfrm>
          <a:prstGeom prst="rect">
            <a:avLst/>
          </a:prstGeom>
          <a:noFill/>
          <a:ln/>
        </p:spPr>
        <p:txBody>
          <a:bodyPr wrap="square" lIns="0" tIns="0" rIns="0" bIns="0" rtlCol="0" anchor="ctr"/>
          <a:lstStyle/>
          <a:p>
            <a:pPr algn="ctr" indent="0" marL="0">
              <a:buNone/>
            </a:pPr>
            <a:r>
              <a:rPr lang="en-US" sz="1600" dirty="0">
                <a:solidFill>
                  <a:srgbClr val="1E8A4C"/>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6163056" y="2103120"/>
            <a:ext cx="2624328" cy="1417320"/>
          </a:xfrm>
          <a:prstGeom prst="roundRect">
            <a:avLst>
              <a:gd name="adj" fmla="val 5161"/>
            </a:avLst>
          </a:prstGeom>
          <a:solidFill>
            <a:srgbClr val="FFFFFF"/>
          </a:solidFill>
          <a:ln w="9525">
            <a:solidFill>
              <a:srgbClr val="D5DAD2"/>
            </a:solidFill>
            <a:prstDash val="solid"/>
          </a:ln>
        </p:spPr>
      </p:sp>
      <p:sp>
        <p:nvSpPr>
          <p:cNvPr id="15" name="Text 13"/>
          <p:cNvSpPr txBox="1"/>
          <p:nvPr/>
        </p:nvSpPr>
        <p:spPr>
          <a:xfrm>
            <a:off x="6345936" y="2212848"/>
            <a:ext cx="2258568" cy="32004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VENUE PARTNERSHIPS</a:t>
            </a:r>
            <a:endParaRPr lang="en-US" sz="1700" dirty="0"/>
          </a:p>
        </p:txBody>
      </p:sp>
      <p:sp>
        <p:nvSpPr>
          <p:cNvPr id="16" name="Text 14"/>
          <p:cNvSpPr txBox="1"/>
          <p:nvPr/>
        </p:nvSpPr>
        <p:spPr>
          <a:xfrm>
            <a:off x="6345936" y="2560320"/>
            <a:ext cx="2258568" cy="91440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Targets, not yet partners: Powerleague, Goals, Rocket Padel, Padium, Padel Social Club.</a:t>
            </a:r>
            <a:endParaRPr lang="en-US" sz="1000" dirty="0"/>
          </a:p>
        </p:txBody>
      </p:sp>
      <p:sp>
        <p:nvSpPr>
          <p:cNvPr id="17" name="Text 15"/>
          <p:cNvSpPr txBox="1"/>
          <p:nvPr/>
        </p:nvSpPr>
        <p:spPr>
          <a:xfrm>
            <a:off x="8769096" y="2606040"/>
            <a:ext cx="219456" cy="365760"/>
          </a:xfrm>
          <a:prstGeom prst="rect">
            <a:avLst/>
          </a:prstGeom>
          <a:noFill/>
          <a:ln/>
        </p:spPr>
        <p:txBody>
          <a:bodyPr wrap="square" lIns="0" tIns="0" rIns="0" bIns="0" rtlCol="0" anchor="ctr"/>
          <a:lstStyle/>
          <a:p>
            <a:pPr algn="ctr" indent="0" marL="0">
              <a:buNone/>
            </a:pPr>
            <a:r>
              <a:rPr lang="en-US" sz="1600" dirty="0">
                <a:solidFill>
                  <a:srgbClr val="1E8A4C"/>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8970264" y="2103120"/>
            <a:ext cx="2624328" cy="1417320"/>
          </a:xfrm>
          <a:prstGeom prst="roundRect">
            <a:avLst>
              <a:gd name="adj" fmla="val 5161"/>
            </a:avLst>
          </a:prstGeom>
          <a:solidFill>
            <a:srgbClr val="FFFFFF"/>
          </a:solidFill>
          <a:ln w="9525">
            <a:solidFill>
              <a:srgbClr val="D5DAD2"/>
            </a:solidFill>
            <a:prstDash val="solid"/>
          </a:ln>
        </p:spPr>
      </p:sp>
      <p:sp>
        <p:nvSpPr>
          <p:cNvPr id="19" name="Text 17"/>
          <p:cNvSpPr txBox="1"/>
          <p:nvPr/>
        </p:nvSpPr>
        <p:spPr>
          <a:xfrm>
            <a:off x="9153144" y="2212848"/>
            <a:ext cx="2258568" cy="320040"/>
          </a:xfrm>
          <a:prstGeom prst="rect">
            <a:avLst/>
          </a:prstGeom>
          <a:noFill/>
          <a:ln/>
        </p:spPr>
        <p:txBody>
          <a:bodyPr wrap="square" lIns="0" tIns="0" rIns="0" bIns="0" rtlCol="0" anchor="ctr"/>
          <a:lstStyle/>
          <a:p>
            <a:pPr algn="l" indent="0" marL="0">
              <a:buNone/>
            </a:pPr>
            <a:r>
              <a:rPr lang="en-US" sz="1700" b="1" dirty="0">
                <a:solidFill>
                  <a:srgbClr val="14201B"/>
                </a:solidFill>
                <a:latin typeface="Barlow Condensed" pitchFamily="34" charset="0"/>
                <a:ea typeface="Barlow Condensed" pitchFamily="34" charset="-122"/>
                <a:cs typeface="Barlow Condensed" pitchFamily="34" charset="-120"/>
              </a:rPr>
              <a:t>CREATOR CONTENT</a:t>
            </a:r>
            <a:endParaRPr lang="en-US" sz="1700" dirty="0"/>
          </a:p>
        </p:txBody>
      </p:sp>
      <p:sp>
        <p:nvSpPr>
          <p:cNvPr id="20" name="Text 18"/>
          <p:cNvSpPr txBox="1"/>
          <p:nvPr/>
        </p:nvSpPr>
        <p:spPr>
          <a:xfrm>
            <a:off x="9153144" y="2560320"/>
            <a:ext cx="2258568" cy="91440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Season awards reels, Sick Notes leaderboards, player card reveals. The content is the product output.</a:t>
            </a:r>
            <a:endParaRPr lang="en-US" sz="1000" dirty="0"/>
          </a:p>
        </p:txBody>
      </p:sp>
      <p:sp>
        <p:nvSpPr>
          <p:cNvPr id="21" name="Text 19"/>
          <p:cNvSpPr txBox="1"/>
          <p:nvPr/>
        </p:nvSpPr>
        <p:spPr>
          <a:xfrm>
            <a:off x="548640" y="3749040"/>
            <a:ext cx="822960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STAGED MARKETING PLAN · FOUNDER'S PROPOSED BUDGETS, ALL ASSUMPTIONS</a:t>
            </a:r>
            <a:endParaRPr lang="en-US" sz="1000" dirty="0"/>
          </a:p>
        </p:txBody>
      </p:sp>
      <p:sp>
        <p:nvSpPr>
          <p:cNvPr id="22" name="Shape 20"/>
          <p:cNvSpPr/>
          <p:nvPr/>
        </p:nvSpPr>
        <p:spPr>
          <a:xfrm>
            <a:off x="548640" y="4069080"/>
            <a:ext cx="3566160" cy="2148840"/>
          </a:xfrm>
          <a:prstGeom prst="roundRect">
            <a:avLst>
              <a:gd name="adj" fmla="val 3404"/>
            </a:avLst>
          </a:prstGeom>
          <a:solidFill>
            <a:srgbClr val="DDEFE3"/>
          </a:solidFill>
          <a:ln w="9525">
            <a:solidFill>
              <a:srgbClr val="DDEFE3"/>
            </a:solidFill>
            <a:prstDash val="solid"/>
          </a:ln>
        </p:spPr>
      </p:sp>
      <p:sp>
        <p:nvSpPr>
          <p:cNvPr id="23" name="Text 21"/>
          <p:cNvSpPr txBox="1"/>
          <p:nvPr/>
        </p:nvSpPr>
        <p:spPr>
          <a:xfrm>
            <a:off x="731520" y="4178808"/>
            <a:ext cx="320040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STAGE 1 · MONTHS 0 TO 4</a:t>
            </a:r>
            <a:endParaRPr lang="en-US" sz="1000" dirty="0"/>
          </a:p>
        </p:txBody>
      </p:sp>
      <p:sp>
        <p:nvSpPr>
          <p:cNvPr id="24" name="Text 22"/>
          <p:cNvSpPr txBox="1"/>
          <p:nvPr/>
        </p:nvSpPr>
        <p:spPr>
          <a:xfrm>
            <a:off x="731520" y="4434840"/>
            <a:ext cx="3200400" cy="502920"/>
          </a:xfrm>
          <a:prstGeom prst="rect">
            <a:avLst/>
          </a:prstGeom>
          <a:noFill/>
          <a:ln/>
        </p:spPr>
        <p:txBody>
          <a:bodyPr wrap="square" lIns="0" tIns="0" rIns="0" bIns="0" rtlCol="0" anchor="ctr"/>
          <a:lstStyle/>
          <a:p>
            <a:pPr algn="l" indent="0" marL="0">
              <a:buNone/>
            </a:pPr>
            <a:r>
              <a:rPr lang="en-US" sz="3000" b="1" dirty="0">
                <a:solidFill>
                  <a:srgbClr val="146238"/>
                </a:solidFill>
                <a:latin typeface="Barlow Condensed" pitchFamily="34" charset="0"/>
                <a:ea typeface="Barlow Condensed" pitchFamily="34" charset="-122"/>
                <a:cs typeface="Barlow Condensed" pitchFamily="34" charset="-120"/>
              </a:rPr>
              <a:t>£0 paid</a:t>
            </a:r>
            <a:endParaRPr lang="en-US" sz="3000" dirty="0"/>
          </a:p>
        </p:txBody>
      </p:sp>
      <p:sp>
        <p:nvSpPr>
          <p:cNvPr id="25" name="Text 23"/>
          <p:cNvSpPr txBox="1"/>
          <p:nvPr/>
        </p:nvSpPr>
        <p:spPr>
          <a:xfrm>
            <a:off x="731520" y="4965192"/>
            <a:ext cx="3200400" cy="7315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Organic plus venues. Growth lead visits four venues a week; content from pilot crews only.</a:t>
            </a:r>
            <a:endParaRPr lang="en-US" sz="1000" dirty="0"/>
          </a:p>
        </p:txBody>
      </p:sp>
      <p:sp>
        <p:nvSpPr>
          <p:cNvPr id="26" name="Text 24"/>
          <p:cNvSpPr txBox="1"/>
          <p:nvPr/>
        </p:nvSpPr>
        <p:spPr>
          <a:xfrm>
            <a:off x="731520" y="5696712"/>
            <a:ext cx="3200400" cy="457200"/>
          </a:xfrm>
          <a:prstGeom prst="rect">
            <a:avLst/>
          </a:prstGeom>
          <a:noFill/>
          <a:ln/>
        </p:spPr>
        <p:txBody>
          <a:bodyPr wrap="square" lIns="0" tIns="0" rIns="0" bIns="0" rtlCol="0" anchor="t"/>
          <a:lstStyle/>
          <a:p>
            <a:pPr algn="l" indent="0" marL="0">
              <a:lnSpc>
                <a:spcPct val="110000"/>
              </a:lnSpc>
              <a:buNone/>
            </a:pPr>
            <a:r>
              <a:rPr lang="en-US" sz="950" b="1" dirty="0">
                <a:solidFill>
                  <a:srgbClr val="146238"/>
                </a:solidFill>
                <a:latin typeface="Arial" pitchFamily="34" charset="0"/>
                <a:ea typeface="Arial" pitchFamily="34" charset="-122"/>
                <a:cs typeface="Arial" pitchFamily="34" charset="-120"/>
              </a:rPr>
              <a:t>Gate: 11 of 15 crews still pinning at week 12</a:t>
            </a:r>
            <a:endParaRPr lang="en-US" sz="950" dirty="0"/>
          </a:p>
        </p:txBody>
      </p:sp>
      <p:sp>
        <p:nvSpPr>
          <p:cNvPr id="27" name="Shape 25"/>
          <p:cNvSpPr/>
          <p:nvPr/>
        </p:nvSpPr>
        <p:spPr>
          <a:xfrm>
            <a:off x="4297680" y="4069080"/>
            <a:ext cx="3566160" cy="2148840"/>
          </a:xfrm>
          <a:prstGeom prst="roundRect">
            <a:avLst>
              <a:gd name="adj" fmla="val 3404"/>
            </a:avLst>
          </a:prstGeom>
          <a:solidFill>
            <a:srgbClr val="FFFFFF"/>
          </a:solidFill>
          <a:ln w="9525">
            <a:solidFill>
              <a:srgbClr val="D5DAD2"/>
            </a:solidFill>
            <a:prstDash val="solid"/>
          </a:ln>
        </p:spPr>
      </p:sp>
      <p:sp>
        <p:nvSpPr>
          <p:cNvPr id="28" name="Text 26"/>
          <p:cNvSpPr txBox="1"/>
          <p:nvPr/>
        </p:nvSpPr>
        <p:spPr>
          <a:xfrm>
            <a:off x="4480560" y="4178808"/>
            <a:ext cx="320040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STAGE 2 · MONTHS 5 TO 10</a:t>
            </a:r>
            <a:endParaRPr lang="en-US" sz="1000" dirty="0"/>
          </a:p>
        </p:txBody>
      </p:sp>
      <p:sp>
        <p:nvSpPr>
          <p:cNvPr id="29" name="Text 27"/>
          <p:cNvSpPr txBox="1"/>
          <p:nvPr/>
        </p:nvSpPr>
        <p:spPr>
          <a:xfrm>
            <a:off x="4480560" y="4434840"/>
            <a:ext cx="3200400" cy="502920"/>
          </a:xfrm>
          <a:prstGeom prst="rect">
            <a:avLst/>
          </a:prstGeom>
          <a:noFill/>
          <a:ln/>
        </p:spPr>
        <p:txBody>
          <a:bodyPr wrap="square" lIns="0" tIns="0" rIns="0" bIns="0" rtlCol="0" anchor="ctr"/>
          <a:lstStyle/>
          <a:p>
            <a:pPr algn="l" indent="0" marL="0">
              <a:buNone/>
            </a:pPr>
            <a:r>
              <a:rPr lang="en-US" sz="3000" b="1" dirty="0">
                <a:solidFill>
                  <a:srgbClr val="14201B"/>
                </a:solidFill>
                <a:latin typeface="Barlow Condensed" pitchFamily="34" charset="0"/>
                <a:ea typeface="Barlow Condensed" pitchFamily="34" charset="-122"/>
                <a:cs typeface="Barlow Condensed" pitchFamily="34" charset="-120"/>
              </a:rPr>
              <a:t>£150k paid</a:t>
            </a:r>
            <a:endParaRPr lang="en-US" sz="3000" dirty="0"/>
          </a:p>
        </p:txBody>
      </p:sp>
      <p:sp>
        <p:nvSpPr>
          <p:cNvPr id="30" name="Text 28"/>
          <p:cNvSpPr txBox="1"/>
          <p:nvPr/>
        </p:nvSpPr>
        <p:spPr>
          <a:xfrm>
            <a:off x="4480560" y="4965192"/>
            <a:ext cx="3200400" cy="7315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TikTok, Instagram and Meta targeted at London 18 to 34 organisers; venue co-marketing; university and workplace leagues.</a:t>
            </a:r>
            <a:endParaRPr lang="en-US" sz="1000" dirty="0"/>
          </a:p>
        </p:txBody>
      </p:sp>
      <p:sp>
        <p:nvSpPr>
          <p:cNvPr id="31" name="Text 29"/>
          <p:cNvSpPr txBox="1"/>
          <p:nvPr/>
        </p:nvSpPr>
        <p:spPr>
          <a:xfrm>
            <a:off x="4480560" y="5696712"/>
            <a:ext cx="3200400" cy="457200"/>
          </a:xfrm>
          <a:prstGeom prst="rect">
            <a:avLst/>
          </a:prstGeom>
          <a:noFill/>
          <a:ln/>
        </p:spPr>
        <p:txBody>
          <a:bodyPr wrap="square" lIns="0" tIns="0" rIns="0" bIns="0" rtlCol="0" anchor="t"/>
          <a:lstStyle/>
          <a:p>
            <a:pPr algn="l" indent="0" marL="0">
              <a:lnSpc>
                <a:spcPct val="110000"/>
              </a:lnSpc>
              <a:buNone/>
            </a:pPr>
            <a:r>
              <a:rPr lang="en-US" sz="950" b="1" dirty="0">
                <a:solidFill>
                  <a:srgbClr val="14201B"/>
                </a:solidFill>
                <a:latin typeface="Arial" pitchFamily="34" charset="0"/>
                <a:ea typeface="Arial" pitchFamily="34" charset="-122"/>
                <a:cs typeface="Arial" pitchFamily="34" charset="-120"/>
              </a:rPr>
              <a:t>Gate: CAC payback under 12 months on payments margin plus venue revenue (assumption)</a:t>
            </a:r>
            <a:endParaRPr lang="en-US" sz="950" dirty="0"/>
          </a:p>
        </p:txBody>
      </p:sp>
      <p:sp>
        <p:nvSpPr>
          <p:cNvPr id="32" name="Shape 30"/>
          <p:cNvSpPr/>
          <p:nvPr/>
        </p:nvSpPr>
        <p:spPr>
          <a:xfrm>
            <a:off x="8046720" y="4069080"/>
            <a:ext cx="3566160" cy="2148840"/>
          </a:xfrm>
          <a:prstGeom prst="roundRect">
            <a:avLst>
              <a:gd name="adj" fmla="val 3404"/>
            </a:avLst>
          </a:prstGeom>
          <a:solidFill>
            <a:srgbClr val="FFFFFF"/>
          </a:solidFill>
          <a:ln w="9525">
            <a:solidFill>
              <a:srgbClr val="D5DAD2"/>
            </a:solidFill>
            <a:prstDash val="solid"/>
          </a:ln>
        </p:spPr>
      </p:sp>
      <p:sp>
        <p:nvSpPr>
          <p:cNvPr id="33" name="Text 31"/>
          <p:cNvSpPr txBox="1"/>
          <p:nvPr/>
        </p:nvSpPr>
        <p:spPr>
          <a:xfrm>
            <a:off x="8229600" y="4178808"/>
            <a:ext cx="320040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STAGE 3 · MONTHS 11 TO 18</a:t>
            </a:r>
            <a:endParaRPr lang="en-US" sz="1000" dirty="0"/>
          </a:p>
        </p:txBody>
      </p:sp>
      <p:sp>
        <p:nvSpPr>
          <p:cNvPr id="34" name="Text 32"/>
          <p:cNvSpPr txBox="1"/>
          <p:nvPr/>
        </p:nvSpPr>
        <p:spPr>
          <a:xfrm>
            <a:off x="8229600" y="4434840"/>
            <a:ext cx="3200400" cy="502920"/>
          </a:xfrm>
          <a:prstGeom prst="rect">
            <a:avLst/>
          </a:prstGeom>
          <a:noFill/>
          <a:ln/>
        </p:spPr>
        <p:txBody>
          <a:bodyPr wrap="square" lIns="0" tIns="0" rIns="0" bIns="0" rtlCol="0" anchor="ctr"/>
          <a:lstStyle/>
          <a:p>
            <a:pPr algn="l" indent="0" marL="0">
              <a:buNone/>
            </a:pPr>
            <a:r>
              <a:rPr lang="en-US" sz="3000" b="1" dirty="0">
                <a:solidFill>
                  <a:srgbClr val="14201B"/>
                </a:solidFill>
                <a:latin typeface="Barlow Condensed" pitchFamily="34" charset="0"/>
                <a:ea typeface="Barlow Condensed" pitchFamily="34" charset="-122"/>
                <a:cs typeface="Barlow Condensed" pitchFamily="34" charset="-120"/>
              </a:rPr>
              <a:t>£200k paid</a:t>
            </a:r>
            <a:endParaRPr lang="en-US" sz="3000" dirty="0"/>
          </a:p>
        </p:txBody>
      </p:sp>
      <p:sp>
        <p:nvSpPr>
          <p:cNvPr id="35" name="Text 33"/>
          <p:cNvSpPr txBox="1"/>
          <p:nvPr/>
        </p:nvSpPr>
        <p:spPr>
          <a:xfrm>
            <a:off x="8229600" y="4965192"/>
            <a:ext cx="3200400" cy="731520"/>
          </a:xfrm>
          <a:prstGeom prst="rect">
            <a:avLst/>
          </a:prstGeom>
          <a:noFill/>
          <a:ln/>
        </p:spPr>
        <p:txBody>
          <a:bodyPr wrap="square" lIns="0" tIns="0" rIns="0" bIns="0" rtlCol="0" anchor="t"/>
          <a:lstStyle/>
          <a:p>
            <a:pPr algn="l" indent="0" marL="0">
              <a:lnSpc>
                <a:spcPct val="110000"/>
              </a:lnSpc>
              <a:buNone/>
            </a:pPr>
            <a:r>
              <a:rPr lang="en-US" sz="1000" dirty="0">
                <a:solidFill>
                  <a:srgbClr val="3E4A44"/>
                </a:solidFill>
                <a:latin typeface="Arial" pitchFamily="34" charset="0"/>
                <a:ea typeface="Arial" pitchFamily="34" charset="-122"/>
                <a:cs typeface="Arial" pitchFamily="34" charset="-120"/>
              </a:rPr>
              <a:t>Scale to Manchester, Birmingham, Bristol and Leeds using the London playbook.</a:t>
            </a:r>
            <a:endParaRPr lang="en-US" sz="1000" dirty="0"/>
          </a:p>
        </p:txBody>
      </p:sp>
      <p:sp>
        <p:nvSpPr>
          <p:cNvPr id="36" name="Text 34"/>
          <p:cNvSpPr txBox="1"/>
          <p:nvPr/>
        </p:nvSpPr>
        <p:spPr>
          <a:xfrm>
            <a:off x="8229600" y="5696712"/>
            <a:ext cx="3200400" cy="457200"/>
          </a:xfrm>
          <a:prstGeom prst="rect">
            <a:avLst/>
          </a:prstGeom>
          <a:noFill/>
          <a:ln/>
        </p:spPr>
        <p:txBody>
          <a:bodyPr wrap="square" lIns="0" tIns="0" rIns="0" bIns="0" rtlCol="0" anchor="t"/>
          <a:lstStyle/>
          <a:p>
            <a:pPr algn="l" indent="0" marL="0">
              <a:lnSpc>
                <a:spcPct val="110000"/>
              </a:lnSpc>
              <a:buNone/>
            </a:pPr>
            <a:r>
              <a:rPr lang="en-US" sz="950" b="1" dirty="0">
                <a:solidFill>
                  <a:srgbClr val="14201B"/>
                </a:solidFill>
                <a:latin typeface="Arial" pitchFamily="34" charset="0"/>
                <a:ea typeface="Arial" pitchFamily="34" charset="-122"/>
                <a:cs typeface="Arial" pitchFamily="34" charset="-120"/>
              </a:rPr>
              <a:t>Gate: 300 active London crews before leaving London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TRACTION PLAN</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THE NORTH STAR IS SESSIONS PLAYED PER CREW PER MONTH.</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13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03120"/>
            <a:ext cx="3566160" cy="4069080"/>
          </a:xfrm>
          <a:prstGeom prst="roundRect">
            <a:avLst>
              <a:gd name="adj" fmla="val 2051"/>
            </a:avLst>
          </a:prstGeom>
          <a:solidFill>
            <a:srgbClr val="DDEFE3"/>
          </a:solidFill>
          <a:ln w="9525">
            <a:solidFill>
              <a:srgbClr val="DDEFE3"/>
            </a:solidFill>
            <a:prstDash val="solid"/>
          </a:ln>
        </p:spPr>
      </p:sp>
      <p:sp>
        <p:nvSpPr>
          <p:cNvPr id="7" name="Text 5"/>
          <p:cNvSpPr txBox="1"/>
          <p:nvPr/>
        </p:nvSpPr>
        <p:spPr>
          <a:xfrm>
            <a:off x="777240" y="2240280"/>
            <a:ext cx="310896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NORTH STAR</a:t>
            </a:r>
            <a:endParaRPr lang="en-US" sz="1000" dirty="0"/>
          </a:p>
        </p:txBody>
      </p:sp>
      <p:sp>
        <p:nvSpPr>
          <p:cNvPr id="8" name="Text 6"/>
          <p:cNvSpPr txBox="1"/>
          <p:nvPr/>
        </p:nvSpPr>
        <p:spPr>
          <a:xfrm>
            <a:off x="777240" y="2560320"/>
            <a:ext cx="3108960" cy="1188720"/>
          </a:xfrm>
          <a:prstGeom prst="rect">
            <a:avLst/>
          </a:prstGeom>
          <a:noFill/>
          <a:ln/>
        </p:spPr>
        <p:txBody>
          <a:bodyPr wrap="square" lIns="0" tIns="0" rIns="0" bIns="0" rtlCol="0" anchor="ctr"/>
          <a:lstStyle/>
          <a:p>
            <a:pPr algn="l" indent="0" marL="0">
              <a:buNone/>
            </a:pPr>
            <a:r>
              <a:rPr lang="en-US" sz="9600" b="1" dirty="0">
                <a:solidFill>
                  <a:srgbClr val="146238"/>
                </a:solidFill>
                <a:latin typeface="Barlow Condensed" pitchFamily="34" charset="0"/>
                <a:ea typeface="Barlow Condensed" pitchFamily="34" charset="-122"/>
                <a:cs typeface="Barlow Condensed" pitchFamily="34" charset="-120"/>
              </a:rPr>
              <a:t>3.0</a:t>
            </a:r>
            <a:endParaRPr lang="en-US" sz="9600" dirty="0"/>
          </a:p>
        </p:txBody>
      </p:sp>
      <p:sp>
        <p:nvSpPr>
          <p:cNvPr id="9" name="Text 7"/>
          <p:cNvSpPr txBox="1"/>
          <p:nvPr/>
        </p:nvSpPr>
        <p:spPr>
          <a:xfrm>
            <a:off x="777240" y="3794760"/>
            <a:ext cx="3108960" cy="731520"/>
          </a:xfrm>
          <a:prstGeom prst="rect">
            <a:avLst/>
          </a:prstGeom>
          <a:noFill/>
          <a:ln/>
        </p:spPr>
        <p:txBody>
          <a:bodyPr wrap="square" lIns="0" tIns="0" rIns="0" bIns="0" rtlCol="0" anchor="t"/>
          <a:lstStyle/>
          <a:p>
            <a:pPr algn="l" indent="0" marL="0">
              <a:lnSpc>
                <a:spcPct val="115000"/>
              </a:lnSpc>
              <a:buNone/>
            </a:pPr>
            <a:r>
              <a:rPr lang="en-US" sz="1200" dirty="0">
                <a:solidFill>
                  <a:srgbClr val="14201B"/>
                </a:solidFill>
                <a:latin typeface="Arial" pitchFamily="34" charset="0"/>
                <a:ea typeface="Arial" pitchFamily="34" charset="-122"/>
                <a:cs typeface="Arial" pitchFamily="34" charset="-120"/>
              </a:rPr>
              <a:t>sessions played per crew per month for football and padel crews. 1.5 for golf.</a:t>
            </a:r>
            <a:endParaRPr lang="en-US" sz="1200" dirty="0"/>
          </a:p>
        </p:txBody>
      </p:sp>
      <p:sp>
        <p:nvSpPr>
          <p:cNvPr id="10" name="Text 8"/>
          <p:cNvSpPr txBox="1"/>
          <p:nvPr/>
        </p:nvSpPr>
        <p:spPr>
          <a:xfrm>
            <a:off x="777240" y="4617720"/>
            <a:ext cx="3108960" cy="1097280"/>
          </a:xfrm>
          <a:prstGeom prst="rect">
            <a:avLst/>
          </a:prstGeom>
          <a:noFill/>
          <a:ln/>
        </p:spPr>
        <p:txBody>
          <a:bodyPr wrap="square" lIns="0" tIns="0" rIns="0" bIns="0" rtlCol="0" anchor="t"/>
          <a:lstStyle/>
          <a:p>
            <a:pPr algn="l" indent="0" marL="0">
              <a:lnSpc>
                <a:spcPct val="115000"/>
              </a:lnSpc>
              <a:buNone/>
            </a:pPr>
            <a:r>
              <a:rPr lang="en-US" sz="1000" dirty="0">
                <a:solidFill>
                  <a:srgbClr val="3E4A44"/>
                </a:solidFill>
                <a:latin typeface="Arial" pitchFamily="34" charset="0"/>
                <a:ea typeface="Arial" pitchFamily="34" charset="-122"/>
                <a:cs typeface="Arial" pitchFamily="34" charset="-120"/>
              </a:rPr>
              <a:t>Attendance-confirmed sessions divided by crews that pinned at least one session in the month. If this holds, money moves, cards get shared and venues care.</a:t>
            </a:r>
            <a:endParaRPr lang="en-US" sz="1000" dirty="0"/>
          </a:p>
        </p:txBody>
      </p:sp>
      <p:sp>
        <p:nvSpPr>
          <p:cNvPr id="11" name="Text 9"/>
          <p:cNvSpPr txBox="1"/>
          <p:nvPr/>
        </p:nvSpPr>
        <p:spPr>
          <a:xfrm>
            <a:off x="777240" y="5806440"/>
            <a:ext cx="310896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TARGET, ASSUMPTION</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434840" y="2103120"/>
          <a:ext cx="7208215" cy="914400"/>
        </p:xfrm>
        <a:graphic>
          <a:graphicData uri="http://schemas.openxmlformats.org/drawingml/2006/table">
            <a:tbl>
              <a:tblPr/>
              <a:tblGrid>
                <a:gridCol w="1188720"/>
                <a:gridCol w="3840480"/>
                <a:gridCol w="2179015"/>
              </a:tblGrid>
              <a:tr h="347472">
                <a:tc>
                  <a:txBody>
                    <a:bodyPr/>
                    <a:lstStyle/>
                    <a:p>
                      <a:pPr indent="0" marL="0">
                        <a:buNone/>
                      </a:pPr>
                      <a:r>
                        <a:rPr lang="en-US" sz="800" b="1" dirty="0">
                          <a:solidFill>
                            <a:srgbClr val="14201B"/>
                          </a:solidFill>
                          <a:latin typeface="Courier New" pitchFamily="34" charset="0"/>
                          <a:ea typeface="Courier New" pitchFamily="34" charset="-122"/>
                          <a:cs typeface="Courier New" pitchFamily="34" charset="-120"/>
                        </a:rPr>
                        <a:t>STAGE</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indent="0" marL="0">
                        <a:buNone/>
                      </a:pPr>
                      <a:r>
                        <a:rPr lang="en-US" sz="800" b="1" dirty="0">
                          <a:solidFill>
                            <a:srgbClr val="14201B"/>
                          </a:solidFill>
                          <a:latin typeface="Courier New" pitchFamily="34" charset="0"/>
                          <a:ea typeface="Courier New" pitchFamily="34" charset="-122"/>
                          <a:cs typeface="Courier New" pitchFamily="34" charset="-120"/>
                        </a:rPr>
                        <a:t>METRIC</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c>
                  <a:txBody>
                    <a:bodyPr/>
                    <a:lstStyle/>
                    <a:p>
                      <a:pPr algn="r" indent="0" marL="0">
                        <a:buNone/>
                      </a:pPr>
                      <a:r>
                        <a:rPr lang="en-US" sz="800" b="1" dirty="0">
                          <a:solidFill>
                            <a:srgbClr val="14201B"/>
                          </a:solidFill>
                          <a:latin typeface="Courier New" pitchFamily="34" charset="0"/>
                          <a:ea typeface="Courier New" pitchFamily="34" charset="-122"/>
                          <a:cs typeface="Courier New" pitchFamily="34" charset="-120"/>
                        </a:rPr>
                        <a:t>PILOT TARGET</a:t>
                      </a:r>
                      <a:endParaRPr lang="en-US" sz="800" dirty="0">
                        <a:latin typeface="Courier New" charset="0"/>
                        <a:ea typeface="Courier New" charset="0"/>
                        <a:cs typeface="Courier New"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solidFill>
                      <a:srgbClr val="EBEEE6"/>
                    </a:solidFill>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Activation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Organiser time to first pin, median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under 60 seconds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Activation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Members who respond within 48 hours of a pin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60% or more</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Retention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Crews still pinning at week 12 without a prompt</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73%, 11 of 15 crews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Reliability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Turn-up rate: attended divided by tapped in at deadline</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85% or more</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Money</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Sessions fully settled within 7 days</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80% or more</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Fun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Rating completion within 24 hours of the session</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50% or more</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r h="402336">
                <a:tc>
                  <a:txBody>
                    <a:bodyPr/>
                    <a:lstStyle/>
                    <a:p>
                      <a:pPr indent="0" marL="0">
                        <a:buNone/>
                      </a:pPr>
                      <a:r>
                        <a:rPr lang="en-US" sz="950" b="1" dirty="0">
                          <a:solidFill>
                            <a:srgbClr val="14201B"/>
                          </a:solidFill>
                          <a:latin typeface="Arial" pitchFamily="34" charset="0"/>
                          <a:ea typeface="Arial" pitchFamily="34" charset="-122"/>
                          <a:cs typeface="Arial" pitchFamily="34" charset="-120"/>
                        </a:rPr>
                        <a:t>Growth</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indent="0" marL="0">
                        <a:buNone/>
                      </a:pPr>
                      <a:r>
                        <a:rPr lang="en-US" sz="950" dirty="0">
                          <a:solidFill>
                            <a:srgbClr val="3E4A44"/>
                          </a:solidFill>
                          <a:latin typeface="Arial" pitchFamily="34" charset="0"/>
                          <a:ea typeface="Arial" pitchFamily="34" charset="-122"/>
                          <a:cs typeface="Arial" pitchFamily="34" charset="-120"/>
                        </a:rPr>
                        <a:t>New crews started from pilot crews' share cards by week 12</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c>
                  <a:txBody>
                    <a:bodyPr/>
                    <a:lstStyle/>
                    <a:p>
                      <a:pPr algn="r" indent="0" marL="0">
                        <a:buNone/>
                      </a:pPr>
                      <a:r>
                        <a:rPr lang="en-US" sz="950" b="1" dirty="0">
                          <a:solidFill>
                            <a:srgbClr val="14201B"/>
                          </a:solidFill>
                          <a:latin typeface="Arial" pitchFamily="34" charset="0"/>
                          <a:ea typeface="Arial" pitchFamily="34" charset="-122"/>
                          <a:cs typeface="Arial" pitchFamily="34" charset="-120"/>
                        </a:rPr>
                        <a:t>at least 5</a:t>
                      </a:r>
                      <a:endParaRPr lang="en-US" sz="950" dirty="0">
                        <a:latin typeface="Arial" charset="0"/>
                        <a:ea typeface="Arial" charset="0"/>
                        <a:cs typeface="Arial" charset="0"/>
                      </a:endParaRPr>
                    </a:p>
                  </a:txBody>
                  <a:tcPr marL="54864" marR="54864" marT="54864" marB="54864" anchor="ctr">
                    <a:lnL w="9525" cap="flat" cmpd="sng" algn="ctr">
                      <a:solidFill>
                        <a:srgbClr val="D5DAD2"/>
                      </a:solidFill>
                      <a:prstDash val="solid"/>
                      <a:round/>
                      <a:headEnd type="none" w="med" len="med"/>
                      <a:tailEnd type="none" w="med" len="med"/>
                    </a:lnL>
                    <a:lnR w="9525" cap="flat" cmpd="sng" algn="ctr">
                      <a:solidFill>
                        <a:srgbClr val="D5DAD2"/>
                      </a:solidFill>
                      <a:prstDash val="solid"/>
                      <a:round/>
                      <a:headEnd type="none" w="med" len="med"/>
                      <a:tailEnd type="none" w="med" len="med"/>
                    </a:lnR>
                    <a:lnT w="9525" cap="flat" cmpd="sng" algn="ctr">
                      <a:solidFill>
                        <a:srgbClr val="D5DAD2"/>
                      </a:solidFill>
                      <a:prstDash val="solid"/>
                      <a:round/>
                      <a:headEnd type="none" w="med" len="med"/>
                      <a:tailEnd type="none" w="med" len="med"/>
                    </a:lnT>
                    <a:lnB w="9525" cap="flat" cmpd="sng" algn="ctr">
                      <a:solidFill>
                        <a:srgbClr val="D5DAD2"/>
                      </a:solidFill>
                      <a:prstDash val="solid"/>
                      <a:round/>
                      <a:headEnd type="none" w="med" len="med"/>
                      <a:tailEnd type="none" w="med" len="med"/>
                    </a:lnB>
                  </a:tcPr>
                </a:tc>
              </a:tr>
            </a:tbl>
          </a:graphicData>
        </a:graphic>
      </p:graphicFrame>
      <p:sp>
        <p:nvSpPr>
          <p:cNvPr id="13" name="Text 10"/>
          <p:cNvSpPr txBox="1"/>
          <p:nvPr/>
        </p:nvSpPr>
        <p:spPr>
          <a:xfrm>
            <a:off x="4434840" y="5486400"/>
            <a:ext cx="7208215" cy="731520"/>
          </a:xfrm>
          <a:prstGeom prst="rect">
            <a:avLst/>
          </a:prstGeom>
          <a:noFill/>
          <a:ln/>
        </p:spPr>
        <p:txBody>
          <a:bodyPr wrap="square" lIns="0" tIns="0" rIns="0" bIns="0" rtlCol="0" anchor="t"/>
          <a:lstStyle/>
          <a:p>
            <a:pPr algn="l" indent="0" marL="0">
              <a:lnSpc>
                <a:spcPct val="120000"/>
              </a:lnSpc>
              <a:buNone/>
            </a:pPr>
            <a:r>
              <a:rPr lang="en-US" sz="950" i="1" dirty="0">
                <a:solidFill>
                  <a:srgbClr val="6E7A73"/>
                </a:solidFill>
                <a:latin typeface="Arial" pitchFamily="34" charset="0"/>
                <a:ea typeface="Arial" pitchFamily="34" charset="-122"/>
                <a:cs typeface="Arial" pitchFamily="34" charset="-120"/>
              </a:rPr>
              <a:t>Targets marked in metrics.md as assumptions will be revised with pilot data. Guardrails run alongside: rating opt-outs, reports per 100 members, repeated-targeting alerts, erasure requests and money disputes. If fewer than 8 crews are active at week 12 we stop and rework the loop before spending on growth.</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ROADMAP</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FROM A WORKING LOOP TO A VENUE PROPOSITION IN 12 MONTHS.</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14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03120"/>
            <a:ext cx="2624328" cy="3246120"/>
          </a:xfrm>
          <a:prstGeom prst="roundRect">
            <a:avLst>
              <a:gd name="adj" fmla="val 2787"/>
            </a:avLst>
          </a:prstGeom>
          <a:solidFill>
            <a:srgbClr val="DDEFE3"/>
          </a:solidFill>
          <a:ln w="9525">
            <a:solidFill>
              <a:srgbClr val="DDEFE3"/>
            </a:solidFill>
            <a:prstDash val="solid"/>
          </a:ln>
        </p:spPr>
      </p:sp>
      <p:sp>
        <p:nvSpPr>
          <p:cNvPr id="7" name="Text 5"/>
          <p:cNvSpPr txBox="1"/>
          <p:nvPr/>
        </p:nvSpPr>
        <p:spPr>
          <a:xfrm>
            <a:off x="731520" y="2212848"/>
            <a:ext cx="2258568" cy="347472"/>
          </a:xfrm>
          <a:prstGeom prst="rect">
            <a:avLst/>
          </a:prstGeom>
          <a:noFill/>
          <a:ln/>
        </p:spPr>
        <p:txBody>
          <a:bodyPr wrap="square" lIns="0" tIns="0" rIns="0" bIns="0" rtlCol="0" anchor="ctr"/>
          <a:lstStyle/>
          <a:p>
            <a:pPr algn="l" indent="0" marL="0">
              <a:buNone/>
            </a:pPr>
            <a:r>
              <a:rPr lang="en-US" sz="2000" b="1" dirty="0">
                <a:solidFill>
                  <a:srgbClr val="146238"/>
                </a:solidFill>
                <a:latin typeface="Barlow Condensed" pitchFamily="34" charset="0"/>
                <a:ea typeface="Barlow Condensed" pitchFamily="34" charset="-122"/>
                <a:cs typeface="Barlow Condensed" pitchFamily="34" charset="-120"/>
              </a:rPr>
              <a:t>V1 · NOW</a:t>
            </a:r>
            <a:endParaRPr lang="en-US" sz="2000" dirty="0"/>
          </a:p>
        </p:txBody>
      </p:sp>
      <p:sp>
        <p:nvSpPr>
          <p:cNvPr id="8" name="Text 6"/>
          <p:cNvSpPr txBox="1"/>
          <p:nvPr/>
        </p:nvSpPr>
        <p:spPr>
          <a:xfrm>
            <a:off x="731520" y="2560320"/>
            <a:ext cx="2258568"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PILOT</a:t>
            </a:r>
            <a:endParaRPr lang="en-US" sz="1000" dirty="0"/>
          </a:p>
        </p:txBody>
      </p:sp>
      <p:sp>
        <p:nvSpPr>
          <p:cNvPr id="9" name="Text 7"/>
          <p:cNvSpPr txBox="1"/>
          <p:nvPr/>
        </p:nvSpPr>
        <p:spPr>
          <a:xfrm>
            <a:off x="658368" y="2926080"/>
            <a:ext cx="2350008" cy="2331720"/>
          </a:xfrm>
          <a:prstGeom prst="rect">
            <a:avLst/>
          </a:prstGeom>
          <a:noFill/>
          <a:ln/>
        </p:spPr>
        <p:txBody>
          <a:bodyPr wrap="square" lIns="635" tIns="635" rIns="635" bIns="635" rtlCol="0" anchor="t"/>
          <a:lstStyle/>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Pin, tap in, reserve list, late-drop rule</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Attendance, three-tap ratings, player cards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Season table, streaks, Sick Notes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Exact ledger, mark as paid</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Four side games, share cards</a:t>
            </a:r>
            <a:endParaRPr lang="en-US" sz="1050" dirty="0"/>
          </a:p>
        </p:txBody>
      </p:sp>
      <p:sp>
        <p:nvSpPr>
          <p:cNvPr id="10" name="Shape 8"/>
          <p:cNvSpPr/>
          <p:nvPr/>
        </p:nvSpPr>
        <p:spPr>
          <a:xfrm>
            <a:off x="3355848" y="2103120"/>
            <a:ext cx="2624328" cy="3246120"/>
          </a:xfrm>
          <a:prstGeom prst="roundRect">
            <a:avLst>
              <a:gd name="adj" fmla="val 2787"/>
            </a:avLst>
          </a:prstGeom>
          <a:solidFill>
            <a:srgbClr val="FFFFFF"/>
          </a:solidFill>
          <a:ln w="9525">
            <a:solidFill>
              <a:srgbClr val="D5DAD2"/>
            </a:solidFill>
            <a:prstDash val="solid"/>
          </a:ln>
        </p:spPr>
      </p:sp>
      <p:sp>
        <p:nvSpPr>
          <p:cNvPr id="11" name="Text 9"/>
          <p:cNvSpPr txBox="1"/>
          <p:nvPr/>
        </p:nvSpPr>
        <p:spPr>
          <a:xfrm>
            <a:off x="3538728" y="2212848"/>
            <a:ext cx="2258568" cy="347472"/>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V1.1 · MONTHS 4 TO 6</a:t>
            </a:r>
            <a:endParaRPr lang="en-US" sz="2000" dirty="0"/>
          </a:p>
        </p:txBody>
      </p:sp>
      <p:sp>
        <p:nvSpPr>
          <p:cNvPr id="12" name="Text 10"/>
          <p:cNvSpPr txBox="1"/>
          <p:nvPr/>
        </p:nvSpPr>
        <p:spPr>
          <a:xfrm>
            <a:off x="3538728" y="2560320"/>
            <a:ext cx="2258568"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AFTER THE PILOT</a:t>
            </a:r>
            <a:endParaRPr lang="en-US" sz="1000" dirty="0"/>
          </a:p>
        </p:txBody>
      </p:sp>
      <p:sp>
        <p:nvSpPr>
          <p:cNvPr id="13" name="Text 11"/>
          <p:cNvSpPr txBox="1"/>
          <p:nvPr/>
        </p:nvSpPr>
        <p:spPr>
          <a:xfrm>
            <a:off x="3465576" y="2926080"/>
            <a:ext cx="2350008" cy="2331720"/>
          </a:xfrm>
          <a:prstGeom prst="rect">
            <a:avLst/>
          </a:prstGeom>
          <a:noFill/>
          <a:ln/>
        </p:spPr>
        <p:txBody>
          <a:bodyPr wrap="square" lIns="635" tIns="635" rIns="635" bIns="635" rtlCol="0" anchor="t"/>
          <a:lstStyle/>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Stripe Connect pass-through, fee disclosed</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Email and WhatsApp reminders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Calendar export</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Venue directory seeded from pilot crews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Accessibility audit to WCAG 2.2 AA</a:t>
            </a:r>
            <a:endParaRPr lang="en-US" sz="1050" dirty="0"/>
          </a:p>
        </p:txBody>
      </p:sp>
      <p:sp>
        <p:nvSpPr>
          <p:cNvPr id="14" name="Shape 12"/>
          <p:cNvSpPr/>
          <p:nvPr/>
        </p:nvSpPr>
        <p:spPr>
          <a:xfrm>
            <a:off x="6163056" y="2103120"/>
            <a:ext cx="2624328" cy="3246120"/>
          </a:xfrm>
          <a:prstGeom prst="roundRect">
            <a:avLst>
              <a:gd name="adj" fmla="val 2787"/>
            </a:avLst>
          </a:prstGeom>
          <a:solidFill>
            <a:srgbClr val="FFFFFF"/>
          </a:solidFill>
          <a:ln w="9525">
            <a:solidFill>
              <a:srgbClr val="D5DAD2"/>
            </a:solidFill>
            <a:prstDash val="solid"/>
          </a:ln>
        </p:spPr>
      </p:sp>
      <p:sp>
        <p:nvSpPr>
          <p:cNvPr id="15" name="Text 13"/>
          <p:cNvSpPr txBox="1"/>
          <p:nvPr/>
        </p:nvSpPr>
        <p:spPr>
          <a:xfrm>
            <a:off x="6345936" y="2212848"/>
            <a:ext cx="2258568" cy="347472"/>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V2 · MONTHS 7 TO 12</a:t>
            </a:r>
            <a:endParaRPr lang="en-US" sz="2000" dirty="0"/>
          </a:p>
        </p:txBody>
      </p:sp>
      <p:sp>
        <p:nvSpPr>
          <p:cNvPr id="16" name="Text 14"/>
          <p:cNvSpPr txBox="1"/>
          <p:nvPr/>
        </p:nvSpPr>
        <p:spPr>
          <a:xfrm>
            <a:off x="6345936" y="2560320"/>
            <a:ext cx="2258568"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LONDON DENSITY</a:t>
            </a:r>
            <a:endParaRPr lang="en-US" sz="1000" dirty="0"/>
          </a:p>
        </p:txBody>
      </p:sp>
      <p:sp>
        <p:nvSpPr>
          <p:cNvPr id="17" name="Text 15"/>
          <p:cNvSpPr txBox="1"/>
          <p:nvPr/>
        </p:nvSpPr>
        <p:spPr>
          <a:xfrm>
            <a:off x="6272784" y="2926080"/>
            <a:ext cx="2350008" cy="2331720"/>
          </a:xfrm>
          <a:prstGeom prst="rect">
            <a:avLst/>
          </a:prstGeom>
          <a:noFill/>
          <a:ln/>
        </p:spPr>
        <p:txBody>
          <a:bodyPr wrap="square" lIns="635" tIns="635" rIns="635" bIns="635" rtlCol="0" anchor="t"/>
          <a:lstStyle/>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Venue partnerships and reliability score</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Standing bookings as a series of pins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Crew-vs-crew challenges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Seasons and awards night generator</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Multi-crew player identity</a:t>
            </a:r>
            <a:endParaRPr lang="en-US" sz="1050" dirty="0"/>
          </a:p>
        </p:txBody>
      </p:sp>
      <p:sp>
        <p:nvSpPr>
          <p:cNvPr id="18" name="Shape 16"/>
          <p:cNvSpPr/>
          <p:nvPr/>
        </p:nvSpPr>
        <p:spPr>
          <a:xfrm>
            <a:off x="8970264" y="2103120"/>
            <a:ext cx="2624328" cy="3246120"/>
          </a:xfrm>
          <a:prstGeom prst="roundRect">
            <a:avLst>
              <a:gd name="adj" fmla="val 2787"/>
            </a:avLst>
          </a:prstGeom>
          <a:solidFill>
            <a:srgbClr val="FFFFFF"/>
          </a:solidFill>
          <a:ln w="9525">
            <a:solidFill>
              <a:srgbClr val="D5DAD2"/>
            </a:solidFill>
            <a:prstDash val="solid"/>
          </a:ln>
        </p:spPr>
      </p:sp>
      <p:sp>
        <p:nvSpPr>
          <p:cNvPr id="19" name="Text 17"/>
          <p:cNvSpPr txBox="1"/>
          <p:nvPr/>
        </p:nvSpPr>
        <p:spPr>
          <a:xfrm>
            <a:off x="9153144" y="2212848"/>
            <a:ext cx="2258568" cy="347472"/>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LATER · MONTH 12+</a:t>
            </a:r>
            <a:endParaRPr lang="en-US" sz="2000" dirty="0"/>
          </a:p>
        </p:txBody>
      </p:sp>
      <p:sp>
        <p:nvSpPr>
          <p:cNvPr id="20" name="Text 18"/>
          <p:cNvSpPr txBox="1"/>
          <p:nvPr/>
        </p:nvSpPr>
        <p:spPr>
          <a:xfrm>
            <a:off x="9153144" y="2560320"/>
            <a:ext cx="2258568"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AFTER 300 CREWS</a:t>
            </a:r>
            <a:endParaRPr lang="en-US" sz="1000" dirty="0"/>
          </a:p>
        </p:txBody>
      </p:sp>
      <p:sp>
        <p:nvSpPr>
          <p:cNvPr id="21" name="Text 19"/>
          <p:cNvSpPr txBox="1"/>
          <p:nvPr/>
        </p:nvSpPr>
        <p:spPr>
          <a:xfrm>
            <a:off x="9079992" y="2926080"/>
            <a:ext cx="2350008" cy="2331720"/>
          </a:xfrm>
          <a:prstGeom prst="rect">
            <a:avLst/>
          </a:prstGeom>
          <a:noFill/>
          <a:ln/>
        </p:spPr>
        <p:txBody>
          <a:bodyPr wrap="square" lIns="635" tIns="635" rIns="635" bIns="635" rtlCol="0" anchor="t"/>
          <a:lstStyle/>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Booking deep links to Playtomic, Playfinder</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Strava and Hevy import for gym crews</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Karting and sim racing side game</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Second UK city</a:t>
            </a:r>
            <a:endParaRPr lang="en-US" sz="1050" dirty="0"/>
          </a:p>
          <a:p>
            <a:pPr algn="l" marL="342900" indent="-342900">
              <a:lnSpc>
                <a:spcPct val="110000"/>
              </a:lnSpc>
              <a:spcAft>
                <a:spcPts val="500"/>
              </a:spcAft>
              <a:buSzPct val="100000"/>
              <a:buChar char="•"/>
            </a:pPr>
            <a:r>
              <a:rPr lang="en-US" sz="1050" dirty="0">
                <a:solidFill>
                  <a:srgbClr val="3E4A44"/>
                </a:solidFill>
                <a:latin typeface="Arial" pitchFamily="34" charset="0"/>
                <a:ea typeface="Arial" pitchFamily="34" charset="-122"/>
                <a:cs typeface="Arial" pitchFamily="34" charset="-120"/>
              </a:rPr>
              <a:t>One-off premium crew features</a:t>
            </a:r>
            <a:endParaRPr lang="en-US" sz="1050" dirty="0"/>
          </a:p>
        </p:txBody>
      </p:sp>
      <p:sp>
        <p:nvSpPr>
          <p:cNvPr id="22" name="Shape 20"/>
          <p:cNvSpPr/>
          <p:nvPr/>
        </p:nvSpPr>
        <p:spPr>
          <a:xfrm>
            <a:off x="548640" y="5532120"/>
            <a:ext cx="11094415" cy="658368"/>
          </a:xfrm>
          <a:prstGeom prst="roundRect">
            <a:avLst>
              <a:gd name="adj" fmla="val 11111"/>
            </a:avLst>
          </a:prstGeom>
          <a:solidFill>
            <a:srgbClr val="EBEEE6"/>
          </a:solidFill>
          <a:ln w="9525">
            <a:solidFill>
              <a:srgbClr val="EBEEE6"/>
            </a:solidFill>
            <a:prstDash val="solid"/>
          </a:ln>
        </p:spPr>
      </p:sp>
      <p:sp>
        <p:nvSpPr>
          <p:cNvPr id="23" name="Text 21"/>
          <p:cNvSpPr txBox="1"/>
          <p:nvPr/>
        </p:nvSpPr>
        <p:spPr>
          <a:xfrm>
            <a:off x="777240" y="5532120"/>
            <a:ext cx="1371600" cy="658368"/>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NON-GOALS</a:t>
            </a:r>
            <a:endParaRPr lang="en-US" sz="1000" dirty="0"/>
          </a:p>
        </p:txBody>
      </p:sp>
      <p:sp>
        <p:nvSpPr>
          <p:cNvPr id="24" name="Text 22"/>
          <p:cNvSpPr txBox="1"/>
          <p:nvPr/>
        </p:nvSpPr>
        <p:spPr>
          <a:xfrm>
            <a:off x="2194560" y="5532120"/>
            <a:ext cx="9265615" cy="658368"/>
          </a:xfrm>
          <a:prstGeom prst="rect">
            <a:avLst/>
          </a:prstGeom>
          <a:noFill/>
          <a:ln/>
        </p:spPr>
        <p:txBody>
          <a:bodyPr wrap="square" lIns="0" tIns="0" rIns="0" bIns="0" rtlCol="0" anchor="ctr"/>
          <a:lstStyle/>
          <a:p>
            <a:pPr algn="l" indent="0" marL="0">
              <a:lnSpc>
                <a:spcPct val="115000"/>
              </a:lnSpc>
              <a:buNone/>
            </a:pPr>
            <a:r>
              <a:rPr lang="en-US" sz="1050" b="1" dirty="0">
                <a:solidFill>
                  <a:srgbClr val="14201B"/>
                </a:solidFill>
                <a:latin typeface="Arial" pitchFamily="34" charset="0"/>
                <a:ea typeface="Arial" pitchFamily="34" charset="-122"/>
                <a:cs typeface="Arial" pitchFamily="34" charset="-120"/>
              </a:rPr>
              <a:t>No chat. </a:t>
            </a:r>
            <a:pPr algn="l" indent="0" marL="0">
              <a:lnSpc>
                <a:spcPct val="115000"/>
              </a:lnSpc>
              <a:buNone/>
            </a:pPr>
            <a:r>
              <a:rPr lang="en-US" sz="1050" dirty="0">
                <a:solidFill>
                  <a:srgbClr val="3E4A44"/>
                </a:solidFill>
                <a:latin typeface="Arial" pitchFamily="34" charset="0"/>
                <a:ea typeface="Arial" pitchFamily="34" charset="-122"/>
                <a:cs typeface="Arial" pitchFamily="34" charset="-120"/>
              </a:rPr>
              <a:t>WhatsApp is the chat; we send cards into it.   </a:t>
            </a:r>
            <a:pPr algn="l" indent="0" marL="0">
              <a:lnSpc>
                <a:spcPct val="115000"/>
              </a:lnSpc>
              <a:buNone/>
            </a:pPr>
            <a:r>
              <a:rPr lang="en-US" sz="1050" b="1" dirty="0">
                <a:solidFill>
                  <a:srgbClr val="14201B"/>
                </a:solidFill>
                <a:latin typeface="Arial" pitchFamily="34" charset="0"/>
                <a:ea typeface="Arial" pitchFamily="34" charset="-122"/>
                <a:cs typeface="Arial" pitchFamily="34" charset="-120"/>
              </a:rPr>
              <a:t>No player-finder. </a:t>
            </a:r>
            <a:pPr algn="l" indent="0" marL="0">
              <a:lnSpc>
                <a:spcPct val="115000"/>
              </a:lnSpc>
              <a:buNone/>
            </a:pPr>
            <a:r>
              <a:rPr lang="en-US" sz="1050" dirty="0">
                <a:solidFill>
                  <a:srgbClr val="3E4A44"/>
                </a:solidFill>
                <a:latin typeface="Arial" pitchFamily="34" charset="0"/>
                <a:ea typeface="Arial" pitchFamily="34" charset="-122"/>
                <a:cs typeface="Arial" pitchFamily="34" charset="-120"/>
              </a:rPr>
              <a:t>Crews bring their own people.   </a:t>
            </a:r>
            <a:pPr algn="l" indent="0" marL="0">
              <a:lnSpc>
                <a:spcPct val="115000"/>
              </a:lnSpc>
              <a:buNone/>
            </a:pPr>
            <a:r>
              <a:rPr lang="en-US" sz="1050" b="1" dirty="0">
                <a:solidFill>
                  <a:srgbClr val="14201B"/>
                </a:solidFill>
                <a:latin typeface="Arial" pitchFamily="34" charset="0"/>
                <a:ea typeface="Arial" pitchFamily="34" charset="-122"/>
                <a:cs typeface="Arial" pitchFamily="34" charset="-120"/>
              </a:rPr>
              <a:t>No gambling. </a:t>
            </a:r>
            <a:pPr algn="l" indent="0" marL="0">
              <a:lnSpc>
                <a:spcPct val="115000"/>
              </a:lnSpc>
              <a:buNone/>
            </a:pPr>
            <a:r>
              <a:rPr lang="en-US" sz="1050" dirty="0">
                <a:solidFill>
                  <a:srgbClr val="3E4A44"/>
                </a:solidFill>
                <a:latin typeface="Arial" pitchFamily="34" charset="0"/>
                <a:ea typeface="Arial" pitchFamily="34" charset="-122"/>
                <a:cs typeface="Arial" pitchFamily="34" charset="-120"/>
              </a:rPr>
              <a:t>Predictor is free with no prizes; side pots are memos, never held.   </a:t>
            </a:r>
            <a:pPr algn="l" indent="0" marL="0">
              <a:lnSpc>
                <a:spcPct val="115000"/>
              </a:lnSpc>
              <a:buNone/>
            </a:pPr>
            <a:r>
              <a:rPr lang="en-US" sz="1050" b="1" dirty="0">
                <a:solidFill>
                  <a:srgbClr val="14201B"/>
                </a:solidFill>
                <a:latin typeface="Arial" pitchFamily="34" charset="0"/>
                <a:ea typeface="Arial" pitchFamily="34" charset="-122"/>
                <a:cs typeface="Arial" pitchFamily="34" charset="-120"/>
              </a:rPr>
              <a:t>No subscriptions, no wallet, no booking engine.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THE ASK</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14201B"/>
                </a:solidFill>
                <a:latin typeface="Barlow Condensed" pitchFamily="34" charset="0"/>
                <a:ea typeface="Barlow Condensed" pitchFamily="34" charset="-122"/>
                <a:cs typeface="Barlow Condensed" pitchFamily="34" charset="-120"/>
              </a:rPr>
              <a:t>£500K PRE-SEED FOR 18 MONTHS TO SERIES SEED METRICS.</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6E7A73"/>
                </a:solidFill>
                <a:latin typeface="Courier New" pitchFamily="34" charset="0"/>
                <a:ea typeface="Courier New" pitchFamily="34" charset="-122"/>
                <a:cs typeface="Courier New" pitchFamily="34" charset="-120"/>
              </a:rPr>
              <a:t>15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6E7A73"/>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Text 4"/>
          <p:cNvSpPr txBox="1"/>
          <p:nvPr/>
        </p:nvSpPr>
        <p:spPr>
          <a:xfrm>
            <a:off x="548640" y="2011680"/>
            <a:ext cx="3840480" cy="1188720"/>
          </a:xfrm>
          <a:prstGeom prst="rect">
            <a:avLst/>
          </a:prstGeom>
          <a:noFill/>
          <a:ln/>
        </p:spPr>
        <p:txBody>
          <a:bodyPr wrap="square" lIns="0" tIns="0" rIns="0" bIns="0" rtlCol="0" anchor="ctr"/>
          <a:lstStyle/>
          <a:p>
            <a:pPr algn="l" indent="0" marL="0">
              <a:buNone/>
            </a:pPr>
            <a:r>
              <a:rPr lang="en-US" sz="8400" b="1" dirty="0">
                <a:solidFill>
                  <a:srgbClr val="146238"/>
                </a:solidFill>
                <a:latin typeface="Barlow Condensed" pitchFamily="34" charset="0"/>
                <a:ea typeface="Barlow Condensed" pitchFamily="34" charset="-122"/>
                <a:cs typeface="Barlow Condensed" pitchFamily="34" charset="-120"/>
              </a:rPr>
              <a:t>£500k</a:t>
            </a:r>
            <a:endParaRPr lang="en-US" sz="8400" dirty="0"/>
          </a:p>
        </p:txBody>
      </p:sp>
      <p:sp>
        <p:nvSpPr>
          <p:cNvPr id="7" name="Text 5"/>
          <p:cNvSpPr txBox="1"/>
          <p:nvPr/>
        </p:nvSpPr>
        <p:spPr>
          <a:xfrm>
            <a:off x="548640" y="3200400"/>
            <a:ext cx="3840480" cy="457200"/>
          </a:xfrm>
          <a:prstGeom prst="rect">
            <a:avLst/>
          </a:prstGeom>
          <a:noFill/>
          <a:ln/>
        </p:spPr>
        <p:txBody>
          <a:bodyPr wrap="square" lIns="0" tIns="0" rIns="0" bIns="0" rtlCol="0" anchor="t"/>
          <a:lstStyle/>
          <a:p>
            <a:pPr algn="l" indent="0" marL="0">
              <a:buNone/>
            </a:pPr>
            <a:r>
              <a:rPr lang="en-US" sz="1200" dirty="0">
                <a:solidFill>
                  <a:srgbClr val="3E4A44"/>
                </a:solidFill>
                <a:latin typeface="Arial" pitchFamily="34" charset="0"/>
                <a:ea typeface="Arial" pitchFamily="34" charset="-122"/>
                <a:cs typeface="Arial" pitchFamily="34" charset="-120"/>
              </a:rPr>
              <a:t>Business plan range £400k to £600k. 18 months of runway.</a:t>
            </a:r>
            <a:endParaRPr lang="en-US" sz="1200" dirty="0"/>
          </a:p>
        </p:txBody>
      </p:sp>
      <p:sp>
        <p:nvSpPr>
          <p:cNvPr id="8" name="Text 6"/>
          <p:cNvSpPr txBox="1"/>
          <p:nvPr/>
        </p:nvSpPr>
        <p:spPr>
          <a:xfrm>
            <a:off x="548640" y="3840480"/>
            <a:ext cx="3840480" cy="256032"/>
          </a:xfrm>
          <a:prstGeom prst="rect">
            <a:avLst/>
          </a:prstGeom>
          <a:noFill/>
          <a:ln/>
        </p:spPr>
        <p:txBody>
          <a:bodyPr wrap="square" lIns="0" tIns="0" rIns="0" bIns="0" rtlCol="0" anchor="ctr"/>
          <a:lstStyle/>
          <a:p>
            <a:pPr algn="l" indent="0" marL="0">
              <a:buNone/>
            </a:pPr>
            <a:r>
              <a:rPr lang="en-US" sz="1000" b="1" spc="300" kern="0" dirty="0">
                <a:solidFill>
                  <a:srgbClr val="146238"/>
                </a:solidFill>
                <a:latin typeface="Courier New" pitchFamily="34" charset="0"/>
                <a:ea typeface="Courier New" pitchFamily="34" charset="-122"/>
                <a:cs typeface="Courier New" pitchFamily="34" charset="-120"/>
              </a:rPr>
              <a:t>MONTH-18 TARGETS (SERIES SEED)</a:t>
            </a:r>
            <a:endParaRPr lang="en-US" sz="1000" dirty="0"/>
          </a:p>
        </p:txBody>
      </p:sp>
      <p:sp>
        <p:nvSpPr>
          <p:cNvPr id="9" name="Shape 7"/>
          <p:cNvSpPr/>
          <p:nvPr/>
        </p:nvSpPr>
        <p:spPr>
          <a:xfrm>
            <a:off x="548640" y="4160520"/>
            <a:ext cx="1783080" cy="868680"/>
          </a:xfrm>
          <a:prstGeom prst="roundRect">
            <a:avLst>
              <a:gd name="adj" fmla="val 8421"/>
            </a:avLst>
          </a:prstGeom>
          <a:solidFill>
            <a:srgbClr val="FFFFFF"/>
          </a:solidFill>
          <a:ln w="9525">
            <a:solidFill>
              <a:srgbClr val="D5DAD2"/>
            </a:solidFill>
            <a:prstDash val="solid"/>
          </a:ln>
        </p:spPr>
      </p:sp>
      <p:sp>
        <p:nvSpPr>
          <p:cNvPr id="10" name="Text 8"/>
          <p:cNvSpPr txBox="1"/>
          <p:nvPr/>
        </p:nvSpPr>
        <p:spPr>
          <a:xfrm>
            <a:off x="685800" y="4233672"/>
            <a:ext cx="1554480" cy="411480"/>
          </a:xfrm>
          <a:prstGeom prst="rect">
            <a:avLst/>
          </a:prstGeom>
          <a:noFill/>
          <a:ln/>
        </p:spPr>
        <p:txBody>
          <a:bodyPr wrap="square" lIns="0" tIns="0" rIns="0" bIns="0" rtlCol="0" anchor="ctr"/>
          <a:lstStyle/>
          <a:p>
            <a:pPr algn="l" indent="0" marL="0">
              <a:buNone/>
            </a:pPr>
            <a:r>
              <a:rPr lang="en-US" sz="2600" b="1" dirty="0">
                <a:solidFill>
                  <a:srgbClr val="14201B"/>
                </a:solidFill>
                <a:latin typeface="Barlow Condensed" pitchFamily="34" charset="0"/>
                <a:ea typeface="Barlow Condensed" pitchFamily="34" charset="-122"/>
                <a:cs typeface="Barlow Condensed" pitchFamily="34" charset="-120"/>
              </a:rPr>
              <a:t>500</a:t>
            </a:r>
            <a:endParaRPr lang="en-US" sz="2600" dirty="0"/>
          </a:p>
        </p:txBody>
      </p:sp>
      <p:sp>
        <p:nvSpPr>
          <p:cNvPr id="11" name="Text 9"/>
          <p:cNvSpPr txBox="1"/>
          <p:nvPr/>
        </p:nvSpPr>
        <p:spPr>
          <a:xfrm>
            <a:off x="685800" y="4663440"/>
            <a:ext cx="1554480" cy="320040"/>
          </a:xfrm>
          <a:prstGeom prst="rect">
            <a:avLst/>
          </a:prstGeom>
          <a:noFill/>
          <a:ln/>
        </p:spPr>
        <p:txBody>
          <a:bodyPr wrap="square" lIns="0" tIns="0" rIns="0" bIns="0" rtlCol="0" anchor="t"/>
          <a:lstStyle/>
          <a:p>
            <a:pPr algn="l" indent="0" marL="0">
              <a:buNone/>
            </a:pPr>
            <a:r>
              <a:rPr lang="en-US" sz="950" dirty="0">
                <a:solidFill>
                  <a:srgbClr val="3E4A44"/>
                </a:solidFill>
                <a:latin typeface="Arial" pitchFamily="34" charset="0"/>
                <a:ea typeface="Arial" pitchFamily="34" charset="-122"/>
                <a:cs typeface="Arial" pitchFamily="34" charset="-120"/>
              </a:rPr>
              <a:t>active crews</a:t>
            </a:r>
            <a:endParaRPr lang="en-US" sz="950" dirty="0"/>
          </a:p>
        </p:txBody>
      </p:sp>
      <p:sp>
        <p:nvSpPr>
          <p:cNvPr id="12" name="Shape 10"/>
          <p:cNvSpPr/>
          <p:nvPr/>
        </p:nvSpPr>
        <p:spPr>
          <a:xfrm>
            <a:off x="2468880" y="4160520"/>
            <a:ext cx="1783080" cy="868680"/>
          </a:xfrm>
          <a:prstGeom prst="roundRect">
            <a:avLst>
              <a:gd name="adj" fmla="val 8421"/>
            </a:avLst>
          </a:prstGeom>
          <a:solidFill>
            <a:srgbClr val="FFFFFF"/>
          </a:solidFill>
          <a:ln w="9525">
            <a:solidFill>
              <a:srgbClr val="D5DAD2"/>
            </a:solidFill>
            <a:prstDash val="solid"/>
          </a:ln>
        </p:spPr>
      </p:sp>
      <p:sp>
        <p:nvSpPr>
          <p:cNvPr id="13" name="Text 11"/>
          <p:cNvSpPr txBox="1"/>
          <p:nvPr/>
        </p:nvSpPr>
        <p:spPr>
          <a:xfrm>
            <a:off x="2606040" y="4233672"/>
            <a:ext cx="1554480" cy="411480"/>
          </a:xfrm>
          <a:prstGeom prst="rect">
            <a:avLst/>
          </a:prstGeom>
          <a:noFill/>
          <a:ln/>
        </p:spPr>
        <p:txBody>
          <a:bodyPr wrap="square" lIns="0" tIns="0" rIns="0" bIns="0" rtlCol="0" anchor="ctr"/>
          <a:lstStyle/>
          <a:p>
            <a:pPr algn="l" indent="0" marL="0">
              <a:buNone/>
            </a:pPr>
            <a:r>
              <a:rPr lang="en-US" sz="2600" b="1" dirty="0">
                <a:solidFill>
                  <a:srgbClr val="14201B"/>
                </a:solidFill>
                <a:latin typeface="Barlow Condensed" pitchFamily="34" charset="0"/>
                <a:ea typeface="Barlow Condensed" pitchFamily="34" charset="-122"/>
                <a:cs typeface="Barlow Condensed" pitchFamily="34" charset="-120"/>
              </a:rPr>
              <a:t>3</a:t>
            </a:r>
            <a:endParaRPr lang="en-US" sz="2600" dirty="0"/>
          </a:p>
        </p:txBody>
      </p:sp>
      <p:sp>
        <p:nvSpPr>
          <p:cNvPr id="14" name="Text 12"/>
          <p:cNvSpPr txBox="1"/>
          <p:nvPr/>
        </p:nvSpPr>
        <p:spPr>
          <a:xfrm>
            <a:off x="2606040" y="4663440"/>
            <a:ext cx="1554480" cy="320040"/>
          </a:xfrm>
          <a:prstGeom prst="rect">
            <a:avLst/>
          </a:prstGeom>
          <a:noFill/>
          <a:ln/>
        </p:spPr>
        <p:txBody>
          <a:bodyPr wrap="square" lIns="0" tIns="0" rIns="0" bIns="0" rtlCol="0" anchor="t"/>
          <a:lstStyle/>
          <a:p>
            <a:pPr algn="l" indent="0" marL="0">
              <a:buNone/>
            </a:pPr>
            <a:r>
              <a:rPr lang="en-US" sz="950" dirty="0">
                <a:solidFill>
                  <a:srgbClr val="3E4A44"/>
                </a:solidFill>
                <a:latin typeface="Arial" pitchFamily="34" charset="0"/>
                <a:ea typeface="Arial" pitchFamily="34" charset="-122"/>
                <a:cs typeface="Arial" pitchFamily="34" charset="-120"/>
              </a:rPr>
              <a:t>UK cities</a:t>
            </a:r>
            <a:endParaRPr lang="en-US" sz="950" dirty="0"/>
          </a:p>
        </p:txBody>
      </p:sp>
      <p:sp>
        <p:nvSpPr>
          <p:cNvPr id="15" name="Shape 13"/>
          <p:cNvSpPr/>
          <p:nvPr/>
        </p:nvSpPr>
        <p:spPr>
          <a:xfrm>
            <a:off x="548640" y="5166360"/>
            <a:ext cx="1783080" cy="868680"/>
          </a:xfrm>
          <a:prstGeom prst="roundRect">
            <a:avLst>
              <a:gd name="adj" fmla="val 8421"/>
            </a:avLst>
          </a:prstGeom>
          <a:solidFill>
            <a:srgbClr val="FFFFFF"/>
          </a:solidFill>
          <a:ln w="9525">
            <a:solidFill>
              <a:srgbClr val="D5DAD2"/>
            </a:solidFill>
            <a:prstDash val="solid"/>
          </a:ln>
        </p:spPr>
      </p:sp>
      <p:sp>
        <p:nvSpPr>
          <p:cNvPr id="16" name="Text 14"/>
          <p:cNvSpPr txBox="1"/>
          <p:nvPr/>
        </p:nvSpPr>
        <p:spPr>
          <a:xfrm>
            <a:off x="685800" y="5239512"/>
            <a:ext cx="1554480" cy="411480"/>
          </a:xfrm>
          <a:prstGeom prst="rect">
            <a:avLst/>
          </a:prstGeom>
          <a:noFill/>
          <a:ln/>
        </p:spPr>
        <p:txBody>
          <a:bodyPr wrap="square" lIns="0" tIns="0" rIns="0" bIns="0" rtlCol="0" anchor="ctr"/>
          <a:lstStyle/>
          <a:p>
            <a:pPr algn="l" indent="0" marL="0">
              <a:buNone/>
            </a:pPr>
            <a:r>
              <a:rPr lang="en-US" sz="2600" b="1" dirty="0">
                <a:solidFill>
                  <a:srgbClr val="14201B"/>
                </a:solidFill>
                <a:latin typeface="Barlow Condensed" pitchFamily="34" charset="0"/>
                <a:ea typeface="Barlow Condensed" pitchFamily="34" charset="-122"/>
                <a:cs typeface="Barlow Condensed" pitchFamily="34" charset="-120"/>
              </a:rPr>
              <a:t>Live</a:t>
            </a:r>
            <a:endParaRPr lang="en-US" sz="2600" dirty="0"/>
          </a:p>
        </p:txBody>
      </p:sp>
      <p:sp>
        <p:nvSpPr>
          <p:cNvPr id="17" name="Text 15"/>
          <p:cNvSpPr txBox="1"/>
          <p:nvPr/>
        </p:nvSpPr>
        <p:spPr>
          <a:xfrm>
            <a:off x="685800" y="5669280"/>
            <a:ext cx="1554480" cy="320040"/>
          </a:xfrm>
          <a:prstGeom prst="rect">
            <a:avLst/>
          </a:prstGeom>
          <a:noFill/>
          <a:ln/>
        </p:spPr>
        <p:txBody>
          <a:bodyPr wrap="square" lIns="0" tIns="0" rIns="0" bIns="0" rtlCol="0" anchor="t"/>
          <a:lstStyle/>
          <a:p>
            <a:pPr algn="l" indent="0" marL="0">
              <a:buNone/>
            </a:pPr>
            <a:r>
              <a:rPr lang="en-US" sz="950" dirty="0">
                <a:solidFill>
                  <a:srgbClr val="3E4A44"/>
                </a:solidFill>
                <a:latin typeface="Arial" pitchFamily="34" charset="0"/>
                <a:ea typeface="Arial" pitchFamily="34" charset="-122"/>
                <a:cs typeface="Arial" pitchFamily="34" charset="-120"/>
              </a:rPr>
              <a:t>payments with fee disclosed</a:t>
            </a:r>
            <a:endParaRPr lang="en-US" sz="950" dirty="0"/>
          </a:p>
        </p:txBody>
      </p:sp>
      <p:sp>
        <p:nvSpPr>
          <p:cNvPr id="18" name="Shape 16"/>
          <p:cNvSpPr/>
          <p:nvPr/>
        </p:nvSpPr>
        <p:spPr>
          <a:xfrm>
            <a:off x="2468880" y="5166360"/>
            <a:ext cx="1783080" cy="868680"/>
          </a:xfrm>
          <a:prstGeom prst="roundRect">
            <a:avLst>
              <a:gd name="adj" fmla="val 8421"/>
            </a:avLst>
          </a:prstGeom>
          <a:solidFill>
            <a:srgbClr val="FFFFFF"/>
          </a:solidFill>
          <a:ln w="9525">
            <a:solidFill>
              <a:srgbClr val="D5DAD2"/>
            </a:solidFill>
            <a:prstDash val="solid"/>
          </a:ln>
        </p:spPr>
      </p:sp>
      <p:sp>
        <p:nvSpPr>
          <p:cNvPr id="19" name="Text 17"/>
          <p:cNvSpPr txBox="1"/>
          <p:nvPr/>
        </p:nvSpPr>
        <p:spPr>
          <a:xfrm>
            <a:off x="2606040" y="5239512"/>
            <a:ext cx="1554480" cy="411480"/>
          </a:xfrm>
          <a:prstGeom prst="rect">
            <a:avLst/>
          </a:prstGeom>
          <a:noFill/>
          <a:ln/>
        </p:spPr>
        <p:txBody>
          <a:bodyPr wrap="square" lIns="0" tIns="0" rIns="0" bIns="0" rtlCol="0" anchor="ctr"/>
          <a:lstStyle/>
          <a:p>
            <a:pPr algn="l" indent="0" marL="0">
              <a:buNone/>
            </a:pPr>
            <a:r>
              <a:rPr lang="en-US" sz="2600" b="1" dirty="0">
                <a:solidFill>
                  <a:srgbClr val="14201B"/>
                </a:solidFill>
                <a:latin typeface="Barlow Condensed" pitchFamily="34" charset="0"/>
                <a:ea typeface="Barlow Condensed" pitchFamily="34" charset="-122"/>
                <a:cs typeface="Barlow Condensed" pitchFamily="34" charset="-120"/>
              </a:rPr>
              <a:t>Signed</a:t>
            </a:r>
            <a:endParaRPr lang="en-US" sz="2600" dirty="0"/>
          </a:p>
        </p:txBody>
      </p:sp>
      <p:sp>
        <p:nvSpPr>
          <p:cNvPr id="20" name="Text 18"/>
          <p:cNvSpPr txBox="1"/>
          <p:nvPr/>
        </p:nvSpPr>
        <p:spPr>
          <a:xfrm>
            <a:off x="2606040" y="5669280"/>
            <a:ext cx="1554480" cy="320040"/>
          </a:xfrm>
          <a:prstGeom prst="rect">
            <a:avLst/>
          </a:prstGeom>
          <a:noFill/>
          <a:ln/>
        </p:spPr>
        <p:txBody>
          <a:bodyPr wrap="square" lIns="0" tIns="0" rIns="0" bIns="0" rtlCol="0" anchor="t"/>
          <a:lstStyle/>
          <a:p>
            <a:pPr algn="l" indent="0" marL="0">
              <a:buNone/>
            </a:pPr>
            <a:r>
              <a:rPr lang="en-US" sz="950" dirty="0">
                <a:solidFill>
                  <a:srgbClr val="3E4A44"/>
                </a:solidFill>
                <a:latin typeface="Arial" pitchFamily="34" charset="0"/>
                <a:ea typeface="Arial" pitchFamily="34" charset="-122"/>
                <a:cs typeface="Arial" pitchFamily="34" charset="-120"/>
              </a:rPr>
              <a:t>venue partnership deals</a:t>
            </a:r>
            <a:endParaRPr lang="en-US" sz="950" dirty="0"/>
          </a:p>
        </p:txBody>
      </p:sp>
      <p:graphicFrame>
        <p:nvGraphicFramePr>
          <p:cNvPr id="21" name="Chart 0" descr=""/>
          <p:cNvGraphicFramePr/>
          <p:nvPr/>
        </p:nvGraphicFramePr>
        <p:xfrm>
          <a:off x="4754880" y="2057400"/>
          <a:ext cx="3291840" cy="329184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4754880" y="5440680"/>
            <a:ext cx="3291840" cy="256032"/>
          </a:xfrm>
          <a:prstGeom prst="rect">
            <a:avLst/>
          </a:prstGeom>
          <a:noFill/>
          <a:ln/>
        </p:spPr>
        <p:txBody>
          <a:bodyPr wrap="square" lIns="0" tIns="0" rIns="0" bIns="0" rtlCol="0" anchor="ctr"/>
          <a:lstStyle/>
          <a:p>
            <a:pPr algn="l" indent="0" marL="0">
              <a:buNone/>
            </a:pPr>
            <a:r>
              <a:rPr lang="en-US" sz="1000" b="1" spc="300" kern="0" dirty="0">
                <a:solidFill>
                  <a:srgbClr val="6E7A73"/>
                </a:solidFill>
                <a:latin typeface="Courier New" pitchFamily="34" charset="0"/>
                <a:ea typeface="Courier New" pitchFamily="34" charset="-122"/>
                <a:cs typeface="Courier New" pitchFamily="34" charset="-120"/>
              </a:rPr>
              <a:t>USE OF FUNDS · FOUNDER'S PROPOSED ALLOCATION</a:t>
            </a:r>
            <a:endParaRPr lang="en-US" sz="1000" dirty="0"/>
          </a:p>
        </p:txBody>
      </p:sp>
      <p:sp>
        <p:nvSpPr>
          <p:cNvPr id="23" name="Shape 20"/>
          <p:cNvSpPr/>
          <p:nvPr/>
        </p:nvSpPr>
        <p:spPr>
          <a:xfrm>
            <a:off x="8275320" y="2176272"/>
            <a:ext cx="128016" cy="128016"/>
          </a:xfrm>
          <a:prstGeom prst="roundRect">
            <a:avLst>
              <a:gd name="adj" fmla="val 50000"/>
            </a:avLst>
          </a:prstGeom>
          <a:solidFill>
            <a:srgbClr val="1E8A4C"/>
          </a:solidFill>
          <a:ln/>
        </p:spPr>
      </p:sp>
      <p:sp>
        <p:nvSpPr>
          <p:cNvPr id="24" name="Text 21"/>
          <p:cNvSpPr txBox="1"/>
          <p:nvPr/>
        </p:nvSpPr>
        <p:spPr>
          <a:xfrm>
            <a:off x="8503920" y="2103120"/>
            <a:ext cx="685800" cy="292608"/>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40%</a:t>
            </a:r>
            <a:endParaRPr lang="en-US" sz="2000" dirty="0"/>
          </a:p>
        </p:txBody>
      </p:sp>
      <p:sp>
        <p:nvSpPr>
          <p:cNvPr id="25" name="Text 22"/>
          <p:cNvSpPr txBox="1"/>
          <p:nvPr/>
        </p:nvSpPr>
        <p:spPr>
          <a:xfrm>
            <a:off x="9189720" y="2103120"/>
            <a:ext cx="24533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Marketing and growth</a:t>
            </a:r>
            <a:endParaRPr lang="en-US" sz="1600" dirty="0"/>
          </a:p>
        </p:txBody>
      </p:sp>
      <p:sp>
        <p:nvSpPr>
          <p:cNvPr id="26" name="Text 23"/>
          <p:cNvSpPr txBox="1"/>
          <p:nvPr/>
        </p:nvSpPr>
        <p:spPr>
          <a:xfrm>
            <a:off x="8503920" y="2414016"/>
            <a:ext cx="3139135" cy="502920"/>
          </a:xfrm>
          <a:prstGeom prst="rect">
            <a:avLst/>
          </a:prstGeom>
          <a:noFill/>
          <a:ln/>
        </p:spPr>
        <p:txBody>
          <a:bodyPr wrap="square" lIns="0" tIns="0" rIns="0" bIns="0" rtlCol="0" anchor="t"/>
          <a:lstStyle/>
          <a:p>
            <a:pPr algn="l" indent="0" marL="0">
              <a:lnSpc>
                <a:spcPct val="110000"/>
              </a:lnSpc>
              <a:buNone/>
            </a:pPr>
            <a:r>
              <a:rPr lang="en-US" sz="950" dirty="0">
                <a:solidFill>
                  <a:srgbClr val="3E4A44"/>
                </a:solidFill>
                <a:latin typeface="Arial" pitchFamily="34" charset="0"/>
                <a:ea typeface="Arial" pitchFamily="34" charset="-122"/>
                <a:cs typeface="Arial" pitchFamily="34" charset="-120"/>
              </a:rPr>
              <a:t>Staged and gated as on the go-to-market slide: £0, then £150k, then £200k.</a:t>
            </a:r>
            <a:endParaRPr lang="en-US" sz="950" dirty="0"/>
          </a:p>
        </p:txBody>
      </p:sp>
      <p:sp>
        <p:nvSpPr>
          <p:cNvPr id="27" name="Shape 24"/>
          <p:cNvSpPr/>
          <p:nvPr/>
        </p:nvSpPr>
        <p:spPr>
          <a:xfrm>
            <a:off x="8275320" y="3044952"/>
            <a:ext cx="128016" cy="128016"/>
          </a:xfrm>
          <a:prstGeom prst="roundRect">
            <a:avLst>
              <a:gd name="adj" fmla="val 50000"/>
            </a:avLst>
          </a:prstGeom>
          <a:solidFill>
            <a:srgbClr val="14201B"/>
          </a:solidFill>
          <a:ln/>
        </p:spPr>
      </p:sp>
      <p:sp>
        <p:nvSpPr>
          <p:cNvPr id="28" name="Text 25"/>
          <p:cNvSpPr txBox="1"/>
          <p:nvPr/>
        </p:nvSpPr>
        <p:spPr>
          <a:xfrm>
            <a:off x="8503920" y="2971800"/>
            <a:ext cx="685800" cy="292608"/>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30%</a:t>
            </a:r>
            <a:endParaRPr lang="en-US" sz="2000" dirty="0"/>
          </a:p>
        </p:txBody>
      </p:sp>
      <p:sp>
        <p:nvSpPr>
          <p:cNvPr id="29" name="Text 26"/>
          <p:cNvSpPr txBox="1"/>
          <p:nvPr/>
        </p:nvSpPr>
        <p:spPr>
          <a:xfrm>
            <a:off x="9189720" y="2971800"/>
            <a:ext cx="24533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Product and engineering</a:t>
            </a:r>
            <a:endParaRPr lang="en-US" sz="1600" dirty="0"/>
          </a:p>
        </p:txBody>
      </p:sp>
      <p:sp>
        <p:nvSpPr>
          <p:cNvPr id="30" name="Text 27"/>
          <p:cNvSpPr txBox="1"/>
          <p:nvPr/>
        </p:nvSpPr>
        <p:spPr>
          <a:xfrm>
            <a:off x="8503920" y="3282696"/>
            <a:ext cx="3139135" cy="502920"/>
          </a:xfrm>
          <a:prstGeom prst="rect">
            <a:avLst/>
          </a:prstGeom>
          <a:noFill/>
          <a:ln/>
        </p:spPr>
        <p:txBody>
          <a:bodyPr wrap="square" lIns="0" tIns="0" rIns="0" bIns="0" rtlCol="0" anchor="t"/>
          <a:lstStyle/>
          <a:p>
            <a:pPr algn="l" indent="0" marL="0">
              <a:lnSpc>
                <a:spcPct val="110000"/>
              </a:lnSpc>
              <a:buNone/>
            </a:pPr>
            <a:r>
              <a:rPr lang="en-US" sz="950" dirty="0">
                <a:solidFill>
                  <a:srgbClr val="3E4A44"/>
                </a:solidFill>
                <a:latin typeface="Arial" pitchFamily="34" charset="0"/>
                <a:ea typeface="Arial" pitchFamily="34" charset="-122"/>
                <a:cs typeface="Arial" pitchFamily="34" charset="-120"/>
              </a:rPr>
              <a:t>v1.1 and v2: Stripe Connect, reminders, venue tools, multi-crew identity.</a:t>
            </a:r>
            <a:endParaRPr lang="en-US" sz="950" dirty="0"/>
          </a:p>
        </p:txBody>
      </p:sp>
      <p:sp>
        <p:nvSpPr>
          <p:cNvPr id="31" name="Shape 28"/>
          <p:cNvSpPr/>
          <p:nvPr/>
        </p:nvSpPr>
        <p:spPr>
          <a:xfrm>
            <a:off x="8275320" y="3913632"/>
            <a:ext cx="128016" cy="128016"/>
          </a:xfrm>
          <a:prstGeom prst="roundRect">
            <a:avLst>
              <a:gd name="adj" fmla="val 50000"/>
            </a:avLst>
          </a:prstGeom>
          <a:solidFill>
            <a:srgbClr val="146238"/>
          </a:solidFill>
          <a:ln/>
        </p:spPr>
      </p:sp>
      <p:sp>
        <p:nvSpPr>
          <p:cNvPr id="32" name="Text 29"/>
          <p:cNvSpPr txBox="1"/>
          <p:nvPr/>
        </p:nvSpPr>
        <p:spPr>
          <a:xfrm>
            <a:off x="8503920" y="3840480"/>
            <a:ext cx="685800" cy="292608"/>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20%</a:t>
            </a:r>
            <a:endParaRPr lang="en-US" sz="2000" dirty="0"/>
          </a:p>
        </p:txBody>
      </p:sp>
      <p:sp>
        <p:nvSpPr>
          <p:cNvPr id="33" name="Text 30"/>
          <p:cNvSpPr txBox="1"/>
          <p:nvPr/>
        </p:nvSpPr>
        <p:spPr>
          <a:xfrm>
            <a:off x="9189720" y="3840480"/>
            <a:ext cx="24533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Team</a:t>
            </a:r>
            <a:endParaRPr lang="en-US" sz="1600" dirty="0"/>
          </a:p>
        </p:txBody>
      </p:sp>
      <p:sp>
        <p:nvSpPr>
          <p:cNvPr id="34" name="Text 31"/>
          <p:cNvSpPr txBox="1"/>
          <p:nvPr/>
        </p:nvSpPr>
        <p:spPr>
          <a:xfrm>
            <a:off x="8503920" y="4151376"/>
            <a:ext cx="3139135" cy="502920"/>
          </a:xfrm>
          <a:prstGeom prst="rect">
            <a:avLst/>
          </a:prstGeom>
          <a:noFill/>
          <a:ln/>
        </p:spPr>
        <p:txBody>
          <a:bodyPr wrap="square" lIns="0" tIns="0" rIns="0" bIns="0" rtlCol="0" anchor="t"/>
          <a:lstStyle/>
          <a:p>
            <a:pPr algn="l" indent="0" marL="0">
              <a:lnSpc>
                <a:spcPct val="110000"/>
              </a:lnSpc>
              <a:buNone/>
            </a:pPr>
            <a:r>
              <a:rPr lang="en-US" sz="950" dirty="0">
                <a:solidFill>
                  <a:srgbClr val="3E4A44"/>
                </a:solidFill>
                <a:latin typeface="Arial" pitchFamily="34" charset="0"/>
                <a:ea typeface="Arial" pitchFamily="34" charset="-122"/>
                <a:cs typeface="Arial" pitchFamily="34" charset="-120"/>
              </a:rPr>
              <a:t>Two hires: a growth lead and a community and venues lead, both London.</a:t>
            </a:r>
            <a:endParaRPr lang="en-US" sz="950" dirty="0"/>
          </a:p>
        </p:txBody>
      </p:sp>
      <p:sp>
        <p:nvSpPr>
          <p:cNvPr id="35" name="Shape 32"/>
          <p:cNvSpPr/>
          <p:nvPr/>
        </p:nvSpPr>
        <p:spPr>
          <a:xfrm>
            <a:off x="8275320" y="4782312"/>
            <a:ext cx="128016" cy="128016"/>
          </a:xfrm>
          <a:prstGeom prst="roundRect">
            <a:avLst>
              <a:gd name="adj" fmla="val 50000"/>
            </a:avLst>
          </a:prstGeom>
          <a:solidFill>
            <a:srgbClr val="E5A800"/>
          </a:solidFill>
          <a:ln/>
        </p:spPr>
      </p:sp>
      <p:sp>
        <p:nvSpPr>
          <p:cNvPr id="36" name="Text 33"/>
          <p:cNvSpPr txBox="1"/>
          <p:nvPr/>
        </p:nvSpPr>
        <p:spPr>
          <a:xfrm>
            <a:off x="8503920" y="4709160"/>
            <a:ext cx="685800" cy="292608"/>
          </a:xfrm>
          <a:prstGeom prst="rect">
            <a:avLst/>
          </a:prstGeom>
          <a:noFill/>
          <a:ln/>
        </p:spPr>
        <p:txBody>
          <a:bodyPr wrap="square" lIns="0" tIns="0" rIns="0" bIns="0" rtlCol="0" anchor="ctr"/>
          <a:lstStyle/>
          <a:p>
            <a:pPr algn="l" indent="0" marL="0">
              <a:buNone/>
            </a:pPr>
            <a:r>
              <a:rPr lang="en-US" sz="2000" b="1" dirty="0">
                <a:solidFill>
                  <a:srgbClr val="14201B"/>
                </a:solidFill>
                <a:latin typeface="Barlow Condensed" pitchFamily="34" charset="0"/>
                <a:ea typeface="Barlow Condensed" pitchFamily="34" charset="-122"/>
                <a:cs typeface="Barlow Condensed" pitchFamily="34" charset="-120"/>
              </a:rPr>
              <a:t>10%</a:t>
            </a:r>
            <a:endParaRPr lang="en-US" sz="2000" dirty="0"/>
          </a:p>
        </p:txBody>
      </p:sp>
      <p:sp>
        <p:nvSpPr>
          <p:cNvPr id="37" name="Text 34"/>
          <p:cNvSpPr txBox="1"/>
          <p:nvPr/>
        </p:nvSpPr>
        <p:spPr>
          <a:xfrm>
            <a:off x="9189720" y="4709160"/>
            <a:ext cx="2453335" cy="292608"/>
          </a:xfrm>
          <a:prstGeom prst="rect">
            <a:avLst/>
          </a:prstGeom>
          <a:noFill/>
          <a:ln/>
        </p:spPr>
        <p:txBody>
          <a:bodyPr wrap="square" lIns="0" tIns="0" rIns="0" bIns="0" rtlCol="0" anchor="ctr"/>
          <a:lstStyle/>
          <a:p>
            <a:pPr algn="l" indent="0" marL="0">
              <a:buNone/>
            </a:pPr>
            <a:r>
              <a:rPr lang="en-US" sz="1600" b="1" dirty="0">
                <a:solidFill>
                  <a:srgbClr val="14201B"/>
                </a:solidFill>
                <a:latin typeface="Barlow Condensed" pitchFamily="34" charset="0"/>
                <a:ea typeface="Barlow Condensed" pitchFamily="34" charset="-122"/>
                <a:cs typeface="Barlow Condensed" pitchFamily="34" charset="-120"/>
              </a:rPr>
              <a:t>Legal, compliance, ops</a:t>
            </a:r>
            <a:endParaRPr lang="en-US" sz="1600" dirty="0"/>
          </a:p>
        </p:txBody>
      </p:sp>
      <p:sp>
        <p:nvSpPr>
          <p:cNvPr id="38" name="Text 35"/>
          <p:cNvSpPr txBox="1"/>
          <p:nvPr/>
        </p:nvSpPr>
        <p:spPr>
          <a:xfrm>
            <a:off x="8503920" y="5020056"/>
            <a:ext cx="3139135" cy="502920"/>
          </a:xfrm>
          <a:prstGeom prst="rect">
            <a:avLst/>
          </a:prstGeom>
          <a:noFill/>
          <a:ln/>
        </p:spPr>
        <p:txBody>
          <a:bodyPr wrap="square" lIns="0" tIns="0" rIns="0" bIns="0" rtlCol="0" anchor="t"/>
          <a:lstStyle/>
          <a:p>
            <a:pPr algn="l" indent="0" marL="0">
              <a:lnSpc>
                <a:spcPct val="110000"/>
              </a:lnSpc>
              <a:buNone/>
            </a:pPr>
            <a:r>
              <a:rPr lang="en-US" sz="950" dirty="0">
                <a:solidFill>
                  <a:srgbClr val="3E4A44"/>
                </a:solidFill>
                <a:latin typeface="Arial" pitchFamily="34" charset="0"/>
                <a:ea typeface="Arial" pitchFamily="34" charset="-122"/>
                <a:cs typeface="Arial" pitchFamily="34" charset="-120"/>
              </a:rPr>
              <a:t>Solicitor review, ICO, Stripe onboarding, accessibility audit, tooling.</a:t>
            </a:r>
            <a:endParaRPr lang="en-US" sz="950" dirty="0"/>
          </a:p>
        </p:txBody>
      </p:sp>
      <p:sp>
        <p:nvSpPr>
          <p:cNvPr id="39" name="Text 36"/>
          <p:cNvSpPr txBox="1"/>
          <p:nvPr/>
        </p:nvSpPr>
        <p:spPr>
          <a:xfrm>
            <a:off x="8275320" y="5623560"/>
            <a:ext cx="3367735" cy="548640"/>
          </a:xfrm>
          <a:prstGeom prst="rect">
            <a:avLst/>
          </a:prstGeom>
          <a:noFill/>
          <a:ln/>
        </p:spPr>
        <p:txBody>
          <a:bodyPr wrap="square" lIns="0" tIns="0" rIns="0" bIns="0" rtlCol="0" anchor="t"/>
          <a:lstStyle/>
          <a:p>
            <a:pPr algn="l" indent="0" marL="0">
              <a:lnSpc>
                <a:spcPct val="120000"/>
              </a:lnSpc>
              <a:buNone/>
            </a:pPr>
            <a:r>
              <a:rPr lang="en-US" sz="900" i="1" dirty="0">
                <a:solidFill>
                  <a:srgbClr val="6E7A73"/>
                </a:solidFill>
                <a:latin typeface="Arial" pitchFamily="34" charset="0"/>
                <a:ea typeface="Arial" pitchFamily="34" charset="-122"/>
                <a:cs typeface="Arial" pitchFamily="34" charset="-120"/>
              </a:rPr>
              <a:t>Allocation is the founder's proposal for this deck and differs from the draft split in business-plan.md, which groups spend by salaries. Milestones are targets, not commitments.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01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TEAM</a:t>
            </a:r>
            <a:endParaRPr lang="en-US" sz="1000" dirty="0"/>
          </a:p>
        </p:txBody>
      </p:sp>
      <p:sp>
        <p:nvSpPr>
          <p:cNvPr id="3" name="Text 1"/>
          <p:cNvSpPr txBox="1"/>
          <p:nvPr/>
        </p:nvSpPr>
        <p:spPr>
          <a:xfrm>
            <a:off x="548640" y="658368"/>
            <a:ext cx="11094415" cy="1234440"/>
          </a:xfrm>
          <a:prstGeom prst="rect">
            <a:avLst/>
          </a:prstGeom>
          <a:noFill/>
          <a:ln/>
        </p:spPr>
        <p:txBody>
          <a:bodyPr wrap="square" lIns="0" tIns="0" rIns="0" bIns="0" rtlCol="0" anchor="t"/>
          <a:lstStyle/>
          <a:p>
            <a:pPr algn="l" indent="0" marL="0">
              <a:lnSpc>
                <a:spcPct val="95000"/>
              </a:lnSpc>
              <a:buNone/>
            </a:pPr>
            <a:r>
              <a:rPr lang="en-US" sz="4000" b="1" dirty="0">
                <a:solidFill>
                  <a:srgbClr val="F5F6F2"/>
                </a:solidFill>
                <a:latin typeface="Barlow Condensed" pitchFamily="34" charset="0"/>
                <a:ea typeface="Barlow Condensed" pitchFamily="34" charset="-122"/>
                <a:cs typeface="Barlow Condensed" pitchFamily="34" charset="-120"/>
              </a:rPr>
              <a:t>A SMALL TEAM THAT RUNS THE FIRST 100 CREWS PERSONALLY.</a:t>
            </a:r>
            <a:endParaRPr lang="en-US" sz="4000" dirty="0"/>
          </a:p>
        </p:txBody>
      </p:sp>
      <p:sp>
        <p:nvSpPr>
          <p:cNvPr id="4" name="Text 2"/>
          <p:cNvSpPr txBox="1"/>
          <p:nvPr/>
        </p:nvSpPr>
        <p:spPr>
          <a:xfrm>
            <a:off x="10545775" y="6400800"/>
            <a:ext cx="1097280" cy="228600"/>
          </a:xfrm>
          <a:prstGeom prst="rect">
            <a:avLst/>
          </a:prstGeom>
          <a:noFill/>
          <a:ln/>
        </p:spPr>
        <p:txBody>
          <a:bodyPr wrap="square" lIns="0" tIns="0" rIns="0" bIns="0" rtlCol="0" anchor="ctr"/>
          <a:lstStyle/>
          <a:p>
            <a:pPr algn="r" indent="0" marL="0">
              <a:buNone/>
            </a:pPr>
            <a:r>
              <a:rPr lang="en-US" sz="800" dirty="0">
                <a:solidFill>
                  <a:srgbClr val="8A968E"/>
                </a:solidFill>
                <a:latin typeface="Courier New" pitchFamily="34" charset="0"/>
                <a:ea typeface="Courier New" pitchFamily="34" charset="-122"/>
                <a:cs typeface="Courier New" pitchFamily="34" charset="-120"/>
              </a:rPr>
              <a:t>16 / 16</a:t>
            </a:r>
            <a:endParaRPr lang="en-US" sz="800" dirty="0"/>
          </a:p>
        </p:txBody>
      </p:sp>
      <p:sp>
        <p:nvSpPr>
          <p:cNvPr id="5" name="Text 3"/>
          <p:cNvSpPr txBox="1"/>
          <p:nvPr/>
        </p:nvSpPr>
        <p:spPr>
          <a:xfrm>
            <a:off x="548640" y="6400800"/>
            <a:ext cx="4572000" cy="228600"/>
          </a:xfrm>
          <a:prstGeom prst="rect">
            <a:avLst/>
          </a:prstGeom>
          <a:noFill/>
          <a:ln/>
        </p:spPr>
        <p:txBody>
          <a:bodyPr wrap="square" lIns="0" tIns="0" rIns="0" bIns="0" rtlCol="0" anchor="ctr"/>
          <a:lstStyle/>
          <a:p>
            <a:pPr algn="l" indent="0" marL="0">
              <a:buNone/>
            </a:pPr>
            <a:r>
              <a:rPr lang="en-US" sz="800" spc="200" kern="0" dirty="0">
                <a:solidFill>
                  <a:srgbClr val="8A968E"/>
                </a:solidFill>
                <a:latin typeface="Courier New" pitchFamily="34" charset="0"/>
                <a:ea typeface="Courier New" pitchFamily="34" charset="-122"/>
                <a:cs typeface="Courier New" pitchFamily="34" charset="-120"/>
              </a:rPr>
              <a:t>ROLL CALL · PRE-SEED · CONFIDENTIAL</a:t>
            </a:r>
            <a:endParaRPr lang="en-US" sz="800" dirty="0"/>
          </a:p>
        </p:txBody>
      </p:sp>
      <p:sp>
        <p:nvSpPr>
          <p:cNvPr id="6" name="Shape 4"/>
          <p:cNvSpPr/>
          <p:nvPr/>
        </p:nvSpPr>
        <p:spPr>
          <a:xfrm>
            <a:off x="548640" y="2103120"/>
            <a:ext cx="5394960" cy="1828800"/>
          </a:xfrm>
          <a:prstGeom prst="roundRect">
            <a:avLst>
              <a:gd name="adj" fmla="val 4000"/>
            </a:avLst>
          </a:prstGeom>
          <a:solidFill>
            <a:srgbClr val="1C2823"/>
          </a:solidFill>
          <a:ln w="9525">
            <a:solidFill>
              <a:srgbClr val="2A352E"/>
            </a:solidFill>
            <a:prstDash val="solid"/>
          </a:ln>
        </p:spPr>
      </p:sp>
      <p:sp>
        <p:nvSpPr>
          <p:cNvPr id="7" name="Shape 5"/>
          <p:cNvSpPr/>
          <p:nvPr/>
        </p:nvSpPr>
        <p:spPr>
          <a:xfrm>
            <a:off x="822960" y="2377440"/>
            <a:ext cx="1280160" cy="1280160"/>
          </a:xfrm>
          <a:prstGeom prst="roundRect">
            <a:avLst>
              <a:gd name="adj" fmla="val 50000"/>
            </a:avLst>
          </a:prstGeom>
          <a:solidFill>
            <a:srgbClr val="1E8A4C"/>
          </a:solidFill>
          <a:ln/>
        </p:spPr>
      </p:sp>
      <p:sp>
        <p:nvSpPr>
          <p:cNvPr id="8" name="Text 6"/>
          <p:cNvSpPr txBox="1"/>
          <p:nvPr/>
        </p:nvSpPr>
        <p:spPr>
          <a:xfrm>
            <a:off x="822960" y="2377440"/>
            <a:ext cx="1280160" cy="1280160"/>
          </a:xfrm>
          <a:prstGeom prst="rect">
            <a:avLst/>
          </a:prstGeom>
          <a:noFill/>
          <a:ln/>
        </p:spPr>
        <p:txBody>
          <a:bodyPr wrap="square" lIns="0" tIns="0" rIns="0" bIns="0" rtlCol="0" anchor="ctr"/>
          <a:lstStyle/>
          <a:p>
            <a:pPr algn="ctr" indent="0" marL="0">
              <a:buNone/>
            </a:pPr>
            <a:r>
              <a:rPr lang="en-US" sz="3000" b="1" dirty="0">
                <a:solidFill>
                  <a:srgbClr val="FFFFFF"/>
                </a:solidFill>
                <a:latin typeface="Barlow Condensed" pitchFamily="34" charset="0"/>
                <a:ea typeface="Barlow Condensed" pitchFamily="34" charset="-122"/>
                <a:cs typeface="Barlow Condensed" pitchFamily="34" charset="-120"/>
              </a:rPr>
              <a:t>[ ]</a:t>
            </a:r>
            <a:endParaRPr lang="en-US" sz="3000" dirty="0"/>
          </a:p>
        </p:txBody>
      </p:sp>
      <p:sp>
        <p:nvSpPr>
          <p:cNvPr id="9" name="Text 7"/>
          <p:cNvSpPr txBox="1"/>
          <p:nvPr/>
        </p:nvSpPr>
        <p:spPr>
          <a:xfrm>
            <a:off x="2377440" y="2377440"/>
            <a:ext cx="3474720" cy="411480"/>
          </a:xfrm>
          <a:prstGeom prst="rect">
            <a:avLst/>
          </a:prstGeom>
          <a:noFill/>
          <a:ln/>
        </p:spPr>
        <p:txBody>
          <a:bodyPr wrap="square" lIns="0" tIns="0" rIns="0" bIns="0" rtlCol="0" anchor="ctr"/>
          <a:lstStyle/>
          <a:p>
            <a:pPr algn="l" indent="0" marL="0">
              <a:buNone/>
            </a:pPr>
            <a:r>
              <a:rPr lang="en-US" sz="2400" b="1" dirty="0">
                <a:solidFill>
                  <a:srgbClr val="F5F6F2"/>
                </a:solidFill>
                <a:latin typeface="Barlow Condensed" pitchFamily="34" charset="0"/>
                <a:ea typeface="Barlow Condensed" pitchFamily="34" charset="-122"/>
                <a:cs typeface="Barlow Condensed" pitchFamily="34" charset="-120"/>
              </a:rPr>
              <a:t>[FOUNDER NAME] · FOUNDER</a:t>
            </a:r>
            <a:endParaRPr lang="en-US" sz="2400" dirty="0"/>
          </a:p>
        </p:txBody>
      </p:sp>
      <p:sp>
        <p:nvSpPr>
          <p:cNvPr id="10" name="Text 8"/>
          <p:cNvSpPr txBox="1"/>
          <p:nvPr/>
        </p:nvSpPr>
        <p:spPr>
          <a:xfrm>
            <a:off x="2377440" y="2834640"/>
            <a:ext cx="3383280" cy="731520"/>
          </a:xfrm>
          <a:prstGeom prst="rect">
            <a:avLst/>
          </a:prstGeom>
          <a:noFill/>
          <a:ln/>
        </p:spPr>
        <p:txBody>
          <a:bodyPr wrap="square" lIns="0" tIns="0" rIns="0" bIns="0" rtlCol="0" anchor="t"/>
          <a:lstStyle/>
          <a:p>
            <a:pPr algn="l" indent="0" marL="0">
              <a:lnSpc>
                <a:spcPct val="120000"/>
              </a:lnSpc>
              <a:buNone/>
            </a:pPr>
            <a:r>
              <a:rPr lang="en-US" sz="1100" i="1" dirty="0">
                <a:solidFill>
                  <a:srgbClr val="BAC5BD"/>
                </a:solidFill>
                <a:latin typeface="Arial" pitchFamily="34" charset="0"/>
                <a:ea typeface="Arial" pitchFamily="34" charset="-122"/>
                <a:cs typeface="Arial" pitchFamily="34" charset="-120"/>
              </a:rPr>
              <a:t>[One line on background and why this problem. Do not invent: fill in before sending.]</a:t>
            </a:r>
            <a:endParaRPr lang="en-US" sz="1100" dirty="0"/>
          </a:p>
        </p:txBody>
      </p:sp>
      <p:sp>
        <p:nvSpPr>
          <p:cNvPr id="11" name="Text 9"/>
          <p:cNvSpPr txBox="1"/>
          <p:nvPr/>
        </p:nvSpPr>
        <p:spPr>
          <a:xfrm>
            <a:off x="548640" y="4206240"/>
            <a:ext cx="5394960" cy="256032"/>
          </a:xfrm>
          <a:prstGeom prst="rect">
            <a:avLst/>
          </a:prstGeom>
          <a:noFill/>
          <a:ln/>
        </p:spPr>
        <p:txBody>
          <a:bodyPr wrap="square" lIns="0" tIns="0" rIns="0" bIns="0" rtlCol="0" anchor="ctr"/>
          <a:lstStyle/>
          <a:p>
            <a:pPr algn="l" indent="0" marL="0">
              <a:buNone/>
            </a:pPr>
            <a:r>
              <a:rPr lang="en-US" sz="1000" b="1" spc="300" kern="0" dirty="0">
                <a:solidFill>
                  <a:srgbClr val="1E8A4C"/>
                </a:solidFill>
                <a:latin typeface="Courier New" pitchFamily="34" charset="0"/>
                <a:ea typeface="Courier New" pitchFamily="34" charset="-122"/>
                <a:cs typeface="Courier New" pitchFamily="34" charset="-120"/>
              </a:rPr>
              <a:t>HIRING WITH THIS ROUND</a:t>
            </a:r>
            <a:endParaRPr lang="en-US" sz="1000" dirty="0"/>
          </a:p>
        </p:txBody>
      </p:sp>
      <p:sp>
        <p:nvSpPr>
          <p:cNvPr id="12" name="Text 10"/>
          <p:cNvSpPr txBox="1"/>
          <p:nvPr/>
        </p:nvSpPr>
        <p:spPr>
          <a:xfrm>
            <a:off x="548640" y="4526280"/>
            <a:ext cx="2011680" cy="457200"/>
          </a:xfrm>
          <a:prstGeom prst="rect">
            <a:avLst/>
          </a:prstGeom>
          <a:noFill/>
          <a:ln/>
        </p:spPr>
        <p:txBody>
          <a:bodyPr wrap="square" lIns="0" tIns="0" rIns="0" bIns="0" rtlCol="0" anchor="t"/>
          <a:lstStyle/>
          <a:p>
            <a:pPr algn="l" indent="0" marL="0">
              <a:buNone/>
            </a:pPr>
            <a:r>
              <a:rPr lang="en-US" sz="1500" b="1" dirty="0">
                <a:solidFill>
                  <a:srgbClr val="F5F6F2"/>
                </a:solidFill>
                <a:latin typeface="Barlow Condensed" pitchFamily="34" charset="0"/>
                <a:ea typeface="Barlow Condensed" pitchFamily="34" charset="-122"/>
                <a:cs typeface="Barlow Condensed" pitchFamily="34" charset="-120"/>
              </a:rPr>
              <a:t>Growth lead</a:t>
            </a:r>
            <a:endParaRPr lang="en-US" sz="1500" dirty="0"/>
          </a:p>
        </p:txBody>
      </p:sp>
      <p:sp>
        <p:nvSpPr>
          <p:cNvPr id="13" name="Text 11"/>
          <p:cNvSpPr txBox="1"/>
          <p:nvPr/>
        </p:nvSpPr>
        <p:spPr>
          <a:xfrm>
            <a:off x="2560320" y="4544568"/>
            <a:ext cx="3383280" cy="502920"/>
          </a:xfrm>
          <a:prstGeom prst="rect">
            <a:avLst/>
          </a:prstGeom>
          <a:noFill/>
          <a:ln/>
        </p:spPr>
        <p:txBody>
          <a:bodyPr wrap="square" lIns="0" tIns="0" rIns="0" bIns="0" rtlCol="0" anchor="t"/>
          <a:lstStyle/>
          <a:p>
            <a:pPr algn="l" indent="0" marL="0">
              <a:lnSpc>
                <a:spcPct val="110000"/>
              </a:lnSpc>
              <a:buNone/>
            </a:pPr>
            <a:r>
              <a:rPr lang="en-US" sz="1000" dirty="0">
                <a:solidFill>
                  <a:srgbClr val="BAC5BD"/>
                </a:solidFill>
                <a:latin typeface="Arial" pitchFamily="34" charset="0"/>
                <a:ea typeface="Arial" pitchFamily="34" charset="-122"/>
                <a:cs typeface="Arial" pitchFamily="34" charset="-120"/>
              </a:rPr>
              <a:t>Finds organisers at venues, runs the first 100 crews, owns the content channels.</a:t>
            </a:r>
            <a:endParaRPr lang="en-US" sz="1000" dirty="0"/>
          </a:p>
        </p:txBody>
      </p:sp>
      <p:sp>
        <p:nvSpPr>
          <p:cNvPr id="14" name="Text 12"/>
          <p:cNvSpPr txBox="1"/>
          <p:nvPr/>
        </p:nvSpPr>
        <p:spPr>
          <a:xfrm>
            <a:off x="548640" y="5029200"/>
            <a:ext cx="2011680" cy="457200"/>
          </a:xfrm>
          <a:prstGeom prst="rect">
            <a:avLst/>
          </a:prstGeom>
          <a:noFill/>
          <a:ln/>
        </p:spPr>
        <p:txBody>
          <a:bodyPr wrap="square" lIns="0" tIns="0" rIns="0" bIns="0" rtlCol="0" anchor="t"/>
          <a:lstStyle/>
          <a:p>
            <a:pPr algn="l" indent="0" marL="0">
              <a:buNone/>
            </a:pPr>
            <a:r>
              <a:rPr lang="en-US" sz="1500" b="1" dirty="0">
                <a:solidFill>
                  <a:srgbClr val="F5F6F2"/>
                </a:solidFill>
                <a:latin typeface="Barlow Condensed" pitchFamily="34" charset="0"/>
                <a:ea typeface="Barlow Condensed" pitchFamily="34" charset="-122"/>
                <a:cs typeface="Barlow Condensed" pitchFamily="34" charset="-120"/>
              </a:rPr>
              <a:t>Community and venues lead</a:t>
            </a:r>
            <a:endParaRPr lang="en-US" sz="1500" dirty="0"/>
          </a:p>
        </p:txBody>
      </p:sp>
      <p:sp>
        <p:nvSpPr>
          <p:cNvPr id="15" name="Text 13"/>
          <p:cNvSpPr txBox="1"/>
          <p:nvPr/>
        </p:nvSpPr>
        <p:spPr>
          <a:xfrm>
            <a:off x="2560320" y="5047488"/>
            <a:ext cx="3383280" cy="502920"/>
          </a:xfrm>
          <a:prstGeom prst="rect">
            <a:avLst/>
          </a:prstGeom>
          <a:noFill/>
          <a:ln/>
        </p:spPr>
        <p:txBody>
          <a:bodyPr wrap="square" lIns="0" tIns="0" rIns="0" bIns="0" rtlCol="0" anchor="t"/>
          <a:lstStyle/>
          <a:p>
            <a:pPr algn="l" indent="0" marL="0">
              <a:lnSpc>
                <a:spcPct val="110000"/>
              </a:lnSpc>
              <a:buNone/>
            </a:pPr>
            <a:r>
              <a:rPr lang="en-US" sz="1000" dirty="0">
                <a:solidFill>
                  <a:srgbClr val="BAC5BD"/>
                </a:solidFill>
                <a:latin typeface="Arial" pitchFamily="34" charset="0"/>
                <a:ea typeface="Arial" pitchFamily="34" charset="-122"/>
                <a:cs typeface="Arial" pitchFamily="34" charset="-120"/>
              </a:rPr>
              <a:t>Runs pilot crews' seasons, awards nights and the venue partnership pipeline.</a:t>
            </a:r>
            <a:endParaRPr lang="en-US" sz="1000" dirty="0"/>
          </a:p>
        </p:txBody>
      </p:sp>
      <p:sp>
        <p:nvSpPr>
          <p:cNvPr id="16" name="Text 14"/>
          <p:cNvSpPr txBox="1"/>
          <p:nvPr/>
        </p:nvSpPr>
        <p:spPr>
          <a:xfrm>
            <a:off x="548640" y="5532120"/>
            <a:ext cx="2011680" cy="457200"/>
          </a:xfrm>
          <a:prstGeom prst="rect">
            <a:avLst/>
          </a:prstGeom>
          <a:noFill/>
          <a:ln/>
        </p:spPr>
        <p:txBody>
          <a:bodyPr wrap="square" lIns="0" tIns="0" rIns="0" bIns="0" rtlCol="0" anchor="t"/>
          <a:lstStyle/>
          <a:p>
            <a:pPr algn="l" indent="0" marL="0">
              <a:buNone/>
            </a:pPr>
            <a:r>
              <a:rPr lang="en-US" sz="1500" b="1" dirty="0">
                <a:solidFill>
                  <a:srgbClr val="F5F6F2"/>
                </a:solidFill>
                <a:latin typeface="Barlow Condensed" pitchFamily="34" charset="0"/>
                <a:ea typeface="Barlow Condensed" pitchFamily="34" charset="-122"/>
                <a:cs typeface="Barlow Condensed" pitchFamily="34" charset="-120"/>
              </a:rPr>
              <a:t>Contract designer</a:t>
            </a:r>
            <a:endParaRPr lang="en-US" sz="1500" dirty="0"/>
          </a:p>
        </p:txBody>
      </p:sp>
      <p:sp>
        <p:nvSpPr>
          <p:cNvPr id="17" name="Text 15"/>
          <p:cNvSpPr txBox="1"/>
          <p:nvPr/>
        </p:nvSpPr>
        <p:spPr>
          <a:xfrm>
            <a:off x="2560320" y="5550408"/>
            <a:ext cx="3383280" cy="502920"/>
          </a:xfrm>
          <a:prstGeom prst="rect">
            <a:avLst/>
          </a:prstGeom>
          <a:noFill/>
          <a:ln/>
        </p:spPr>
        <p:txBody>
          <a:bodyPr wrap="square" lIns="0" tIns="0" rIns="0" bIns="0" rtlCol="0" anchor="t"/>
          <a:lstStyle/>
          <a:p>
            <a:pPr algn="l" indent="0" marL="0">
              <a:lnSpc>
                <a:spcPct val="110000"/>
              </a:lnSpc>
              <a:buNone/>
            </a:pPr>
            <a:r>
              <a:rPr lang="en-US" sz="1000" dirty="0">
                <a:solidFill>
                  <a:srgbClr val="BAC5BD"/>
                </a:solidFill>
                <a:latin typeface="Arial" pitchFamily="34" charset="0"/>
                <a:ea typeface="Arial" pitchFamily="34" charset="-122"/>
                <a:cs typeface="Arial" pitchFamily="34" charset="-120"/>
              </a:rPr>
              <a:t>Share cards and player cards, about two days a week.</a:t>
            </a:r>
            <a:endParaRPr lang="en-US" sz="1000" dirty="0"/>
          </a:p>
        </p:txBody>
      </p:sp>
      <p:sp>
        <p:nvSpPr>
          <p:cNvPr id="18" name="Text 16"/>
          <p:cNvSpPr txBox="1"/>
          <p:nvPr/>
        </p:nvSpPr>
        <p:spPr>
          <a:xfrm>
            <a:off x="548640" y="6053328"/>
            <a:ext cx="7315200" cy="256032"/>
          </a:xfrm>
          <a:prstGeom prst="rect">
            <a:avLst/>
          </a:prstGeom>
          <a:noFill/>
          <a:ln/>
        </p:spPr>
        <p:txBody>
          <a:bodyPr wrap="square" lIns="0" tIns="0" rIns="0" bIns="0" rtlCol="0" anchor="ctr"/>
          <a:lstStyle/>
          <a:p>
            <a:pPr algn="l" indent="0" marL="0">
              <a:buNone/>
            </a:pPr>
            <a:r>
              <a:rPr lang="en-US" sz="1000" b="1" spc="300" kern="0" dirty="0">
                <a:solidFill>
                  <a:srgbClr val="8A968E"/>
                </a:solidFill>
                <a:latin typeface="Courier New" pitchFamily="34" charset="0"/>
                <a:ea typeface="Courier New" pitchFamily="34" charset="-122"/>
                <a:cs typeface="Courier New" pitchFamily="34" charset="-120"/>
              </a:rPr>
              <a:t>ADVISORS TBC · CONTACT: [EMAIL] · [PHONE]</a:t>
            </a:r>
            <a:endParaRPr lang="en-US" sz="1000" dirty="0"/>
          </a:p>
        </p:txBody>
      </p:sp>
      <p:sp>
        <p:nvSpPr>
          <p:cNvPr id="19" name="Text 17"/>
          <p:cNvSpPr txBox="1"/>
          <p:nvPr/>
        </p:nvSpPr>
        <p:spPr>
          <a:xfrm>
            <a:off x="6675120" y="2011680"/>
            <a:ext cx="5029200" cy="3291840"/>
          </a:xfrm>
          <a:prstGeom prst="rect">
            <a:avLst/>
          </a:prstGeom>
          <a:noFill/>
          <a:ln/>
        </p:spPr>
        <p:txBody>
          <a:bodyPr wrap="square" lIns="0" tIns="0" rIns="0" bIns="0" rtlCol="0" anchor="ctr"/>
          <a:lstStyle/>
          <a:p>
            <a:pPr algn="l" indent="0" marL="0">
              <a:lnSpc>
                <a:spcPct val="90000"/>
              </a:lnSpc>
              <a:buNone/>
            </a:pPr>
            <a:r>
              <a:rPr lang="en-US" sz="7200" b="1" dirty="0">
                <a:solidFill>
                  <a:srgbClr val="F5F6F2"/>
                </a:solidFill>
                <a:latin typeface="Barlow Condensed" pitchFamily="34" charset="0"/>
                <a:ea typeface="Barlow Condensed" pitchFamily="34" charset="-122"/>
                <a:cs typeface="Barlow Condensed" pitchFamily="34" charset="-120"/>
              </a:rPr>
              <a:t>WHO'S</a:t>
            </a:r>
            <a:endParaRPr lang="en-US" sz="7200" dirty="0"/>
          </a:p>
          <a:p>
            <a:pPr algn="l" indent="0" marL="0">
              <a:lnSpc>
                <a:spcPct val="90000"/>
              </a:lnSpc>
              <a:buNone/>
            </a:pPr>
            <a:r>
              <a:rPr lang="en-US" sz="7200" b="1" dirty="0">
                <a:solidFill>
                  <a:srgbClr val="F5F6F2"/>
                </a:solidFill>
                <a:latin typeface="Barlow Condensed" pitchFamily="34" charset="0"/>
                <a:ea typeface="Barlow Condensed" pitchFamily="34" charset="-122"/>
                <a:cs typeface="Barlow Condensed" pitchFamily="34" charset="-120"/>
              </a:rPr>
              <a:t>ACTUALLY</a:t>
            </a:r>
            <a:endParaRPr lang="en-US" sz="7200" dirty="0"/>
          </a:p>
          <a:p>
            <a:pPr algn="l" indent="0" marL="0">
              <a:lnSpc>
                <a:spcPct val="90000"/>
              </a:lnSpc>
              <a:buNone/>
            </a:pPr>
            <a:r>
              <a:rPr lang="en-US" sz="7200" b="1" dirty="0">
                <a:solidFill>
                  <a:srgbClr val="F5F6F2"/>
                </a:solidFill>
                <a:latin typeface="Barlow Condensed" pitchFamily="34" charset="0"/>
                <a:ea typeface="Barlow Condensed" pitchFamily="34" charset="-122"/>
                <a:cs typeface="Barlow Condensed" pitchFamily="34" charset="-120"/>
              </a:rPr>
              <a:t>TURNING UP?</a:t>
            </a:r>
            <a:endParaRPr lang="en-US" sz="7200" dirty="0"/>
          </a:p>
        </p:txBody>
      </p:sp>
      <p:sp>
        <p:nvSpPr>
          <p:cNvPr id="20" name="Shape 18"/>
          <p:cNvSpPr/>
          <p:nvPr/>
        </p:nvSpPr>
        <p:spPr>
          <a:xfrm>
            <a:off x="6720840" y="5440680"/>
            <a:ext cx="2377440" cy="457200"/>
          </a:xfrm>
          <a:prstGeom prst="roundRect">
            <a:avLst>
              <a:gd name="adj" fmla="val 16000"/>
            </a:avLst>
          </a:prstGeom>
          <a:solidFill>
            <a:srgbClr val="1E8A4C"/>
          </a:solidFill>
          <a:ln/>
        </p:spPr>
      </p:sp>
      <p:sp>
        <p:nvSpPr>
          <p:cNvPr id="21" name="Text 19"/>
          <p:cNvSpPr txBox="1"/>
          <p:nvPr/>
        </p:nvSpPr>
        <p:spPr>
          <a:xfrm>
            <a:off x="6720840" y="5440680"/>
            <a:ext cx="23774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Start a crew →</a:t>
            </a:r>
            <a:endParaRPr lang="en-US" sz="1300" dirty="0"/>
          </a:p>
        </p:txBody>
      </p:sp>
      <p:sp>
        <p:nvSpPr>
          <p:cNvPr id="22" name="Text 20"/>
          <p:cNvSpPr txBox="1"/>
          <p:nvPr/>
        </p:nvSpPr>
        <p:spPr>
          <a:xfrm>
            <a:off x="9235440" y="5440680"/>
            <a:ext cx="2468880" cy="457200"/>
          </a:xfrm>
          <a:prstGeom prst="rect">
            <a:avLst/>
          </a:prstGeom>
          <a:noFill/>
          <a:ln/>
        </p:spPr>
        <p:txBody>
          <a:bodyPr wrap="square" lIns="0" tIns="0" rIns="0" bIns="0" rtlCol="0" anchor="ctr"/>
          <a:lstStyle/>
          <a:p>
            <a:pPr algn="l" indent="0" marL="0">
              <a:buNone/>
            </a:pPr>
            <a:r>
              <a:rPr lang="en-US" sz="1000" dirty="0">
                <a:solidFill>
                  <a:srgbClr val="8A968E"/>
                </a:solidFill>
                <a:latin typeface="Courier New" pitchFamily="34" charset="0"/>
                <a:ea typeface="Courier New" pitchFamily="34" charset="-122"/>
                <a:cs typeface="Courier New" pitchFamily="34" charset="-120"/>
              </a:rPr>
              <a:t>rollcall · [url]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Roll Call pre-seed deck</dc:title>
  <dc:subject>PptxGenJS Presentation</dc:subject>
  <dc:creator>Roll Call</dc:creator>
  <cp:lastModifiedBy>Roll Call</cp:lastModifiedBy>
  <cp:revision>1</cp:revision>
  <dcterms:created xsi:type="dcterms:W3CDTF">2026-09-04T19:58:27Z</dcterms:created>
  <dcterms:modified xsi:type="dcterms:W3CDTF">2026-09-04T19:58:27Z</dcterms:modified>
</cp:coreProperties>
</file>